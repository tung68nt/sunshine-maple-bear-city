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09472fb16045ba" /><Relationship Type="http://schemas.openxmlformats.org/officeDocument/2006/relationships/extended-properties" Target="/docProps/app.xml" Id="Rbb6d02bee8b244bc" /><Relationship Type="http://schemas.openxmlformats.org/officeDocument/2006/relationships/officeDocument" Target="/ppt/presentation.xml" Id="Rdd979a8066934bdf" /></Relationships>
</file>

<file path=ppt/presentation.xml><?xml version="1.0" encoding="utf-8"?>
<p:presentation xmlns:p="http://schemas.openxmlformats.org/presentationml/2006/main">
  <p:sldMasterIdLst>
    <p:sldMasterId xmlns:r="http://schemas.openxmlformats.org/officeDocument/2006/relationships" id="2147483648" r:id="R31596852a41a4971"/>
  </p:sldMasterIdLst>
  <p:notesMasterIdLst>
    <p:notesMasterId xmlns:r="http://schemas.openxmlformats.org/officeDocument/2006/relationships" r:id="R297463067c944786"/>
  </p:notesMasterIdLst>
  <p:sldIdLst>
    <p:sldId xmlns:r="http://schemas.openxmlformats.org/officeDocument/2006/relationships" id="256" r:id="Rfdbdf65cf98b43ed"/>
    <p:sldId xmlns:r="http://schemas.openxmlformats.org/officeDocument/2006/relationships" id="257" r:id="R5a0061a36fa24c6d"/>
    <p:sldId xmlns:r="http://schemas.openxmlformats.org/officeDocument/2006/relationships" id="258" r:id="Rd021cc21501940ca"/>
    <p:sldId xmlns:r="http://schemas.openxmlformats.org/officeDocument/2006/relationships" id="259" r:id="R5c1995de530c4230"/>
    <p:sldId xmlns:r="http://schemas.openxmlformats.org/officeDocument/2006/relationships" id="260" r:id="Rb7b5a68f5e484a22"/>
    <p:sldId xmlns:r="http://schemas.openxmlformats.org/officeDocument/2006/relationships" id="261" r:id="R32ada36bb3114e60"/>
    <p:sldId xmlns:r="http://schemas.openxmlformats.org/officeDocument/2006/relationships" id="262" r:id="R74ccd43eb2204e38"/>
    <p:sldId xmlns:r="http://schemas.openxmlformats.org/officeDocument/2006/relationships" id="263" r:id="R1f138c2cbc55489e"/>
    <p:sldId xmlns:r="http://schemas.openxmlformats.org/officeDocument/2006/relationships" id="264" r:id="R7869e5a2d15b46fa"/>
    <p:sldId xmlns:r="http://schemas.openxmlformats.org/officeDocument/2006/relationships" id="265" r:id="Rf59a2a0c6dc44519"/>
    <p:sldId xmlns:r="http://schemas.openxmlformats.org/officeDocument/2006/relationships" id="266" r:id="Re210dd39e54e417a"/>
    <p:sldId xmlns:r="http://schemas.openxmlformats.org/officeDocument/2006/relationships" id="267" r:id="Ra8f49cf9a8d24820"/>
    <p:sldId xmlns:r="http://schemas.openxmlformats.org/officeDocument/2006/relationships" id="268" r:id="R67c4f3a9d27e4916"/>
    <p:sldId xmlns:r="http://schemas.openxmlformats.org/officeDocument/2006/relationships" id="269" r:id="R304e475c345a4120"/>
    <p:sldId xmlns:r="http://schemas.openxmlformats.org/officeDocument/2006/relationships" id="270" r:id="Red9b8a4107f848ce"/>
    <p:sldId xmlns:r="http://schemas.openxmlformats.org/officeDocument/2006/relationships" id="271" r:id="R58b22de9a58047ed"/>
    <p:sldId xmlns:r="http://schemas.openxmlformats.org/officeDocument/2006/relationships" id="272" r:id="Rf5b66fca19fa4323"/>
    <p:sldId xmlns:r="http://schemas.openxmlformats.org/officeDocument/2006/relationships" id="273" r:id="R1a6978b94cdb48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3c1388934654cc0" /><Relationship Type="http://schemas.openxmlformats.org/officeDocument/2006/relationships/slideMaster" Target="/ppt/slideMasters/slideMaster1.xml" Id="R31596852a41a4971" /><Relationship Type="http://schemas.openxmlformats.org/officeDocument/2006/relationships/notesMaster" Target="/ppt/notesMasters/notesMaster1.xml" Id="R297463067c944786" /><Relationship Type="http://schemas.openxmlformats.org/officeDocument/2006/relationships/presProps" Target="/ppt/presProps.xml" Id="Rce0bf46f4b5d436d" /><Relationship Type="http://schemas.openxmlformats.org/officeDocument/2006/relationships/viewProps" Target="/ppt/viewProps.xml" Id="R7972f4fb04b44ecf" /><Relationship Type="http://schemas.openxmlformats.org/officeDocument/2006/relationships/tableStyles" Target="/ppt/tableStyles.xml" Id="R54e1148a24ae4e18" /><Relationship Type="http://schemas.openxmlformats.org/officeDocument/2006/relationships/slide" Target="/ppt/slides/slide1.xml" Id="Rfdbdf65cf98b43ed" /><Relationship Type="http://schemas.openxmlformats.org/officeDocument/2006/relationships/slide" Target="/ppt/slides/slide2.xml" Id="R5a0061a36fa24c6d" /><Relationship Type="http://schemas.openxmlformats.org/officeDocument/2006/relationships/slide" Target="/ppt/slides/slide3.xml" Id="Rd021cc21501940ca" /><Relationship Type="http://schemas.openxmlformats.org/officeDocument/2006/relationships/slide" Target="/ppt/slides/slide4.xml" Id="R5c1995de530c4230" /><Relationship Type="http://schemas.openxmlformats.org/officeDocument/2006/relationships/slide" Target="/ppt/slides/slide5.xml" Id="Rb7b5a68f5e484a22" /><Relationship Type="http://schemas.openxmlformats.org/officeDocument/2006/relationships/slide" Target="/ppt/slides/slide6.xml" Id="R32ada36bb3114e60" /><Relationship Type="http://schemas.openxmlformats.org/officeDocument/2006/relationships/slide" Target="/ppt/slides/slide7.xml" Id="R74ccd43eb2204e38" /><Relationship Type="http://schemas.openxmlformats.org/officeDocument/2006/relationships/slide" Target="/ppt/slides/slide8.xml" Id="R1f138c2cbc55489e" /><Relationship Type="http://schemas.openxmlformats.org/officeDocument/2006/relationships/slide" Target="/ppt/slides/slide9.xml" Id="R7869e5a2d15b46fa" /><Relationship Type="http://schemas.openxmlformats.org/officeDocument/2006/relationships/slide" Target="/ppt/slides/slide10.xml" Id="Rf59a2a0c6dc44519" /><Relationship Type="http://schemas.openxmlformats.org/officeDocument/2006/relationships/slide" Target="/ppt/slides/slide11.xml" Id="Re210dd39e54e417a" /><Relationship Type="http://schemas.openxmlformats.org/officeDocument/2006/relationships/slide" Target="/ppt/slides/slide12.xml" Id="Ra8f49cf9a8d24820" /><Relationship Type="http://schemas.openxmlformats.org/officeDocument/2006/relationships/slide" Target="/ppt/slides/slide13.xml" Id="R67c4f3a9d27e4916" /><Relationship Type="http://schemas.openxmlformats.org/officeDocument/2006/relationships/slide" Target="/ppt/slides/slide14.xml" Id="R304e475c345a4120" /><Relationship Type="http://schemas.openxmlformats.org/officeDocument/2006/relationships/slide" Target="/ppt/slides/slide15.xml" Id="Red9b8a4107f848ce" /><Relationship Type="http://schemas.openxmlformats.org/officeDocument/2006/relationships/slide" Target="/ppt/slides/slide16.xml" Id="R58b22de9a58047ed" /><Relationship Type="http://schemas.openxmlformats.org/officeDocument/2006/relationships/slide" Target="/ppt/slides/slide17.xml" Id="Rf5b66fca19fa4323" /><Relationship Type="http://schemas.openxmlformats.org/officeDocument/2006/relationships/slide" Target="/ppt/slides/slide18.xml" Id="R1a6978b94cdb48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4329f0f78741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49bfe5ca724982" /><Relationship Type="http://schemas.openxmlformats.org/officeDocument/2006/relationships/notesMaster" Target="/ppt/notesMasters/notesMaster1.xml" Id="Ra86445a1691a43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ec7bd220914724" /><Relationship Type="http://schemas.openxmlformats.org/officeDocument/2006/relationships/notesMaster" Target="/ppt/notesMasters/notesMaster1.xml" Id="Rce487ccc82a344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fa33625a824ff0" /><Relationship Type="http://schemas.openxmlformats.org/officeDocument/2006/relationships/notesMaster" Target="/ppt/notesMasters/notesMaster1.xml" Id="Rf7893218d73744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2c7b3530b2466d" /><Relationship Type="http://schemas.openxmlformats.org/officeDocument/2006/relationships/notesMaster" Target="/ppt/notesMasters/notesMaster1.xml" Id="R734f12ee229a42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eb36e7a35c4fc8" /><Relationship Type="http://schemas.openxmlformats.org/officeDocument/2006/relationships/notesMaster" Target="/ppt/notesMasters/notesMaster1.xml" Id="R85324acf257f45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3a9c3041654128" /><Relationship Type="http://schemas.openxmlformats.org/officeDocument/2006/relationships/notesMaster" Target="/ppt/notesMasters/notesMaster1.xml" Id="R5de22039b1ec44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4ecb379f54480b" /><Relationship Type="http://schemas.openxmlformats.org/officeDocument/2006/relationships/notesMaster" Target="/ppt/notesMasters/notesMaster1.xml" Id="Rc349bb668b7f40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2c7380075b4ca0" /><Relationship Type="http://schemas.openxmlformats.org/officeDocument/2006/relationships/notesMaster" Target="/ppt/notesMasters/notesMaster1.xml" Id="R266fa182021f4c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ea2896ad4b48a6" /><Relationship Type="http://schemas.openxmlformats.org/officeDocument/2006/relationships/notesMaster" Target="/ppt/notesMasters/notesMaster1.xml" Id="R26f0b9e5083647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519d456f3b4272" /><Relationship Type="http://schemas.openxmlformats.org/officeDocument/2006/relationships/notesMaster" Target="/ppt/notesMasters/notesMaster1.xml" Id="Rb9c7f56830f543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fba53bdbde4f85" /><Relationship Type="http://schemas.openxmlformats.org/officeDocument/2006/relationships/notesMaster" Target="/ppt/notesMasters/notesMaster1.xml" Id="R335a41cbc31a40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401c385b1c4a7c" /><Relationship Type="http://schemas.openxmlformats.org/officeDocument/2006/relationships/notesMaster" Target="/ppt/notesMasters/notesMaster1.xml" Id="Rcc10a950805b4d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ea4adfc2d54b81" /><Relationship Type="http://schemas.openxmlformats.org/officeDocument/2006/relationships/notesMaster" Target="/ppt/notesMasters/notesMaster1.xml" Id="R2f01d12af9584d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428edb64954562" /><Relationship Type="http://schemas.openxmlformats.org/officeDocument/2006/relationships/notesMaster" Target="/ppt/notesMasters/notesMaster1.xml" Id="R120d1beb2da647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a6d7e2d68149e9" /><Relationship Type="http://schemas.openxmlformats.org/officeDocument/2006/relationships/notesMaster" Target="/ppt/notesMasters/notesMaster1.xml" Id="Rcf14774ada9d4c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c037674b114867" /><Relationship Type="http://schemas.openxmlformats.org/officeDocument/2006/relationships/notesMaster" Target="/ppt/notesMasters/notesMaster1.xml" Id="Rf0c1d63c207c41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9df5dba36e42a0" /><Relationship Type="http://schemas.openxmlformats.org/officeDocument/2006/relationships/notesMaster" Target="/ppt/notesMasters/notesMaster1.xml" Id="Rf1f5272ff48c42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5f8fc01f244d44" /><Relationship Type="http://schemas.openxmlformats.org/officeDocument/2006/relationships/notesMaster" Target="/ppt/notesMasters/notesMaster1.xml" Id="Rdaadb13434a04d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bổ sung phần còn thiếu của bộ slide IOC-KHODL: dữ liệu đầu vào cụ thể để tính GRDP.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25540e0498446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9b6ea8572d4c1e" /><Relationship Type="http://schemas.openxmlformats.org/officeDocument/2006/relationships/slideLayout" Target="/ppt/slideLayouts/slideLayout1.xml" Id="Ra2b2b8c797c6417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b2b8c797c6417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e77e1615c34e51" /><Relationship Type="http://schemas.openxmlformats.org/officeDocument/2006/relationships/notesSlide" Target="/ppt/notesSlides/notesSlide1.xml" Id="R357bcf949f4c4a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279a2c49c14ad9" /><Relationship Type="http://schemas.openxmlformats.org/officeDocument/2006/relationships/notesSlide" Target="/ppt/notesSlides/notesSlide2.xml" Id="Rc706b53b486547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91dd8019064bd5" /><Relationship Type="http://schemas.openxmlformats.org/officeDocument/2006/relationships/image" Target="/ppt/media/image.png" Id="R31804e88d0644645" /><Relationship Type="http://schemas.openxmlformats.org/officeDocument/2006/relationships/image" Target="/ppt/media/image2.png" Id="R6976ba7d9d224c36" /><Relationship Type="http://schemas.openxmlformats.org/officeDocument/2006/relationships/image" Target="/ppt/media/image3.png" Id="R1517742a86fb4173" /><Relationship Type="http://schemas.openxmlformats.org/officeDocument/2006/relationships/image" Target="/ppt/media/image4.png" Id="R27fc6af75d27410b" /><Relationship Type="http://schemas.openxmlformats.org/officeDocument/2006/relationships/image" Target="/ppt/media/image5.png" Id="R8f2e4a00ecb74f59" /><Relationship Type="http://schemas.openxmlformats.org/officeDocument/2006/relationships/image" Target="/ppt/media/image6.png" Id="R9b7eb876852241a7" /><Relationship Type="http://schemas.openxmlformats.org/officeDocument/2006/relationships/image" Target="/ppt/media/image7.png" Id="R1ec5142eaa9b4276" /><Relationship Type="http://schemas.openxmlformats.org/officeDocument/2006/relationships/image" Target="/ppt/media/image8.png" Id="Rc6676705046c4163" /><Relationship Type="http://schemas.openxmlformats.org/officeDocument/2006/relationships/image" Target="/ppt/media/image9.png" Id="R43e5c01b45a94a9d" /><Relationship Type="http://schemas.openxmlformats.org/officeDocument/2006/relationships/image" Target="/ppt/media/image10.png" Id="R5d93664343e24342" /><Relationship Type="http://schemas.openxmlformats.org/officeDocument/2006/relationships/image" Target="/ppt/media/image11.png" Id="R9291bb3a952c48fe" /><Relationship Type="http://schemas.openxmlformats.org/officeDocument/2006/relationships/image" Target="/ppt/media/image12.png" Id="R75e2cd38553c4a3a" /><Relationship Type="http://schemas.openxmlformats.org/officeDocument/2006/relationships/image" Target="/ppt/media/image13.png" Id="R4f6f69fcc2574096" /><Relationship Type="http://schemas.openxmlformats.org/officeDocument/2006/relationships/notesSlide" Target="/ppt/notesSlides/notesSlide3.xml" Id="Rae422637458241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dd0a5d87c5410e" /><Relationship Type="http://schemas.openxmlformats.org/officeDocument/2006/relationships/notesSlide" Target="/ppt/notesSlides/notesSlide4.xml" Id="R83f4d7f881cc46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4955895b884e0e" /><Relationship Type="http://schemas.openxmlformats.org/officeDocument/2006/relationships/image" Target="/ppt/media/image14.png" Id="Re8580318d0634927" /><Relationship Type="http://schemas.openxmlformats.org/officeDocument/2006/relationships/image" Target="/ppt/media/image15.png" Id="R77521ef8e51a4714" /><Relationship Type="http://schemas.openxmlformats.org/officeDocument/2006/relationships/image" Target="/ppt/media/image16.png" Id="R2538b63c1bd5481d" /><Relationship Type="http://schemas.openxmlformats.org/officeDocument/2006/relationships/notesSlide" Target="/ppt/notesSlides/notesSlide5.xml" Id="Rdd8b78270fb447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5b93a07e6c4953" /><Relationship Type="http://schemas.openxmlformats.org/officeDocument/2006/relationships/image" Target="/ppt/media/image17.png" Id="R29c9048835434057" /><Relationship Type="http://schemas.openxmlformats.org/officeDocument/2006/relationships/notesSlide" Target="/ppt/notesSlides/notesSlide6.xml" Id="R1bb60110511448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1e07b32ecc46fe" /><Relationship Type="http://schemas.openxmlformats.org/officeDocument/2006/relationships/image" Target="/ppt/media/image18.png" Id="Rfa75c49a711647e5" /><Relationship Type="http://schemas.openxmlformats.org/officeDocument/2006/relationships/image" Target="/ppt/media/image19.png" Id="R158f495e47c64075" /><Relationship Type="http://schemas.openxmlformats.org/officeDocument/2006/relationships/image" Target="/ppt/media/image20.png" Id="R0f52b0793b4b463a" /><Relationship Type="http://schemas.openxmlformats.org/officeDocument/2006/relationships/image" Target="/ppt/media/image21.png" Id="Rbf6f29def04642cc" /><Relationship Type="http://schemas.openxmlformats.org/officeDocument/2006/relationships/image" Target="/ppt/media/image22.png" Id="R6e589c87cf5c4b89" /><Relationship Type="http://schemas.openxmlformats.org/officeDocument/2006/relationships/notesSlide" Target="/ppt/notesSlides/notesSlide7.xml" Id="Rf4d06b5bd4e64c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0c23d3dfba4d2d" /><Relationship Type="http://schemas.openxmlformats.org/officeDocument/2006/relationships/image" Target="/ppt/media/image23.png" Id="Re5f73279b4674565" /><Relationship Type="http://schemas.openxmlformats.org/officeDocument/2006/relationships/image" Target="/ppt/media/image24.png" Id="Rb0fa44085a544e21" /><Relationship Type="http://schemas.openxmlformats.org/officeDocument/2006/relationships/image" Target="/ppt/media/image25.png" Id="R6ac8a37495fc4dcb" /><Relationship Type="http://schemas.openxmlformats.org/officeDocument/2006/relationships/image" Target="/ppt/media/image26.png" Id="Re4f17a794de24b9b" /><Relationship Type="http://schemas.openxmlformats.org/officeDocument/2006/relationships/image" Target="/ppt/media/image27.png" Id="R7ae0d1eecdc54e14" /><Relationship Type="http://schemas.openxmlformats.org/officeDocument/2006/relationships/notesSlide" Target="/ppt/notesSlides/notesSlide8.xml" Id="Ra7b68c65bc2941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34ed3b0e004cfb" /><Relationship Type="http://schemas.openxmlformats.org/officeDocument/2006/relationships/image" Target="/ppt/media/image28.png" Id="R4a7a8a66882f4804" /><Relationship Type="http://schemas.openxmlformats.org/officeDocument/2006/relationships/image" Target="/ppt/media/image29.png" Id="Rc005fdb9d407417c" /><Relationship Type="http://schemas.openxmlformats.org/officeDocument/2006/relationships/notesSlide" Target="/ppt/notesSlides/notesSlide9.xml" Id="Rcd2b7952db034a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d87140036c45c4" /><Relationship Type="http://schemas.openxmlformats.org/officeDocument/2006/relationships/notesSlide" Target="/ppt/notesSlides/notesSlide10.xml" Id="R5163f3b6dd6947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4b662ee11647b8" /><Relationship Type="http://schemas.openxmlformats.org/officeDocument/2006/relationships/notesSlide" Target="/ppt/notesSlides/notesSlide11.xml" Id="Rcae8e24b8e9845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cd988b0d394297" /><Relationship Type="http://schemas.openxmlformats.org/officeDocument/2006/relationships/notesSlide" Target="/ppt/notesSlides/notesSlide12.xml" Id="R4aafd77d85d84f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0c8bcd65a1541a7" /><Relationship Type="http://schemas.openxmlformats.org/officeDocument/2006/relationships/notesSlide" Target="/ppt/notesSlides/notesSlide13.xml" Id="R69710398991549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4bbbc4aed44482" /><Relationship Type="http://schemas.openxmlformats.org/officeDocument/2006/relationships/notesSlide" Target="/ppt/notesSlides/notesSlide14.xml" Id="R4fcea8097a9b4c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642e4ce51a44a8" /><Relationship Type="http://schemas.openxmlformats.org/officeDocument/2006/relationships/notesSlide" Target="/ppt/notesSlides/notesSlide15.xml" Id="Rf7c59bc403164c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c626a2b958d46d7" /><Relationship Type="http://schemas.openxmlformats.org/officeDocument/2006/relationships/chart" Target="/ppt/slides/charts/chart1.xml" Id="R92a952018b384ee7" /><Relationship Type="http://schemas.openxmlformats.org/officeDocument/2006/relationships/notesSlide" Target="/ppt/notesSlides/notesSlide16.xml" Id="R855b5fd668a347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a07484e5964894" /><Relationship Type="http://schemas.openxmlformats.org/officeDocument/2006/relationships/image" Target="/ppt/media/image30.png" Id="R18281b3111e04f39" /><Relationship Type="http://schemas.openxmlformats.org/officeDocument/2006/relationships/image" Target="/ppt/media/image31.png" Id="Rad45afb6ff464224" /><Relationship Type="http://schemas.openxmlformats.org/officeDocument/2006/relationships/notesSlide" Target="/ppt/notesSlides/notesSlide17.xml" Id="R4bf2f1a4f9604d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f078dcfbb9f4196" /><Relationship Type="http://schemas.openxmlformats.org/officeDocument/2006/relationships/notesSlide" Target="/ppt/notesSlides/notesSlide18.xml" Id="R9ad612de91a442ce" /></Relationships>
</file>

<file path=ppt/slides/charts/chart1.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Tốc độ tăng GRDP (%)</c:v>
                </c:pt>
              </c:strCache>
            </c:strRef>
          </c:tx>
          <c:spPr>
            <a:solidFill xmlns:a="http://schemas.openxmlformats.org/drawingml/2006/main">
              <a:srgbClr val="1E2761"/>
            </a:solidFill>
          </c:spPr>
          <c:dLbls>
            <c:numFmt formatCode="0.00" sourceLinked="0"/>
            <c:txPr>
              <a:bodyPr xmlns:a="http://schemas.openxmlformats.org/drawingml/2006/main" anchorCtr="1"/>
              <a:lstStyle xmlns:a="http://schemas.openxmlformats.org/drawingml/2006/main"/>
              <a:p xmlns:a="http://schemas.openxmlformats.org/drawingml/2006/main">
                <a:pPr>
                  <a:defRPr sz="1100" b="0" i="0" u="none">
                    <a:solidFill>
                      <a:srgbClr val="202536"/>
                    </a:solidFill>
                    <a:latin typeface="Arial"/>
                    <a:ea typeface="Arial"/>
                    <a:cs typeface="Arial"/>
                  </a:defRPr>
                </a:pPr>
              </a:p>
            </c:txPr>
            <c:showLegendKey val="0"/>
            <c:showVal val="1"/>
            <c:showCatName val="0"/>
            <c:showSerName val="0"/>
            <c:showPercent val="0"/>
            <c:showBubbleSize val="0"/>
            <c:showLeaderLines val="0"/>
          </c:dLbls>
          <c:cat>
            <c:strRef>
              <c:f>Sheet1!$A$2:$A$7</c:f>
              <c:strCache>
                <c:ptCount val="6"/>
                <c:pt idx="0">
                  <c:v>Q1/2025</c:v>
                </c:pt>
                <c:pt idx="1">
                  <c:v>Q2/2025</c:v>
                </c:pt>
                <c:pt idx="2">
                  <c:v>Q3/2025</c:v>
                </c:pt>
                <c:pt idx="3">
                  <c:v>Q4/2025</c:v>
                </c:pt>
                <c:pt idx="4">
                  <c:v>Q1/2026</c:v>
                </c:pt>
                <c:pt idx="5">
                  <c:v>Q2/2026</c:v>
                </c:pt>
              </c:strCache>
            </c:strRef>
          </c:cat>
          <c:val>
            <c:numRef>
              <c:f>Sheet1!$B$2:$B$7</c:f>
              <c:numCache>
                <c:formatCode>General</c:formatCode>
                <c:ptCount val="6"/>
                <c:pt idx="0">
                  <c:v>7.28</c:v>
                </c:pt>
                <c:pt idx="1">
                  <c:v>6.27</c:v>
                </c:pt>
                <c:pt idx="2">
                  <c:v>7.71</c:v>
                </c:pt>
                <c:pt idx="3">
                  <c:v>7.2</c:v>
                </c:pt>
                <c:pt idx="4">
                  <c:v>8.37</c:v>
                </c:pt>
                <c:pt idx="5">
                  <c:v>8.73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100" b="0" i="0" u="none">
                  <a:solidFill>
                    <a:srgbClr val="202536"/>
                  </a:solidFill>
                  <a:latin typeface="Arial"/>
                  <a:ea typeface="Arial"/>
                  <a:cs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100" b="0" i="0" u="none">
                <a:solidFill>
                  <a:srgbClr val="5A6377"/>
                </a:solidFill>
                <a:latin typeface="Arial"/>
                <a:ea typeface="Arial"/>
                <a:cs typeface="Arial"/>
              </a:defRPr>
            </a:pPr>
          </a:p>
        </c:txPr>
        <c:crossAx val="2094734552"/>
        <c:crosses val="autoZero"/>
      </c:catAx>
      <c:valAx>
        <c:axId val="2094734552"/>
        <c:scaling>
          <c:orientation val="minMax"/>
          <c:max val="10"/>
          <c:min val="0"/>
        </c:scaling>
        <c:delete val="0"/>
        <c:axPos val="l"/>
        <c:majorGridlines>
          <c:spPr>
            <a:ln xmlns:a="http://schemas.openxmlformats.org/drawingml/2006/main" w="12700">
              <a:solidFill>
                <a:srgbClr val="E6EAF2"/>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377"/>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D40982-8599-4A10-A43E-1BCBE733B828}"/>
              </a:ext>
            </a:extLst>
          </p:cNvPr>
          <p:cNvSpPr>
            <a:spLocks xmlns:a="http://schemas.openxmlformats.org/drawingml/2006/main" noGrp="1"/>
          </p:cNvSpPr>
          <p:nvPr/>
        </p:nvSpPr>
        <p:spPr>
          <a:xfrm xmlns:a="http://schemas.openxmlformats.org/drawingml/2006/main">
            <a:off x="822960" y="1005840"/>
            <a:ext cx="822960" cy="822960"/>
          </a:xfrm>
          <a:prstGeom xmlns:a="http://schemas.openxmlformats.org/drawingml/2006/main" prst="roundRect">
            <a:avLst>
              <a:gd name="adj" fmla="val 13333"/>
            </a:avLst>
          </a:prstGeom>
          <a:solidFill xmlns:a="http://schemas.openxmlformats.org/drawingml/2006/main">
            <a:srgbClr val="C9A227"/>
          </a:solidFill>
        </p:spPr>
      </p:sp>
      <p:sp>
        <p:nvSpPr>
          <p:cNvPr id="3" name="Text 1">
            <a:extLst xmlns:a="http://schemas.openxmlformats.org/drawingml/2006/main">
              <a:ext uri="{FF2B5EF4-FFF2-40B4-BE49-F238E27FC236}">
                <a16:creationId xmlns:a16="http://schemas.microsoft.com/office/drawing/2014/main" id="{FAA735A4-3A4D-427C-ACDF-8118BDBCA6B4}"/>
              </a:ext>
            </a:extLst>
          </p:cNvPr>
          <p:cNvSpPr>
            <a:spLocks xmlns:a="http://schemas.openxmlformats.org/drawingml/2006/main" noGrp="1"/>
          </p:cNvSpPr>
          <p:nvPr/>
        </p:nvSpPr>
        <p:spPr>
          <a:xfrm xmlns:a="http://schemas.openxmlformats.org/drawingml/2006/main">
            <a:off x="822960" y="1005840"/>
            <a:ext cx="822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E2761"/>
                </a:solidFill>
                <a:latin typeface="Calibri"/>
                <a:ea typeface="Calibri"/>
                <a:cs typeface="Calibri"/>
              </a:rPr>
              <a:t>GRDP</a:t>
            </a:r>
            <a:endParaRPr sz="1500"/>
          </a:p>
        </p:txBody>
      </p:sp>
      <p:sp>
        <p:nvSpPr>
          <p:cNvPr id="4" name="Text 2">
            <a:extLst xmlns:a="http://schemas.openxmlformats.org/drawingml/2006/main">
              <a:ext uri="{FF2B5EF4-FFF2-40B4-BE49-F238E27FC236}">
                <a16:creationId xmlns:a16="http://schemas.microsoft.com/office/drawing/2014/main" id="{982CC230-B288-4A9A-92E6-37544E74A07E}"/>
              </a:ext>
            </a:extLst>
          </p:cNvPr>
          <p:cNvSpPr>
            <a:spLocks xmlns:a="http://schemas.openxmlformats.org/drawingml/2006/main" noGrp="1"/>
          </p:cNvSpPr>
          <p:nvPr/>
        </p:nvSpPr>
        <p:spPr>
          <a:xfrm xmlns:a="http://schemas.openxmlformats.org/drawingml/2006/main">
            <a:off x="822960" y="2148840"/>
            <a:ext cx="105156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FFFFFF"/>
                </a:solidFill>
                <a:latin typeface="Cambria"/>
                <a:ea typeface="Cambria"/>
                <a:cs typeface="Cambria"/>
              </a:rPr>
              <a:t>Dữ liệu đầu vào để tính GDP/GRDP</a:t>
            </a:r>
            <a:endParaRPr sz="4000"/>
          </a:p>
        </p:txBody>
      </p:sp>
      <p:sp>
        <p:nvSpPr>
          <p:cNvPr id="5" name="Text 3">
            <a:extLst xmlns:a="http://schemas.openxmlformats.org/drawingml/2006/main">
              <a:ext uri="{FF2B5EF4-FFF2-40B4-BE49-F238E27FC236}">
                <a16:creationId xmlns:a16="http://schemas.microsoft.com/office/drawing/2014/main" id="{2CCAD59A-8E78-4A10-AC6C-93A22C2AE070}"/>
              </a:ext>
            </a:extLst>
          </p:cNvPr>
          <p:cNvSpPr>
            <a:spLocks xmlns:a="http://schemas.openxmlformats.org/drawingml/2006/main" noGrp="1"/>
          </p:cNvSpPr>
          <p:nvPr/>
        </p:nvSpPr>
        <p:spPr>
          <a:xfrm xmlns:a="http://schemas.openxmlformats.org/drawingml/2006/main">
            <a:off x="822960" y="3154680"/>
            <a:ext cx="1005840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CADCFC"/>
                </a:solidFill>
                <a:latin typeface="Calibri"/>
                <a:ea typeface="Calibri"/>
                <a:cs typeface="Calibri"/>
              </a:rPr>
              <a:t>Yêu cầu chỉ tiêu – trường dữ liệu – nguồn cấp cho Kho dữ liệu &amp; Nền tảng phân tích IOC tỉnh Quảng Trị</a:t>
            </a:r>
            <a:endParaRPr sz="1700"/>
          </a:p>
        </p:txBody>
      </p:sp>
      <p:sp>
        <p:nvSpPr>
          <p:cNvPr id="6" name="Shape 4">
            <a:extLst xmlns:a="http://schemas.openxmlformats.org/drawingml/2006/main">
              <a:ext uri="{FF2B5EF4-FFF2-40B4-BE49-F238E27FC236}">
                <a16:creationId xmlns:a16="http://schemas.microsoft.com/office/drawing/2014/main" id="{9DB544BF-5B3F-4F87-BA2B-5D1EEB230B93}"/>
              </a:ext>
            </a:extLst>
          </p:cNvPr>
          <p:cNvSpPr>
            <a:spLocks xmlns:a="http://schemas.openxmlformats.org/drawingml/2006/main" noGrp="1"/>
          </p:cNvSpPr>
          <p:nvPr/>
        </p:nvSpPr>
        <p:spPr>
          <a:xfrm xmlns:a="http://schemas.openxmlformats.org/drawingml/2006/main">
            <a:off x="822960" y="4114800"/>
            <a:ext cx="2926080" cy="0"/>
          </a:xfrm>
          <a:prstGeom xmlns:a="http://schemas.openxmlformats.org/drawingml/2006/main" prst="line">
            <a:avLst/>
          </a:prstGeom>
          <a:noFill xmlns:a="http://schemas.openxmlformats.org/drawingml/2006/main"/>
          <a:ln xmlns:a="http://schemas.openxmlformats.org/drawingml/2006/main" w="25400">
            <a:solidFill>
              <a:srgbClr val="C9A227"/>
            </a:solidFill>
            <a:prstDash val="solid"/>
          </a:ln>
        </p:spPr>
      </p:sp>
      <p:sp>
        <p:nvSpPr>
          <p:cNvPr id="7" name="Text 5">
            <a:extLst xmlns:a="http://schemas.openxmlformats.org/drawingml/2006/main">
              <a:ext uri="{FF2B5EF4-FFF2-40B4-BE49-F238E27FC236}">
                <a16:creationId xmlns:a16="http://schemas.microsoft.com/office/drawing/2014/main" id="{E05971D2-554E-4DB6-AC07-9E83A91318B0}"/>
              </a:ext>
            </a:extLst>
          </p:cNvPr>
          <p:cNvSpPr>
            <a:spLocks xmlns:a="http://schemas.openxmlformats.org/drawingml/2006/main" noGrp="1"/>
          </p:cNvSpPr>
          <p:nvPr/>
        </p:nvSpPr>
        <p:spPr>
          <a:xfrm xmlns:a="http://schemas.openxmlformats.org/drawingml/2006/main">
            <a:off x="822960" y="4343400"/>
            <a:ext cx="100584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CADCFC"/>
                </a:solidFill>
                <a:latin typeface="Calibri"/>
                <a:ea typeface="Calibri"/>
                <a:cs typeface="Calibri"/>
              </a:rPr>
              <a:t>Tài liệu bổ sung cho bộ slide "IOC – Kho dữ liệu"</a:t>
            </a:r>
            <a:endParaRPr sz="1200"/>
          </a:p>
          <a:p xmlns:a="http://schemas.openxmlformats.org/drawingml/2006/main">
            <a:pPr marL="0" indent="0">
              <a:buNone/>
            </a:pPr>
            <a:r>
              <a:rPr sz="1200">
                <a:solidFill>
                  <a:srgbClr val="CADCFC"/>
                </a:solidFill>
                <a:latin typeface="Calibri"/>
                <a:ea typeface="Calibri"/>
                <a:cs typeface="Calibri"/>
              </a:rPr>
              <a:t>Dữ liệu minh hoạ: Tài khoản quốc gia – GRDP theo quý, Chi cục Thống kê tỉnh (2025 – Q2/2026)</a:t>
            </a:r>
            <a:endParaRPr sz="1200"/>
          </a:p>
        </p:txBody>
      </p:sp>
    </p:spTree>
    <p:extLst>
      <p:ext uri="{BB962C8B-B14F-4D97-AF65-F5344CB8AC3E}">
        <p14:creationId xmlns:p14="http://schemas.microsoft.com/office/powerpoint/2010/main" val="12658797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49E09C-F7D9-4F52-B793-605575ED12FC}"/>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Vấn đề cần làm rõ</a:t>
            </a:r>
            <a:endParaRPr sz="3100"/>
          </a:p>
        </p:txBody>
      </p:sp>
      <p:sp>
        <p:nvSpPr>
          <p:cNvPr id="3" name="Text 1">
            <a:extLst xmlns:a="http://schemas.openxmlformats.org/drawingml/2006/main">
              <a:ext uri="{FF2B5EF4-FFF2-40B4-BE49-F238E27FC236}">
                <a16:creationId xmlns:a16="http://schemas.microsoft.com/office/drawing/2014/main" id="{B369989C-C639-40B4-B684-E2CF94493756}"/>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Bộ slide IOC hiện tại mô tả năng lực nền tảng, chưa mô tả dữ liệu đầu vào</a:t>
            </a:r>
            <a:endParaRPr sz="1400"/>
          </a:p>
        </p:txBody>
      </p:sp>
      <p:sp>
        <p:nvSpPr>
          <p:cNvPr id="4" name="Shape 2">
            <a:extLst xmlns:a="http://schemas.openxmlformats.org/drawingml/2006/main">
              <a:ext uri="{FF2B5EF4-FFF2-40B4-BE49-F238E27FC236}">
                <a16:creationId xmlns:a16="http://schemas.microsoft.com/office/drawing/2014/main" id="{55F93AA7-D636-405D-9CEA-87CC62D0E893}"/>
              </a:ext>
            </a:extLst>
          </p:cNvPr>
          <p:cNvSpPr>
            <a:spLocks xmlns:a="http://schemas.openxmlformats.org/drawingml/2006/main" noGrp="1"/>
          </p:cNvSpPr>
          <p:nvPr/>
        </p:nvSpPr>
        <p:spPr>
          <a:xfrm xmlns:a="http://schemas.openxmlformats.org/drawingml/2006/main">
            <a:off x="640080" y="1691640"/>
            <a:ext cx="10972800" cy="1280160"/>
          </a:xfrm>
          <a:prstGeom xmlns:a="http://schemas.openxmlformats.org/drawingml/2006/main" prst="roundRect">
            <a:avLst>
              <a:gd name="adj" fmla="val 5714"/>
            </a:avLst>
          </a:prstGeom>
          <a:solidFill xmlns:a="http://schemas.openxmlformats.org/drawingml/2006/main">
            <a:srgbClr val="F2F5FB"/>
          </a:solidFill>
          <a:ln xmlns:a="http://schemas.openxmlformats.org/drawingml/2006/main" w="9525">
            <a:solidFill>
              <a:srgbClr val="E1E7F2"/>
            </a:solidFill>
            <a:prstDash val="solid"/>
          </a:ln>
        </p:spPr>
      </p:sp>
      <p:sp>
        <p:nvSpPr>
          <p:cNvPr id="5" name="Shape 3">
            <a:extLst xmlns:a="http://schemas.openxmlformats.org/drawingml/2006/main">
              <a:ext uri="{FF2B5EF4-FFF2-40B4-BE49-F238E27FC236}">
                <a16:creationId xmlns:a16="http://schemas.microsoft.com/office/drawing/2014/main" id="{06C4AF7D-8BDF-445E-8786-0CC554B02168}"/>
              </a:ext>
            </a:extLst>
          </p:cNvPr>
          <p:cNvSpPr>
            <a:spLocks xmlns:a="http://schemas.openxmlformats.org/drawingml/2006/main" noGrp="1"/>
          </p:cNvSpPr>
          <p:nvPr/>
        </p:nvSpPr>
        <p:spPr>
          <a:xfrm xmlns:a="http://schemas.openxmlformats.org/drawingml/2006/main">
            <a:off x="914400" y="1920240"/>
            <a:ext cx="384048" cy="384048"/>
          </a:xfrm>
          <a:prstGeom xmlns:a="http://schemas.openxmlformats.org/drawingml/2006/main" prst="ellipse">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74B69F6D-EF08-433D-81E1-B07DE0643D43}"/>
              </a:ext>
            </a:extLst>
          </p:cNvPr>
          <p:cNvSpPr>
            <a:spLocks xmlns:a="http://schemas.openxmlformats.org/drawingml/2006/main" noGrp="1"/>
          </p:cNvSpPr>
          <p:nvPr/>
        </p:nvSpPr>
        <p:spPr>
          <a:xfrm xmlns:a="http://schemas.openxmlformats.org/drawingml/2006/main">
            <a:off x="914400" y="19202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E673EBEF-F0A6-4E1A-9C61-0ADD3CE060F4}"/>
              </a:ext>
            </a:extLst>
          </p:cNvPr>
          <p:cNvSpPr>
            <a:spLocks xmlns:a="http://schemas.openxmlformats.org/drawingml/2006/main" noGrp="1"/>
          </p:cNvSpPr>
          <p:nvPr/>
        </p:nvSpPr>
        <p:spPr>
          <a:xfrm xmlns:a="http://schemas.openxmlformats.org/drawingml/2006/main">
            <a:off x="1463040" y="1837944"/>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libri"/>
                <a:ea typeface="Calibri"/>
                <a:cs typeface="Calibri"/>
              </a:rPr>
              <a:t>Slide IOC hiện có</a:t>
            </a:r>
            <a:endParaRPr sz="1600"/>
          </a:p>
        </p:txBody>
      </p:sp>
      <p:sp>
        <p:nvSpPr>
          <p:cNvPr id="8" name="Text 6">
            <a:extLst xmlns:a="http://schemas.openxmlformats.org/drawingml/2006/main">
              <a:ext uri="{FF2B5EF4-FFF2-40B4-BE49-F238E27FC236}">
                <a16:creationId xmlns:a16="http://schemas.microsoft.com/office/drawing/2014/main" id="{FA764266-AC80-4FE5-BC00-3001F9D4DC72}"/>
              </a:ext>
            </a:extLst>
          </p:cNvPr>
          <p:cNvSpPr>
            <a:spLocks xmlns:a="http://schemas.openxmlformats.org/drawingml/2006/main" noGrp="1"/>
          </p:cNvSpPr>
          <p:nvPr/>
        </p:nvSpPr>
        <p:spPr>
          <a:xfrm xmlns:a="http://schemas.openxmlformats.org/drawingml/2006/main">
            <a:off x="1463040" y="2258568"/>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377"/>
                </a:solidFill>
                <a:latin typeface="Calibri"/>
                <a:ea typeface="Calibri"/>
                <a:cs typeface="Calibri"/>
              </a:rPr>
              <a:t>Trả lời câu hỏi "hệ thống làm được gì"</a:t>
            </a:r>
            <a:endParaRPr sz="1100"/>
          </a:p>
        </p:txBody>
      </p:sp>
      <p:sp>
        <p:nvSpPr>
          <p:cNvPr id="9" name="Text 7">
            <a:extLst xmlns:a="http://schemas.openxmlformats.org/drawingml/2006/main">
              <a:ext uri="{FF2B5EF4-FFF2-40B4-BE49-F238E27FC236}">
                <a16:creationId xmlns:a16="http://schemas.microsoft.com/office/drawing/2014/main" id="{2886CF68-D8AF-414E-82EC-36B809334409}"/>
              </a:ext>
            </a:extLst>
          </p:cNvPr>
          <p:cNvSpPr>
            <a:spLocks xmlns:a="http://schemas.openxmlformats.org/drawingml/2006/main" noGrp="1"/>
          </p:cNvSpPr>
          <p:nvPr/>
        </p:nvSpPr>
        <p:spPr>
          <a:xfrm xmlns:a="http://schemas.openxmlformats.org/drawingml/2006/main">
            <a:off x="4846320" y="1874520"/>
            <a:ext cx="6492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02536"/>
                </a:solidFill>
                <a:latin typeface="Calibri"/>
                <a:ea typeface="Calibri"/>
                <a:cs typeface="Calibri"/>
              </a:rPr>
              <a:t>Mô tả dịch vụ nền tảng: kết nối, khai phá, kết hợp (join/union), lọc, tổng hợp (Sum/Count/Avg), lưu trữ, chia sẻ dữ liệu.</a:t>
            </a:r>
            <a:endParaRPr sz="1300"/>
          </a:p>
        </p:txBody>
      </p:sp>
      <p:sp>
        <p:nvSpPr>
          <p:cNvPr id="10" name="Shape 8">
            <a:extLst xmlns:a="http://schemas.openxmlformats.org/drawingml/2006/main">
              <a:ext uri="{FF2B5EF4-FFF2-40B4-BE49-F238E27FC236}">
                <a16:creationId xmlns:a16="http://schemas.microsoft.com/office/drawing/2014/main" id="{15C9BACB-C85B-49C6-8FB3-BC038A6A3B6A}"/>
              </a:ext>
            </a:extLst>
          </p:cNvPr>
          <p:cNvSpPr>
            <a:spLocks xmlns:a="http://schemas.openxmlformats.org/drawingml/2006/main" noGrp="1"/>
          </p:cNvSpPr>
          <p:nvPr/>
        </p:nvSpPr>
        <p:spPr>
          <a:xfrm xmlns:a="http://schemas.openxmlformats.org/drawingml/2006/main">
            <a:off x="640080" y="3154680"/>
            <a:ext cx="10972800" cy="1280160"/>
          </a:xfrm>
          <a:prstGeom xmlns:a="http://schemas.openxmlformats.org/drawingml/2006/main" prst="roundRect">
            <a:avLst>
              <a:gd name="adj" fmla="val 5714"/>
            </a:avLst>
          </a:prstGeom>
          <a:solidFill xmlns:a="http://schemas.openxmlformats.org/drawingml/2006/main">
            <a:srgbClr val="F2F5FB"/>
          </a:solidFill>
          <a:ln xmlns:a="http://schemas.openxmlformats.org/drawingml/2006/main" w="9525">
            <a:solidFill>
              <a:srgbClr val="E1E7F2"/>
            </a:solidFill>
            <a:prstDash val="solid"/>
          </a:ln>
        </p:spPr>
      </p:sp>
      <p:sp>
        <p:nvSpPr>
          <p:cNvPr id="11" name="Shape 9">
            <a:extLst xmlns:a="http://schemas.openxmlformats.org/drawingml/2006/main">
              <a:ext uri="{FF2B5EF4-FFF2-40B4-BE49-F238E27FC236}">
                <a16:creationId xmlns:a16="http://schemas.microsoft.com/office/drawing/2014/main" id="{C1868125-36A2-4DCC-89BA-97460C2FACA4}"/>
              </a:ext>
            </a:extLst>
          </p:cNvPr>
          <p:cNvSpPr>
            <a:spLocks xmlns:a="http://schemas.openxmlformats.org/drawingml/2006/main" noGrp="1"/>
          </p:cNvSpPr>
          <p:nvPr/>
        </p:nvSpPr>
        <p:spPr>
          <a:xfrm xmlns:a="http://schemas.openxmlformats.org/drawingml/2006/main">
            <a:off x="914400" y="3383280"/>
            <a:ext cx="384048" cy="384048"/>
          </a:xfrm>
          <a:prstGeom xmlns:a="http://schemas.openxmlformats.org/drawingml/2006/main" prst="ellipse">
            <a:avLst/>
          </a:prstGeom>
          <a:solidFill xmlns:a="http://schemas.openxmlformats.org/drawingml/2006/main">
            <a:srgbClr val="1E2761"/>
          </a:solidFill>
        </p:spPr>
      </p:sp>
      <p:sp>
        <p:nvSpPr>
          <p:cNvPr id="12" name="Text 10">
            <a:extLst xmlns:a="http://schemas.openxmlformats.org/drawingml/2006/main">
              <a:ext uri="{FF2B5EF4-FFF2-40B4-BE49-F238E27FC236}">
                <a16:creationId xmlns:a16="http://schemas.microsoft.com/office/drawing/2014/main" id="{A6C1F717-DE2F-4803-A0A5-0F419E5E53BA}"/>
              </a:ext>
            </a:extLst>
          </p:cNvPr>
          <p:cNvSpPr>
            <a:spLocks xmlns:a="http://schemas.openxmlformats.org/drawingml/2006/main" noGrp="1"/>
          </p:cNvSpPr>
          <p:nvPr/>
        </p:nvSpPr>
        <p:spPr>
          <a:xfrm xmlns:a="http://schemas.openxmlformats.org/drawingml/2006/main">
            <a:off x="914400" y="338328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3" name="Text 11">
            <a:extLst xmlns:a="http://schemas.openxmlformats.org/drawingml/2006/main">
              <a:ext uri="{FF2B5EF4-FFF2-40B4-BE49-F238E27FC236}">
                <a16:creationId xmlns:a16="http://schemas.microsoft.com/office/drawing/2014/main" id="{5DB746B2-6025-4F0F-9C92-D64EA765B882}"/>
              </a:ext>
            </a:extLst>
          </p:cNvPr>
          <p:cNvSpPr>
            <a:spLocks xmlns:a="http://schemas.openxmlformats.org/drawingml/2006/main" noGrp="1"/>
          </p:cNvSpPr>
          <p:nvPr/>
        </p:nvSpPr>
        <p:spPr>
          <a:xfrm xmlns:a="http://schemas.openxmlformats.org/drawingml/2006/main">
            <a:off x="1463040" y="3300984"/>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libri"/>
                <a:ea typeface="Calibri"/>
                <a:cs typeface="Calibri"/>
              </a:rPr>
              <a:t>File Excel hiện có</a:t>
            </a:r>
            <a:endParaRPr sz="1600"/>
          </a:p>
        </p:txBody>
      </p:sp>
      <p:sp>
        <p:nvSpPr>
          <p:cNvPr id="14" name="Text 12">
            <a:extLst xmlns:a="http://schemas.openxmlformats.org/drawingml/2006/main">
              <a:ext uri="{FF2B5EF4-FFF2-40B4-BE49-F238E27FC236}">
                <a16:creationId xmlns:a16="http://schemas.microsoft.com/office/drawing/2014/main" id="{220C345B-FCE2-432F-8A0E-A8C7547C6292}"/>
              </a:ext>
            </a:extLst>
          </p:cNvPr>
          <p:cNvSpPr>
            <a:spLocks xmlns:a="http://schemas.openxmlformats.org/drawingml/2006/main" noGrp="1"/>
          </p:cNvSpPr>
          <p:nvPr/>
        </p:nvSpPr>
        <p:spPr>
          <a:xfrm xmlns:a="http://schemas.openxmlformats.org/drawingml/2006/main">
            <a:off x="1463040" y="3721608"/>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377"/>
                </a:solidFill>
                <a:latin typeface="Calibri"/>
                <a:ea typeface="Calibri"/>
                <a:cs typeface="Calibri"/>
              </a:rPr>
              <a:t>Trả lời câu hỏi "kết quả ra sao"</a:t>
            </a:r>
            <a:endParaRPr sz="1100"/>
          </a:p>
        </p:txBody>
      </p:sp>
      <p:sp>
        <p:nvSpPr>
          <p:cNvPr id="15" name="Text 13">
            <a:extLst xmlns:a="http://schemas.openxmlformats.org/drawingml/2006/main">
              <a:ext uri="{FF2B5EF4-FFF2-40B4-BE49-F238E27FC236}">
                <a16:creationId xmlns:a16="http://schemas.microsoft.com/office/drawing/2014/main" id="{93C523D5-932A-4CB8-B087-31AF31596FA2}"/>
              </a:ext>
            </a:extLst>
          </p:cNvPr>
          <p:cNvSpPr>
            <a:spLocks xmlns:a="http://schemas.openxmlformats.org/drawingml/2006/main" noGrp="1"/>
          </p:cNvSpPr>
          <p:nvPr/>
        </p:nvSpPr>
        <p:spPr>
          <a:xfrm xmlns:a="http://schemas.openxmlformats.org/drawingml/2006/main">
            <a:off x="4846320" y="3337560"/>
            <a:ext cx="6492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02536"/>
                </a:solidFill>
                <a:latin typeface="Calibri"/>
                <a:ea typeface="Calibri"/>
                <a:cs typeface="Calibri"/>
              </a:rPr>
              <a:t>Bảng GRDP theo quý, theo ngành, giá hiện hành và giá so sánh — đã là KẾT QUẢ tính toán do Thống kê công bố.</a:t>
            </a:r>
            <a:endParaRPr sz="1300"/>
          </a:p>
        </p:txBody>
      </p:sp>
      <p:sp>
        <p:nvSpPr>
          <p:cNvPr id="16" name="Shape 14">
            <a:extLst xmlns:a="http://schemas.openxmlformats.org/drawingml/2006/main">
              <a:ext uri="{FF2B5EF4-FFF2-40B4-BE49-F238E27FC236}">
                <a16:creationId xmlns:a16="http://schemas.microsoft.com/office/drawing/2014/main" id="{883E145F-1A01-44E3-BB20-B40EF54B4860}"/>
              </a:ext>
            </a:extLst>
          </p:cNvPr>
          <p:cNvSpPr>
            <a:spLocks xmlns:a="http://schemas.openxmlformats.org/drawingml/2006/main" noGrp="1"/>
          </p:cNvSpPr>
          <p:nvPr/>
        </p:nvSpPr>
        <p:spPr>
          <a:xfrm xmlns:a="http://schemas.openxmlformats.org/drawingml/2006/main">
            <a:off x="640080" y="4617720"/>
            <a:ext cx="10972800" cy="1280160"/>
          </a:xfrm>
          <a:prstGeom xmlns:a="http://schemas.openxmlformats.org/drawingml/2006/main" prst="roundRect">
            <a:avLst>
              <a:gd name="adj" fmla="val 5714"/>
            </a:avLst>
          </a:prstGeom>
          <a:solidFill xmlns:a="http://schemas.openxmlformats.org/drawingml/2006/main">
            <a:srgbClr val="FFF6DC"/>
          </a:solidFill>
          <a:ln xmlns:a="http://schemas.openxmlformats.org/drawingml/2006/main" w="9525">
            <a:solidFill>
              <a:srgbClr val="E1E7F2"/>
            </a:solidFill>
            <a:prstDash val="solid"/>
          </a:ln>
        </p:spPr>
      </p:sp>
      <p:sp>
        <p:nvSpPr>
          <p:cNvPr id="17" name="Shape 15">
            <a:extLst xmlns:a="http://schemas.openxmlformats.org/drawingml/2006/main">
              <a:ext uri="{FF2B5EF4-FFF2-40B4-BE49-F238E27FC236}">
                <a16:creationId xmlns:a16="http://schemas.microsoft.com/office/drawing/2014/main" id="{4E98B0F3-B512-4D02-9188-A6FE06A5D77B}"/>
              </a:ext>
            </a:extLst>
          </p:cNvPr>
          <p:cNvSpPr>
            <a:spLocks xmlns:a="http://schemas.openxmlformats.org/drawingml/2006/main" noGrp="1"/>
          </p:cNvSpPr>
          <p:nvPr/>
        </p:nvSpPr>
        <p:spPr>
          <a:xfrm xmlns:a="http://schemas.openxmlformats.org/drawingml/2006/main">
            <a:off x="914400" y="4846320"/>
            <a:ext cx="384048" cy="384048"/>
          </a:xfrm>
          <a:prstGeom xmlns:a="http://schemas.openxmlformats.org/drawingml/2006/main" prst="ellipse">
            <a:avLst/>
          </a:prstGeom>
          <a:solidFill xmlns:a="http://schemas.openxmlformats.org/drawingml/2006/main">
            <a:srgbClr val="1E2761"/>
          </a:solidFill>
        </p:spPr>
      </p:sp>
      <p:sp>
        <p:nvSpPr>
          <p:cNvPr id="18" name="Text 16">
            <a:extLst xmlns:a="http://schemas.openxmlformats.org/drawingml/2006/main">
              <a:ext uri="{FF2B5EF4-FFF2-40B4-BE49-F238E27FC236}">
                <a16:creationId xmlns:a16="http://schemas.microsoft.com/office/drawing/2014/main" id="{1F6CBCCE-0116-4785-8168-31CA295805E6}"/>
              </a:ext>
            </a:extLst>
          </p:cNvPr>
          <p:cNvSpPr>
            <a:spLocks xmlns:a="http://schemas.openxmlformats.org/drawingml/2006/main" noGrp="1"/>
          </p:cNvSpPr>
          <p:nvPr/>
        </p:nvSpPr>
        <p:spPr>
          <a:xfrm xmlns:a="http://schemas.openxmlformats.org/drawingml/2006/main">
            <a:off x="914400" y="484632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9" name="Text 17">
            <a:extLst xmlns:a="http://schemas.openxmlformats.org/drawingml/2006/main">
              <a:ext uri="{FF2B5EF4-FFF2-40B4-BE49-F238E27FC236}">
                <a16:creationId xmlns:a16="http://schemas.microsoft.com/office/drawing/2014/main" id="{90077A63-FD9E-47EE-8052-98B7B82D1702}"/>
              </a:ext>
            </a:extLst>
          </p:cNvPr>
          <p:cNvSpPr>
            <a:spLocks xmlns:a="http://schemas.openxmlformats.org/drawingml/2006/main" noGrp="1"/>
          </p:cNvSpPr>
          <p:nvPr/>
        </p:nvSpPr>
        <p:spPr>
          <a:xfrm xmlns:a="http://schemas.openxmlformats.org/drawingml/2006/main">
            <a:off x="1463040" y="4764024"/>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libri"/>
                <a:ea typeface="Calibri"/>
                <a:cs typeface="Calibri"/>
              </a:rPr>
              <a:t>Phần còn thiếu</a:t>
            </a:r>
            <a:endParaRPr sz="1600"/>
          </a:p>
        </p:txBody>
      </p:sp>
      <p:sp>
        <p:nvSpPr>
          <p:cNvPr id="20" name="Text 18">
            <a:extLst xmlns:a="http://schemas.openxmlformats.org/drawingml/2006/main">
              <a:ext uri="{FF2B5EF4-FFF2-40B4-BE49-F238E27FC236}">
                <a16:creationId xmlns:a16="http://schemas.microsoft.com/office/drawing/2014/main" id="{3158D17E-7A82-48A5-BC58-B142AAFF9BB5}"/>
              </a:ext>
            </a:extLst>
          </p:cNvPr>
          <p:cNvSpPr>
            <a:spLocks xmlns:a="http://schemas.openxmlformats.org/drawingml/2006/main" noGrp="1"/>
          </p:cNvSpPr>
          <p:nvPr/>
        </p:nvSpPr>
        <p:spPr>
          <a:xfrm xmlns:a="http://schemas.openxmlformats.org/drawingml/2006/main">
            <a:off x="1463040" y="5184648"/>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377"/>
                </a:solidFill>
                <a:latin typeface="Calibri"/>
                <a:ea typeface="Calibri"/>
                <a:cs typeface="Calibri"/>
              </a:rPr>
              <a:t>Trả lời câu hỏi "cần nạp gì vào kho dữ liệu"</a:t>
            </a:r>
            <a:endParaRPr sz="1100"/>
          </a:p>
        </p:txBody>
      </p:sp>
      <p:sp>
        <p:nvSpPr>
          <p:cNvPr id="21" name="Text 19">
            <a:extLst xmlns:a="http://schemas.openxmlformats.org/drawingml/2006/main">
              <a:ext uri="{FF2B5EF4-FFF2-40B4-BE49-F238E27FC236}">
                <a16:creationId xmlns:a16="http://schemas.microsoft.com/office/drawing/2014/main" id="{DD94DE19-1E3C-4DE8-AF0B-8276009FBECA}"/>
              </a:ext>
            </a:extLst>
          </p:cNvPr>
          <p:cNvSpPr>
            <a:spLocks xmlns:a="http://schemas.openxmlformats.org/drawingml/2006/main" noGrp="1"/>
          </p:cNvSpPr>
          <p:nvPr/>
        </p:nvSpPr>
        <p:spPr>
          <a:xfrm xmlns:a="http://schemas.openxmlformats.org/drawingml/2006/main">
            <a:off x="4846320" y="4800600"/>
            <a:ext cx="6492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02536"/>
                </a:solidFill>
                <a:latin typeface="Calibri"/>
                <a:ea typeface="Calibri"/>
                <a:cs typeface="Calibri"/>
              </a:rPr>
              <a:t>Danh mục chỉ tiêu – trường dữ liệu – nguồn cấp – tần suất để IOC tự tính và kiểm chứng được GRDP.</a:t>
            </a:r>
            <a:endParaRPr sz="1300"/>
          </a:p>
        </p:txBody>
      </p:sp>
      <p:sp>
        <p:nvSpPr>
          <p:cNvPr id="22" name="Text 20">
            <a:extLst xmlns:a="http://schemas.openxmlformats.org/drawingml/2006/main">
              <a:ext uri="{FF2B5EF4-FFF2-40B4-BE49-F238E27FC236}">
                <a16:creationId xmlns:a16="http://schemas.microsoft.com/office/drawing/2014/main" id="{BCD06496-F96E-4514-8063-5C06F13F31BF}"/>
              </a:ext>
            </a:extLst>
          </p:cNvPr>
          <p:cNvSpPr>
            <a:spLocks xmlns:a="http://schemas.openxmlformats.org/drawingml/2006/main" noGrp="1"/>
          </p:cNvSpPr>
          <p:nvPr/>
        </p:nvSpPr>
        <p:spPr>
          <a:xfrm xmlns:a="http://schemas.openxmlformats.org/drawingml/2006/main">
            <a:off x="640080" y="635508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5A6377"/>
                </a:solidFill>
                <a:latin typeface="Calibri"/>
                <a:ea typeface="Calibri"/>
                <a:cs typeface="Calibri"/>
              </a:rPr>
              <a:t>Nguồn tham chiếu: IOC-KHODL_F1.pdf (17 trang) và IOC_TaiKhoanQuocGia_GRDP_Quy_ThongKeTinh.xlsx</a:t>
            </a:r>
            <a:endParaRPr sz="900"/>
          </a:p>
        </p:txBody>
      </p:sp>
    </p:spTree>
    <p:extLst>
      <p:ext uri="{BB962C8B-B14F-4D97-AF65-F5344CB8AC3E}">
        <p14:creationId xmlns:p14="http://schemas.microsoft.com/office/powerpoint/2010/main" val="82628728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BD822D-D210-4B89-9ABC-953213ED90B5}"/>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GRDP – định nghĩa và hệ ký hiệu chuẩn</a:t>
            </a:r>
            <a:endParaRPr sz="3100"/>
          </a:p>
        </p:txBody>
      </p:sp>
      <p:sp>
        <p:nvSpPr>
          <p:cNvPr id="3" name="Text 1">
            <a:extLst xmlns:a="http://schemas.openxmlformats.org/drawingml/2006/main">
              <a:ext uri="{FF2B5EF4-FFF2-40B4-BE49-F238E27FC236}">
                <a16:creationId xmlns:a16="http://schemas.microsoft.com/office/drawing/2014/main" id="{37A1CE8C-ED53-45A8-B334-A473F24712D9}"/>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Tổng sản phẩm trên địa bàn: toàn bộ giá trị tăng thêm được tạo ra trên địa bàn tỉnh trong một kỳ</a:t>
            </a:r>
            <a:endParaRPr sz="1400"/>
          </a:p>
        </p:txBody>
      </p:sp>
      <p:sp>
        <p:nvSpPr>
          <p:cNvPr id="4" name="Shape 2">
            <a:extLst xmlns:a="http://schemas.openxmlformats.org/drawingml/2006/main">
              <a:ext uri="{FF2B5EF4-FFF2-40B4-BE49-F238E27FC236}">
                <a16:creationId xmlns:a16="http://schemas.microsoft.com/office/drawing/2014/main" id="{7527E620-F790-442C-9762-DEA5DE3B6B31}"/>
              </a:ext>
            </a:extLst>
          </p:cNvPr>
          <p:cNvSpPr>
            <a:spLocks xmlns:a="http://schemas.openxmlformats.org/drawingml/2006/main" noGrp="1"/>
          </p:cNvSpPr>
          <p:nvPr/>
        </p:nvSpPr>
        <p:spPr>
          <a:xfrm xmlns:a="http://schemas.openxmlformats.org/drawingml/2006/main">
            <a:off x="640080" y="1600200"/>
            <a:ext cx="11155680" cy="1143000"/>
          </a:xfrm>
          <a:prstGeom xmlns:a="http://schemas.openxmlformats.org/drawingml/2006/main" prst="roundRect">
            <a:avLst>
              <a:gd name="adj" fmla="val 6400"/>
            </a:avLst>
          </a:prstGeom>
          <a:solidFill xmlns:a="http://schemas.openxmlformats.org/drawingml/2006/main">
            <a:srgbClr val="EEF3FF"/>
          </a:solidFill>
          <a:ln xmlns:a="http://schemas.openxmlformats.org/drawingml/2006/main" w="9525">
            <a:solidFill>
              <a:srgbClr val="E1E7F2"/>
            </a:solidFill>
            <a:prstDash val="solid"/>
          </a:ln>
        </p:spPr>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31804e88d0644645"/>
          <a:stretch xmlns:a="http://schemas.openxmlformats.org/drawingml/2006/main">
            <a:fillRect l="0" t="0" r="0" b="0"/>
          </a:stretch>
        </p:blipFill>
        <p:spPr>
          <a:xfrm xmlns:a="http://schemas.openxmlformats.org/drawingml/2006/main">
            <a:off x="2788920" y="1783080"/>
            <a:ext cx="6858000" cy="1126108"/>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F225703D-29BC-4288-B154-77E23DBF572E}"/>
              </a:ext>
            </a:extLst>
          </p:cNvPr>
          <p:cNvSpPr>
            <a:spLocks xmlns:a="http://schemas.openxmlformats.org/drawingml/2006/main" noGrp="1"/>
          </p:cNvSpPr>
          <p:nvPr/>
        </p:nvSpPr>
        <p:spPr>
          <a:xfrm xmlns:a="http://schemas.openxmlformats.org/drawingml/2006/main">
            <a:off x="640080" y="297180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73" name="Image 1"/>
          <p:cNvPicPr>
            <a:picLocks xmlns:a="http://schemas.openxmlformats.org/drawingml/2006/main" noChangeAspect="1"/>
          </p:cNvPicPr>
          <p:nvPr/>
        </p:nvPicPr>
        <p:blipFill>
          <a:blip xmlns:r="http://schemas.openxmlformats.org/officeDocument/2006/relationships" xmlns:a="http://schemas.openxmlformats.org/drawingml/2006/main" r:embed="R6976ba7d9d224c36"/>
          <a:stretch xmlns:a="http://schemas.openxmlformats.org/drawingml/2006/main">
            <a:fillRect l="0" t="0" r="0" b="0"/>
          </a:stretch>
        </p:blipFill>
        <p:spPr>
          <a:xfrm xmlns:a="http://schemas.openxmlformats.org/drawingml/2006/main">
            <a:off x="804672" y="3063240"/>
            <a:ext cx="626931" cy="237744"/>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104842EF-89F3-4A70-B0B8-C2A0C6D68762}"/>
              </a:ext>
            </a:extLst>
          </p:cNvPr>
          <p:cNvSpPr>
            <a:spLocks xmlns:a="http://schemas.openxmlformats.org/drawingml/2006/main" noGrp="1"/>
          </p:cNvSpPr>
          <p:nvPr/>
        </p:nvSpPr>
        <p:spPr>
          <a:xfrm xmlns:a="http://schemas.openxmlformats.org/drawingml/2006/main">
            <a:off x="804672" y="333756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Tổng sản phẩm trên địa bàn</a:t>
            </a:r>
            <a:endParaRPr sz="1000"/>
          </a:p>
        </p:txBody>
      </p:sp>
      <p:sp>
        <p:nvSpPr>
          <p:cNvPr id="9" name="Text 5">
            <a:extLst xmlns:a="http://schemas.openxmlformats.org/drawingml/2006/main">
              <a:ext uri="{FF2B5EF4-FFF2-40B4-BE49-F238E27FC236}">
                <a16:creationId xmlns:a16="http://schemas.microsoft.com/office/drawing/2014/main" id="{3AD0C742-ADC7-4253-8146-32BA404AAAD2}"/>
              </a:ext>
            </a:extLst>
          </p:cNvPr>
          <p:cNvSpPr>
            <a:spLocks xmlns:a="http://schemas.openxmlformats.org/drawingml/2006/main" noGrp="1"/>
          </p:cNvSpPr>
          <p:nvPr/>
        </p:nvSpPr>
        <p:spPr>
          <a:xfrm xmlns:a="http://schemas.openxmlformats.org/drawingml/2006/main">
            <a:off x="804672" y="364845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Tỷ đồng</a:t>
            </a:r>
            <a:endParaRPr sz="900"/>
          </a:p>
        </p:txBody>
      </p:sp>
      <p:sp>
        <p:nvSpPr>
          <p:cNvPr id="10" name="Shape 6">
            <a:extLst xmlns:a="http://schemas.openxmlformats.org/drawingml/2006/main">
              <a:ext uri="{FF2B5EF4-FFF2-40B4-BE49-F238E27FC236}">
                <a16:creationId xmlns:a16="http://schemas.microsoft.com/office/drawing/2014/main" id="{03B91730-8DBC-4818-9CE2-9B76DF87B7F5}"/>
              </a:ext>
            </a:extLst>
          </p:cNvPr>
          <p:cNvSpPr>
            <a:spLocks xmlns:a="http://schemas.openxmlformats.org/drawingml/2006/main" noGrp="1"/>
          </p:cNvSpPr>
          <p:nvPr/>
        </p:nvSpPr>
        <p:spPr>
          <a:xfrm xmlns:a="http://schemas.openxmlformats.org/drawingml/2006/main">
            <a:off x="3474720" y="297180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77" name="Image 2"/>
          <p:cNvPicPr>
            <a:picLocks xmlns:a="http://schemas.openxmlformats.org/drawingml/2006/main" noChangeAspect="1"/>
          </p:cNvPicPr>
          <p:nvPr/>
        </p:nvPicPr>
        <p:blipFill>
          <a:blip xmlns:r="http://schemas.openxmlformats.org/officeDocument/2006/relationships" xmlns:a="http://schemas.openxmlformats.org/drawingml/2006/main" r:embed="R1517742a86fb4173"/>
          <a:stretch xmlns:a="http://schemas.openxmlformats.org/drawingml/2006/main">
            <a:fillRect l="0" t="0" r="0" b="0"/>
          </a:stretch>
        </p:blipFill>
        <p:spPr>
          <a:xfrm xmlns:a="http://schemas.openxmlformats.org/drawingml/2006/main">
            <a:off x="3639312" y="3063240"/>
            <a:ext cx="360420" cy="237744"/>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DA09D911-A79F-4D8C-9E5A-8B64640E78D3}"/>
              </a:ext>
            </a:extLst>
          </p:cNvPr>
          <p:cNvSpPr>
            <a:spLocks xmlns:a="http://schemas.openxmlformats.org/drawingml/2006/main" noGrp="1"/>
          </p:cNvSpPr>
          <p:nvPr/>
        </p:nvSpPr>
        <p:spPr>
          <a:xfrm xmlns:a="http://schemas.openxmlformats.org/drawingml/2006/main">
            <a:off x="3639312" y="333756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Giá trị tăng thêm của ngành i</a:t>
            </a:r>
            <a:endParaRPr sz="1000"/>
          </a:p>
        </p:txBody>
      </p:sp>
      <p:sp>
        <p:nvSpPr>
          <p:cNvPr id="13" name="Text 8">
            <a:extLst xmlns:a="http://schemas.openxmlformats.org/drawingml/2006/main">
              <a:ext uri="{FF2B5EF4-FFF2-40B4-BE49-F238E27FC236}">
                <a16:creationId xmlns:a16="http://schemas.microsoft.com/office/drawing/2014/main" id="{AF47BD7F-1F49-4A9A-9999-DE1F3B1D9AF9}"/>
              </a:ext>
            </a:extLst>
          </p:cNvPr>
          <p:cNvSpPr>
            <a:spLocks xmlns:a="http://schemas.openxmlformats.org/drawingml/2006/main" noGrp="1"/>
          </p:cNvSpPr>
          <p:nvPr/>
        </p:nvSpPr>
        <p:spPr>
          <a:xfrm xmlns:a="http://schemas.openxmlformats.org/drawingml/2006/main">
            <a:off x="3639312" y="364845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Tỷ đồng</a:t>
            </a:r>
            <a:endParaRPr sz="900"/>
          </a:p>
        </p:txBody>
      </p:sp>
      <p:sp>
        <p:nvSpPr>
          <p:cNvPr id="14" name="Shape 9">
            <a:extLst xmlns:a="http://schemas.openxmlformats.org/drawingml/2006/main">
              <a:ext uri="{FF2B5EF4-FFF2-40B4-BE49-F238E27FC236}">
                <a16:creationId xmlns:a16="http://schemas.microsoft.com/office/drawing/2014/main" id="{40ECD271-03C1-485D-806A-B882BAA3703E}"/>
              </a:ext>
            </a:extLst>
          </p:cNvPr>
          <p:cNvSpPr>
            <a:spLocks xmlns:a="http://schemas.openxmlformats.org/drawingml/2006/main" noGrp="1"/>
          </p:cNvSpPr>
          <p:nvPr/>
        </p:nvSpPr>
        <p:spPr>
          <a:xfrm xmlns:a="http://schemas.openxmlformats.org/drawingml/2006/main">
            <a:off x="6309360" y="297180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81" name="Image 3"/>
          <p:cNvPicPr>
            <a:picLocks xmlns:a="http://schemas.openxmlformats.org/drawingml/2006/main" noChangeAspect="1"/>
          </p:cNvPicPr>
          <p:nvPr/>
        </p:nvPicPr>
        <p:blipFill>
          <a:blip xmlns:r="http://schemas.openxmlformats.org/officeDocument/2006/relationships" xmlns:a="http://schemas.openxmlformats.org/drawingml/2006/main" r:embed="R27fc6af75d27410b"/>
          <a:stretch xmlns:a="http://schemas.openxmlformats.org/drawingml/2006/main">
            <a:fillRect l="0" t="0" r="0" b="0"/>
          </a:stretch>
        </p:blipFill>
        <p:spPr>
          <a:xfrm xmlns:a="http://schemas.openxmlformats.org/drawingml/2006/main">
            <a:off x="6473952" y="3063240"/>
            <a:ext cx="400599" cy="237744"/>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9ECE1166-CAB8-4FAE-88A5-9C9722FA626C}"/>
              </a:ext>
            </a:extLst>
          </p:cNvPr>
          <p:cNvSpPr>
            <a:spLocks xmlns:a="http://schemas.openxmlformats.org/drawingml/2006/main" noGrp="1"/>
          </p:cNvSpPr>
          <p:nvPr/>
        </p:nvSpPr>
        <p:spPr>
          <a:xfrm xmlns:a="http://schemas.openxmlformats.org/drawingml/2006/main">
            <a:off x="6473952" y="333756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Giá trị sản xuất của ngành i</a:t>
            </a:r>
            <a:endParaRPr sz="1000"/>
          </a:p>
        </p:txBody>
      </p:sp>
      <p:sp>
        <p:nvSpPr>
          <p:cNvPr id="17" name="Text 11">
            <a:extLst xmlns:a="http://schemas.openxmlformats.org/drawingml/2006/main">
              <a:ext uri="{FF2B5EF4-FFF2-40B4-BE49-F238E27FC236}">
                <a16:creationId xmlns:a16="http://schemas.microsoft.com/office/drawing/2014/main" id="{358B8CFC-30B2-4FDD-BE6E-05DD6B60D191}"/>
              </a:ext>
            </a:extLst>
          </p:cNvPr>
          <p:cNvSpPr>
            <a:spLocks xmlns:a="http://schemas.openxmlformats.org/drawingml/2006/main" noGrp="1"/>
          </p:cNvSpPr>
          <p:nvPr/>
        </p:nvSpPr>
        <p:spPr>
          <a:xfrm xmlns:a="http://schemas.openxmlformats.org/drawingml/2006/main">
            <a:off x="6473952" y="364845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Tỷ đồng</a:t>
            </a:r>
            <a:endParaRPr sz="900"/>
          </a:p>
        </p:txBody>
      </p:sp>
      <p:sp>
        <p:nvSpPr>
          <p:cNvPr id="18" name="Shape 12">
            <a:extLst xmlns:a="http://schemas.openxmlformats.org/drawingml/2006/main">
              <a:ext uri="{FF2B5EF4-FFF2-40B4-BE49-F238E27FC236}">
                <a16:creationId xmlns:a16="http://schemas.microsoft.com/office/drawing/2014/main" id="{F587A461-ADF9-4F33-B8A3-C1A569D01C15}"/>
              </a:ext>
            </a:extLst>
          </p:cNvPr>
          <p:cNvSpPr>
            <a:spLocks xmlns:a="http://schemas.openxmlformats.org/drawingml/2006/main" noGrp="1"/>
          </p:cNvSpPr>
          <p:nvPr/>
        </p:nvSpPr>
        <p:spPr>
          <a:xfrm xmlns:a="http://schemas.openxmlformats.org/drawingml/2006/main">
            <a:off x="9144000" y="297180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85" name="Image 4"/>
          <p:cNvPicPr>
            <a:picLocks xmlns:a="http://schemas.openxmlformats.org/drawingml/2006/main" noChangeAspect="1"/>
          </p:cNvPicPr>
          <p:nvPr/>
        </p:nvPicPr>
        <p:blipFill>
          <a:blip xmlns:r="http://schemas.openxmlformats.org/officeDocument/2006/relationships" xmlns:a="http://schemas.openxmlformats.org/drawingml/2006/main" r:embed="R8f2e4a00ecb74f59"/>
          <a:stretch xmlns:a="http://schemas.openxmlformats.org/drawingml/2006/main">
            <a:fillRect l="0" t="0" r="0" b="0"/>
          </a:stretch>
        </p:blipFill>
        <p:spPr>
          <a:xfrm xmlns:a="http://schemas.openxmlformats.org/drawingml/2006/main">
            <a:off x="9308592" y="3063240"/>
            <a:ext cx="283866" cy="237744"/>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8E0BB8A8-8D35-4FA5-B55F-1EB4CA027F37}"/>
              </a:ext>
            </a:extLst>
          </p:cNvPr>
          <p:cNvSpPr>
            <a:spLocks xmlns:a="http://schemas.openxmlformats.org/drawingml/2006/main" noGrp="1"/>
          </p:cNvSpPr>
          <p:nvPr/>
        </p:nvSpPr>
        <p:spPr>
          <a:xfrm xmlns:a="http://schemas.openxmlformats.org/drawingml/2006/main">
            <a:off x="9308592" y="333756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Chi phí trung gian của ngành i</a:t>
            </a:r>
            <a:endParaRPr sz="1000"/>
          </a:p>
        </p:txBody>
      </p:sp>
      <p:sp>
        <p:nvSpPr>
          <p:cNvPr id="21" name="Text 14">
            <a:extLst xmlns:a="http://schemas.openxmlformats.org/drawingml/2006/main">
              <a:ext uri="{FF2B5EF4-FFF2-40B4-BE49-F238E27FC236}">
                <a16:creationId xmlns:a16="http://schemas.microsoft.com/office/drawing/2014/main" id="{E728B0A9-666E-40A2-B13E-2BF366F37E13}"/>
              </a:ext>
            </a:extLst>
          </p:cNvPr>
          <p:cNvSpPr>
            <a:spLocks xmlns:a="http://schemas.openxmlformats.org/drawingml/2006/main" noGrp="1"/>
          </p:cNvSpPr>
          <p:nvPr/>
        </p:nvSpPr>
        <p:spPr>
          <a:xfrm xmlns:a="http://schemas.openxmlformats.org/drawingml/2006/main">
            <a:off x="9308592" y="364845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Tỷ đồng</a:t>
            </a:r>
            <a:endParaRPr sz="900"/>
          </a:p>
        </p:txBody>
      </p:sp>
      <p:sp>
        <p:nvSpPr>
          <p:cNvPr id="22" name="Shape 15">
            <a:extLst xmlns:a="http://schemas.openxmlformats.org/drawingml/2006/main">
              <a:ext uri="{FF2B5EF4-FFF2-40B4-BE49-F238E27FC236}">
                <a16:creationId xmlns:a16="http://schemas.microsoft.com/office/drawing/2014/main" id="{46229E6B-A3C0-4F38-84D2-4EB1E6E0941A}"/>
              </a:ext>
            </a:extLst>
          </p:cNvPr>
          <p:cNvSpPr>
            <a:spLocks xmlns:a="http://schemas.openxmlformats.org/drawingml/2006/main" noGrp="1"/>
          </p:cNvSpPr>
          <p:nvPr/>
        </p:nvSpPr>
        <p:spPr>
          <a:xfrm xmlns:a="http://schemas.openxmlformats.org/drawingml/2006/main">
            <a:off x="640080" y="402336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89" name="Image 5"/>
          <p:cNvPicPr>
            <a:picLocks xmlns:a="http://schemas.openxmlformats.org/drawingml/2006/main" noChangeAspect="1"/>
          </p:cNvPicPr>
          <p:nvPr/>
        </p:nvPicPr>
        <p:blipFill>
          <a:blip xmlns:r="http://schemas.openxmlformats.org/officeDocument/2006/relationships" xmlns:a="http://schemas.openxmlformats.org/drawingml/2006/main" r:embed="R9b7eb876852241a7"/>
          <a:stretch xmlns:a="http://schemas.openxmlformats.org/drawingml/2006/main">
            <a:fillRect l="0" t="0" r="0" b="0"/>
          </a:stretch>
        </p:blipFill>
        <p:spPr>
          <a:xfrm xmlns:a="http://schemas.openxmlformats.org/drawingml/2006/main">
            <a:off x="804672" y="4114800"/>
            <a:ext cx="191622" cy="237744"/>
          </a:xfrm>
          <a:prstGeom xmlns:a="http://schemas.openxmlformats.org/drawingml/2006/main" prst="rect">
            <a:avLst/>
          </a:prstGeom>
        </p:spPr>
      </p:pic>
      <p:sp>
        <p:nvSpPr>
          <p:cNvPr id="24" name="Text 16">
            <a:extLst xmlns:a="http://schemas.openxmlformats.org/drawingml/2006/main">
              <a:ext uri="{FF2B5EF4-FFF2-40B4-BE49-F238E27FC236}">
                <a16:creationId xmlns:a16="http://schemas.microsoft.com/office/drawing/2014/main" id="{30C0B505-94DA-4A04-941A-65371081CD61}"/>
              </a:ext>
            </a:extLst>
          </p:cNvPr>
          <p:cNvSpPr>
            <a:spLocks xmlns:a="http://schemas.openxmlformats.org/drawingml/2006/main" noGrp="1"/>
          </p:cNvSpPr>
          <p:nvPr/>
        </p:nvSpPr>
        <p:spPr>
          <a:xfrm xmlns:a="http://schemas.openxmlformats.org/drawingml/2006/main">
            <a:off x="804672" y="438912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Hệ số chi phí trung gian ngành i</a:t>
            </a:r>
            <a:endParaRPr sz="1000"/>
          </a:p>
        </p:txBody>
      </p:sp>
      <p:sp>
        <p:nvSpPr>
          <p:cNvPr id="25" name="Text 17">
            <a:extLst xmlns:a="http://schemas.openxmlformats.org/drawingml/2006/main">
              <a:ext uri="{FF2B5EF4-FFF2-40B4-BE49-F238E27FC236}">
                <a16:creationId xmlns:a16="http://schemas.microsoft.com/office/drawing/2014/main" id="{8E4DBE0F-94F4-4743-84B4-E03C79496AC0}"/>
              </a:ext>
            </a:extLst>
          </p:cNvPr>
          <p:cNvSpPr>
            <a:spLocks xmlns:a="http://schemas.openxmlformats.org/drawingml/2006/main" noGrp="1"/>
          </p:cNvSpPr>
          <p:nvPr/>
        </p:nvSpPr>
        <p:spPr>
          <a:xfrm xmlns:a="http://schemas.openxmlformats.org/drawingml/2006/main">
            <a:off x="804672" y="470001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Lần (0–1)</a:t>
            </a:r>
            <a:endParaRPr sz="900"/>
          </a:p>
        </p:txBody>
      </p:sp>
      <p:sp>
        <p:nvSpPr>
          <p:cNvPr id="26" name="Shape 18">
            <a:extLst xmlns:a="http://schemas.openxmlformats.org/drawingml/2006/main">
              <a:ext uri="{FF2B5EF4-FFF2-40B4-BE49-F238E27FC236}">
                <a16:creationId xmlns:a16="http://schemas.microsoft.com/office/drawing/2014/main" id="{D94A321D-4BDC-43A1-98DC-1861995BCF04}"/>
              </a:ext>
            </a:extLst>
          </p:cNvPr>
          <p:cNvSpPr>
            <a:spLocks xmlns:a="http://schemas.openxmlformats.org/drawingml/2006/main" noGrp="1"/>
          </p:cNvSpPr>
          <p:nvPr/>
        </p:nvSpPr>
        <p:spPr>
          <a:xfrm xmlns:a="http://schemas.openxmlformats.org/drawingml/2006/main">
            <a:off x="3474720" y="402336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93" name="Image 6"/>
          <p:cNvPicPr>
            <a:picLocks xmlns:a="http://schemas.openxmlformats.org/drawingml/2006/main" noChangeAspect="1"/>
          </p:cNvPicPr>
          <p:nvPr/>
        </p:nvPicPr>
        <p:blipFill>
          <a:blip xmlns:r="http://schemas.openxmlformats.org/officeDocument/2006/relationships" xmlns:a="http://schemas.openxmlformats.org/drawingml/2006/main" r:embed="R1ec5142eaa9b4276"/>
          <a:stretch xmlns:a="http://schemas.openxmlformats.org/drawingml/2006/main">
            <a:fillRect l="0" t="0" r="0" b="0"/>
          </a:stretch>
        </p:blipFill>
        <p:spPr>
          <a:xfrm xmlns:a="http://schemas.openxmlformats.org/drawingml/2006/main">
            <a:off x="3639312" y="4114800"/>
            <a:ext cx="299320" cy="237744"/>
          </a:xfrm>
          <a:prstGeom xmlns:a="http://schemas.openxmlformats.org/drawingml/2006/main" prst="rect">
            <a:avLst/>
          </a:prstGeom>
        </p:spPr>
      </p:pic>
      <p:sp>
        <p:nvSpPr>
          <p:cNvPr id="28" name="Text 19">
            <a:extLst xmlns:a="http://schemas.openxmlformats.org/drawingml/2006/main">
              <a:ext uri="{FF2B5EF4-FFF2-40B4-BE49-F238E27FC236}">
                <a16:creationId xmlns:a16="http://schemas.microsoft.com/office/drawing/2014/main" id="{6ABB2BD0-86FB-43A9-9795-6B4488D4D795}"/>
              </a:ext>
            </a:extLst>
          </p:cNvPr>
          <p:cNvSpPr>
            <a:spLocks xmlns:a="http://schemas.openxmlformats.org/drawingml/2006/main" noGrp="1"/>
          </p:cNvSpPr>
          <p:nvPr/>
        </p:nvSpPr>
        <p:spPr>
          <a:xfrm xmlns:a="http://schemas.openxmlformats.org/drawingml/2006/main">
            <a:off x="3639312" y="438912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Thuế sản phẩm</a:t>
            </a:r>
            <a:endParaRPr sz="1000"/>
          </a:p>
        </p:txBody>
      </p:sp>
      <p:sp>
        <p:nvSpPr>
          <p:cNvPr id="29" name="Text 20">
            <a:extLst xmlns:a="http://schemas.openxmlformats.org/drawingml/2006/main">
              <a:ext uri="{FF2B5EF4-FFF2-40B4-BE49-F238E27FC236}">
                <a16:creationId xmlns:a16="http://schemas.microsoft.com/office/drawing/2014/main" id="{F7CE4DA8-FB74-404B-B939-C7AFA3C3BD9B}"/>
              </a:ext>
            </a:extLst>
          </p:cNvPr>
          <p:cNvSpPr>
            <a:spLocks xmlns:a="http://schemas.openxmlformats.org/drawingml/2006/main" noGrp="1"/>
          </p:cNvSpPr>
          <p:nvPr/>
        </p:nvSpPr>
        <p:spPr>
          <a:xfrm xmlns:a="http://schemas.openxmlformats.org/drawingml/2006/main">
            <a:off x="3639312" y="470001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Tỷ đồng</a:t>
            </a:r>
            <a:endParaRPr sz="900"/>
          </a:p>
        </p:txBody>
      </p:sp>
      <p:sp>
        <p:nvSpPr>
          <p:cNvPr id="30" name="Shape 21">
            <a:extLst xmlns:a="http://schemas.openxmlformats.org/drawingml/2006/main">
              <a:ext uri="{FF2B5EF4-FFF2-40B4-BE49-F238E27FC236}">
                <a16:creationId xmlns:a16="http://schemas.microsoft.com/office/drawing/2014/main" id="{B74A8600-8138-4D12-B940-7CA39E546294}"/>
              </a:ext>
            </a:extLst>
          </p:cNvPr>
          <p:cNvSpPr>
            <a:spLocks xmlns:a="http://schemas.openxmlformats.org/drawingml/2006/main" noGrp="1"/>
          </p:cNvSpPr>
          <p:nvPr/>
        </p:nvSpPr>
        <p:spPr>
          <a:xfrm xmlns:a="http://schemas.openxmlformats.org/drawingml/2006/main">
            <a:off x="6309360" y="402336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97" name="Image 7"/>
          <p:cNvPicPr>
            <a:picLocks xmlns:a="http://schemas.openxmlformats.org/drawingml/2006/main" noChangeAspect="1"/>
          </p:cNvPicPr>
          <p:nvPr/>
        </p:nvPicPr>
        <p:blipFill>
          <a:blip xmlns:r="http://schemas.openxmlformats.org/officeDocument/2006/relationships" xmlns:a="http://schemas.openxmlformats.org/drawingml/2006/main" r:embed="Rc6676705046c4163"/>
          <a:stretch xmlns:a="http://schemas.openxmlformats.org/drawingml/2006/main">
            <a:fillRect l="0" t="0" r="0" b="0"/>
          </a:stretch>
        </p:blipFill>
        <p:spPr>
          <a:xfrm xmlns:a="http://schemas.openxmlformats.org/drawingml/2006/main">
            <a:off x="6473952" y="4114800"/>
            <a:ext cx="298369" cy="237744"/>
          </a:xfrm>
          <a:prstGeom xmlns:a="http://schemas.openxmlformats.org/drawingml/2006/main" prst="rect">
            <a:avLst/>
          </a:prstGeom>
        </p:spPr>
      </p:pic>
      <p:sp>
        <p:nvSpPr>
          <p:cNvPr id="32" name="Text 22">
            <a:extLst xmlns:a="http://schemas.openxmlformats.org/drawingml/2006/main">
              <a:ext uri="{FF2B5EF4-FFF2-40B4-BE49-F238E27FC236}">
                <a16:creationId xmlns:a16="http://schemas.microsoft.com/office/drawing/2014/main" id="{F9E652D9-98A0-4144-B100-5A0B22D5DE75}"/>
              </a:ext>
            </a:extLst>
          </p:cNvPr>
          <p:cNvSpPr>
            <a:spLocks xmlns:a="http://schemas.openxmlformats.org/drawingml/2006/main" noGrp="1"/>
          </p:cNvSpPr>
          <p:nvPr/>
        </p:nvSpPr>
        <p:spPr>
          <a:xfrm xmlns:a="http://schemas.openxmlformats.org/drawingml/2006/main">
            <a:off x="6473952" y="438912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Trợ cấp sản phẩm</a:t>
            </a:r>
            <a:endParaRPr sz="1000"/>
          </a:p>
        </p:txBody>
      </p:sp>
      <p:sp>
        <p:nvSpPr>
          <p:cNvPr id="33" name="Text 23">
            <a:extLst xmlns:a="http://schemas.openxmlformats.org/drawingml/2006/main">
              <a:ext uri="{FF2B5EF4-FFF2-40B4-BE49-F238E27FC236}">
                <a16:creationId xmlns:a16="http://schemas.microsoft.com/office/drawing/2014/main" id="{E3156828-0F56-4A7E-86CA-CF4617A262EB}"/>
              </a:ext>
            </a:extLst>
          </p:cNvPr>
          <p:cNvSpPr>
            <a:spLocks xmlns:a="http://schemas.openxmlformats.org/drawingml/2006/main" noGrp="1"/>
          </p:cNvSpPr>
          <p:nvPr/>
        </p:nvSpPr>
        <p:spPr>
          <a:xfrm xmlns:a="http://schemas.openxmlformats.org/drawingml/2006/main">
            <a:off x="6473952" y="470001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Tỷ đồng</a:t>
            </a:r>
            <a:endParaRPr sz="900"/>
          </a:p>
        </p:txBody>
      </p:sp>
      <p:sp>
        <p:nvSpPr>
          <p:cNvPr id="34" name="Shape 24">
            <a:extLst xmlns:a="http://schemas.openxmlformats.org/drawingml/2006/main">
              <a:ext uri="{FF2B5EF4-FFF2-40B4-BE49-F238E27FC236}">
                <a16:creationId xmlns:a16="http://schemas.microsoft.com/office/drawing/2014/main" id="{B4760BD4-6640-45BC-8425-707CFE7AFB6A}"/>
              </a:ext>
            </a:extLst>
          </p:cNvPr>
          <p:cNvSpPr>
            <a:spLocks xmlns:a="http://schemas.openxmlformats.org/drawingml/2006/main" noGrp="1"/>
          </p:cNvSpPr>
          <p:nvPr/>
        </p:nvSpPr>
        <p:spPr>
          <a:xfrm xmlns:a="http://schemas.openxmlformats.org/drawingml/2006/main">
            <a:off x="9144000" y="402336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101" name="Image 8"/>
          <p:cNvPicPr>
            <a:picLocks xmlns:a="http://schemas.openxmlformats.org/drawingml/2006/main" noChangeAspect="1"/>
          </p:cNvPicPr>
          <p:nvPr/>
        </p:nvPicPr>
        <p:blipFill>
          <a:blip xmlns:r="http://schemas.openxmlformats.org/officeDocument/2006/relationships" xmlns:a="http://schemas.openxmlformats.org/drawingml/2006/main" r:embed="R43e5c01b45a94a9d"/>
          <a:stretch xmlns:a="http://schemas.openxmlformats.org/drawingml/2006/main">
            <a:fillRect l="0" t="0" r="0" b="0"/>
          </a:stretch>
        </p:blipFill>
        <p:spPr>
          <a:xfrm xmlns:a="http://schemas.openxmlformats.org/drawingml/2006/main">
            <a:off x="9308592" y="4114800"/>
            <a:ext cx="155247" cy="237744"/>
          </a:xfrm>
          <a:prstGeom xmlns:a="http://schemas.openxmlformats.org/drawingml/2006/main" prst="rect">
            <a:avLst/>
          </a:prstGeom>
        </p:spPr>
      </p:pic>
      <p:sp>
        <p:nvSpPr>
          <p:cNvPr id="36" name="Text 25">
            <a:extLst xmlns:a="http://schemas.openxmlformats.org/drawingml/2006/main">
              <a:ext uri="{FF2B5EF4-FFF2-40B4-BE49-F238E27FC236}">
                <a16:creationId xmlns:a16="http://schemas.microsoft.com/office/drawing/2014/main" id="{CF62D22F-316D-4DD9-B682-EC5C948AFDA5}"/>
              </a:ext>
            </a:extLst>
          </p:cNvPr>
          <p:cNvSpPr>
            <a:spLocks xmlns:a="http://schemas.openxmlformats.org/drawingml/2006/main" noGrp="1"/>
          </p:cNvSpPr>
          <p:nvPr/>
        </p:nvSpPr>
        <p:spPr>
          <a:xfrm xmlns:a="http://schemas.openxmlformats.org/drawingml/2006/main">
            <a:off x="9308592" y="438912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Số ngành kinh tế được biên soạn</a:t>
            </a:r>
            <a:endParaRPr sz="1000"/>
          </a:p>
        </p:txBody>
      </p:sp>
      <p:sp>
        <p:nvSpPr>
          <p:cNvPr id="37" name="Text 26">
            <a:extLst xmlns:a="http://schemas.openxmlformats.org/drawingml/2006/main">
              <a:ext uri="{FF2B5EF4-FFF2-40B4-BE49-F238E27FC236}">
                <a16:creationId xmlns:a16="http://schemas.microsoft.com/office/drawing/2014/main" id="{E1857BA2-7995-42F7-83A9-A3D289584EE5}"/>
              </a:ext>
            </a:extLst>
          </p:cNvPr>
          <p:cNvSpPr>
            <a:spLocks xmlns:a="http://schemas.openxmlformats.org/drawingml/2006/main" noGrp="1"/>
          </p:cNvSpPr>
          <p:nvPr/>
        </p:nvSpPr>
        <p:spPr>
          <a:xfrm xmlns:a="http://schemas.openxmlformats.org/drawingml/2006/main">
            <a:off x="9308592" y="470001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Ngành</a:t>
            </a:r>
            <a:endParaRPr sz="900"/>
          </a:p>
        </p:txBody>
      </p:sp>
      <p:sp>
        <p:nvSpPr>
          <p:cNvPr id="38" name="Shape 27">
            <a:extLst xmlns:a="http://schemas.openxmlformats.org/drawingml/2006/main">
              <a:ext uri="{FF2B5EF4-FFF2-40B4-BE49-F238E27FC236}">
                <a16:creationId xmlns:a16="http://schemas.microsoft.com/office/drawing/2014/main" id="{70766EFF-7B24-445C-BD30-B19AAC52181F}"/>
              </a:ext>
            </a:extLst>
          </p:cNvPr>
          <p:cNvSpPr>
            <a:spLocks xmlns:a="http://schemas.openxmlformats.org/drawingml/2006/main" noGrp="1"/>
          </p:cNvSpPr>
          <p:nvPr/>
        </p:nvSpPr>
        <p:spPr>
          <a:xfrm xmlns:a="http://schemas.openxmlformats.org/drawingml/2006/main">
            <a:off x="640080" y="507492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105" name="Image 9"/>
          <p:cNvPicPr>
            <a:picLocks xmlns:a="http://schemas.openxmlformats.org/drawingml/2006/main" noChangeAspect="1"/>
          </p:cNvPicPr>
          <p:nvPr/>
        </p:nvPicPr>
        <p:blipFill>
          <a:blip xmlns:r="http://schemas.openxmlformats.org/officeDocument/2006/relationships" xmlns:a="http://schemas.openxmlformats.org/drawingml/2006/main" r:embed="R5d93664343e24342"/>
          <a:stretch xmlns:a="http://schemas.openxmlformats.org/drawingml/2006/main">
            <a:fillRect l="0" t="0" r="0" b="0"/>
          </a:stretch>
        </p:blipFill>
        <p:spPr>
          <a:xfrm xmlns:a="http://schemas.openxmlformats.org/drawingml/2006/main">
            <a:off x="804672" y="5166360"/>
            <a:ext cx="124578" cy="237744"/>
          </a:xfrm>
          <a:prstGeom xmlns:a="http://schemas.openxmlformats.org/drawingml/2006/main" prst="rect">
            <a:avLst/>
          </a:prstGeom>
        </p:spPr>
      </p:pic>
      <p:sp>
        <p:nvSpPr>
          <p:cNvPr id="40" name="Text 28">
            <a:extLst xmlns:a="http://schemas.openxmlformats.org/drawingml/2006/main">
              <a:ext uri="{FF2B5EF4-FFF2-40B4-BE49-F238E27FC236}">
                <a16:creationId xmlns:a16="http://schemas.microsoft.com/office/drawing/2014/main" id="{BC565CAE-38B9-44D9-99D7-CBE85988F4F1}"/>
              </a:ext>
            </a:extLst>
          </p:cNvPr>
          <p:cNvSpPr>
            <a:spLocks xmlns:a="http://schemas.openxmlformats.org/drawingml/2006/main" noGrp="1"/>
          </p:cNvSpPr>
          <p:nvPr/>
        </p:nvSpPr>
        <p:spPr>
          <a:xfrm xmlns:a="http://schemas.openxmlformats.org/drawingml/2006/main">
            <a:off x="804672" y="544068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Kỳ báo cáo (quý/năm)</a:t>
            </a:r>
            <a:endParaRPr sz="1000"/>
          </a:p>
        </p:txBody>
      </p:sp>
      <p:sp>
        <p:nvSpPr>
          <p:cNvPr id="41" name="Text 29">
            <a:extLst xmlns:a="http://schemas.openxmlformats.org/drawingml/2006/main">
              <a:ext uri="{FF2B5EF4-FFF2-40B4-BE49-F238E27FC236}">
                <a16:creationId xmlns:a16="http://schemas.microsoft.com/office/drawing/2014/main" id="{D0B29FBC-025F-4ACE-ADC8-54E2DAEEFF71}"/>
              </a:ext>
            </a:extLst>
          </p:cNvPr>
          <p:cNvSpPr>
            <a:spLocks xmlns:a="http://schemas.openxmlformats.org/drawingml/2006/main" noGrp="1"/>
          </p:cNvSpPr>
          <p:nvPr/>
        </p:nvSpPr>
        <p:spPr>
          <a:xfrm xmlns:a="http://schemas.openxmlformats.org/drawingml/2006/main">
            <a:off x="804672" y="575157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a:t>
            </a:r>
            <a:endParaRPr sz="900"/>
          </a:p>
        </p:txBody>
      </p:sp>
      <p:sp>
        <p:nvSpPr>
          <p:cNvPr id="42" name="Shape 30">
            <a:extLst xmlns:a="http://schemas.openxmlformats.org/drawingml/2006/main">
              <a:ext uri="{FF2B5EF4-FFF2-40B4-BE49-F238E27FC236}">
                <a16:creationId xmlns:a16="http://schemas.microsoft.com/office/drawing/2014/main" id="{790A3AC0-9106-484F-97FC-32195561BD88}"/>
              </a:ext>
            </a:extLst>
          </p:cNvPr>
          <p:cNvSpPr>
            <a:spLocks xmlns:a="http://schemas.openxmlformats.org/drawingml/2006/main" noGrp="1"/>
          </p:cNvSpPr>
          <p:nvPr/>
        </p:nvSpPr>
        <p:spPr>
          <a:xfrm xmlns:a="http://schemas.openxmlformats.org/drawingml/2006/main">
            <a:off x="3474720" y="507492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109" name="Image 10"/>
          <p:cNvPicPr>
            <a:picLocks xmlns:a="http://schemas.openxmlformats.org/drawingml/2006/main" noChangeAspect="1"/>
          </p:cNvPicPr>
          <p:nvPr/>
        </p:nvPicPr>
        <p:blipFill>
          <a:blip xmlns:r="http://schemas.openxmlformats.org/officeDocument/2006/relationships" xmlns:a="http://schemas.openxmlformats.org/drawingml/2006/main" r:embed="R9291bb3a952c48fe"/>
          <a:stretch xmlns:a="http://schemas.openxmlformats.org/drawingml/2006/main">
            <a:fillRect l="0" t="0" r="0" b="0"/>
          </a:stretch>
        </p:blipFill>
        <p:spPr>
          <a:xfrm xmlns:a="http://schemas.openxmlformats.org/drawingml/2006/main">
            <a:off x="3639312" y="5166360"/>
            <a:ext cx="649992" cy="237744"/>
          </a:xfrm>
          <a:prstGeom xmlns:a="http://schemas.openxmlformats.org/drawingml/2006/main" prst="rect">
            <a:avLst/>
          </a:prstGeom>
        </p:spPr>
      </p:pic>
      <p:sp>
        <p:nvSpPr>
          <p:cNvPr id="44" name="Text 31">
            <a:extLst xmlns:a="http://schemas.openxmlformats.org/drawingml/2006/main">
              <a:ext uri="{FF2B5EF4-FFF2-40B4-BE49-F238E27FC236}">
                <a16:creationId xmlns:a16="http://schemas.microsoft.com/office/drawing/2014/main" id="{D6EE732E-89E1-4511-9D41-CF5953AC68F3}"/>
              </a:ext>
            </a:extLst>
          </p:cNvPr>
          <p:cNvSpPr>
            <a:spLocks xmlns:a="http://schemas.openxmlformats.org/drawingml/2006/main" noGrp="1"/>
          </p:cNvSpPr>
          <p:nvPr/>
        </p:nvSpPr>
        <p:spPr>
          <a:xfrm xmlns:a="http://schemas.openxmlformats.org/drawingml/2006/main">
            <a:off x="3639312" y="544068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Chỉ số trên: giá hiện hành / giá so sánh</a:t>
            </a:r>
            <a:endParaRPr sz="1000"/>
          </a:p>
        </p:txBody>
      </p:sp>
      <p:sp>
        <p:nvSpPr>
          <p:cNvPr id="45" name="Text 32">
            <a:extLst xmlns:a="http://schemas.openxmlformats.org/drawingml/2006/main">
              <a:ext uri="{FF2B5EF4-FFF2-40B4-BE49-F238E27FC236}">
                <a16:creationId xmlns:a16="http://schemas.microsoft.com/office/drawing/2014/main" id="{D645755D-96A1-4BB9-AD50-83B92A560584}"/>
              </a:ext>
            </a:extLst>
          </p:cNvPr>
          <p:cNvSpPr>
            <a:spLocks xmlns:a="http://schemas.openxmlformats.org/drawingml/2006/main" noGrp="1"/>
          </p:cNvSpPr>
          <p:nvPr/>
        </p:nvSpPr>
        <p:spPr>
          <a:xfrm xmlns:a="http://schemas.openxmlformats.org/drawingml/2006/main">
            <a:off x="3639312" y="575157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a:t>
            </a:r>
            <a:endParaRPr sz="900"/>
          </a:p>
        </p:txBody>
      </p:sp>
      <p:sp>
        <p:nvSpPr>
          <p:cNvPr id="46" name="Shape 33">
            <a:extLst xmlns:a="http://schemas.openxmlformats.org/drawingml/2006/main">
              <a:ext uri="{FF2B5EF4-FFF2-40B4-BE49-F238E27FC236}">
                <a16:creationId xmlns:a16="http://schemas.microsoft.com/office/drawing/2014/main" id="{FCBC432E-78F1-44ED-88DB-3BE5B024AF4B}"/>
              </a:ext>
            </a:extLst>
          </p:cNvPr>
          <p:cNvSpPr>
            <a:spLocks xmlns:a="http://schemas.openxmlformats.org/drawingml/2006/main" noGrp="1"/>
          </p:cNvSpPr>
          <p:nvPr/>
        </p:nvSpPr>
        <p:spPr>
          <a:xfrm xmlns:a="http://schemas.openxmlformats.org/drawingml/2006/main">
            <a:off x="6309360" y="507492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113" name="Image 11"/>
          <p:cNvPicPr>
            <a:picLocks xmlns:a="http://schemas.openxmlformats.org/drawingml/2006/main" noChangeAspect="1"/>
          </p:cNvPicPr>
          <p:nvPr/>
        </p:nvPicPr>
        <p:blipFill>
          <a:blip xmlns:r="http://schemas.openxmlformats.org/officeDocument/2006/relationships" xmlns:a="http://schemas.openxmlformats.org/drawingml/2006/main" r:embed="R75e2cd38553c4a3a"/>
          <a:stretch xmlns:a="http://schemas.openxmlformats.org/drawingml/2006/main">
            <a:fillRect l="0" t="0" r="0" b="0"/>
          </a:stretch>
        </p:blipFill>
        <p:spPr>
          <a:xfrm xmlns:a="http://schemas.openxmlformats.org/drawingml/2006/main">
            <a:off x="6473952" y="5166360"/>
            <a:ext cx="167134" cy="237744"/>
          </a:xfrm>
          <a:prstGeom xmlns:a="http://schemas.openxmlformats.org/drawingml/2006/main" prst="rect">
            <a:avLst/>
          </a:prstGeom>
        </p:spPr>
      </p:pic>
      <p:sp>
        <p:nvSpPr>
          <p:cNvPr id="48" name="Text 34">
            <a:extLst xmlns:a="http://schemas.openxmlformats.org/drawingml/2006/main">
              <a:ext uri="{FF2B5EF4-FFF2-40B4-BE49-F238E27FC236}">
                <a16:creationId xmlns:a16="http://schemas.microsoft.com/office/drawing/2014/main" id="{DAD48174-E55D-4395-9FC0-B32937924A31}"/>
              </a:ext>
            </a:extLst>
          </p:cNvPr>
          <p:cNvSpPr>
            <a:spLocks xmlns:a="http://schemas.openxmlformats.org/drawingml/2006/main" noGrp="1"/>
          </p:cNvSpPr>
          <p:nvPr/>
        </p:nvSpPr>
        <p:spPr>
          <a:xfrm xmlns:a="http://schemas.openxmlformats.org/drawingml/2006/main">
            <a:off x="6473952" y="544068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Chỉ số giá của kỳ t so với năm gốc</a:t>
            </a:r>
            <a:endParaRPr sz="1000"/>
          </a:p>
        </p:txBody>
      </p:sp>
      <p:sp>
        <p:nvSpPr>
          <p:cNvPr id="49" name="Text 35">
            <a:extLst xmlns:a="http://schemas.openxmlformats.org/drawingml/2006/main">
              <a:ext uri="{FF2B5EF4-FFF2-40B4-BE49-F238E27FC236}">
                <a16:creationId xmlns:a16="http://schemas.microsoft.com/office/drawing/2014/main" id="{4585FC23-AB09-4D62-B5AE-FF813613A006}"/>
              </a:ext>
            </a:extLst>
          </p:cNvPr>
          <p:cNvSpPr>
            <a:spLocks xmlns:a="http://schemas.openxmlformats.org/drawingml/2006/main" noGrp="1"/>
          </p:cNvSpPr>
          <p:nvPr/>
        </p:nvSpPr>
        <p:spPr>
          <a:xfrm xmlns:a="http://schemas.openxmlformats.org/drawingml/2006/main">
            <a:off x="6473952" y="575157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a:t>
            </a:r>
            <a:endParaRPr sz="900"/>
          </a:p>
        </p:txBody>
      </p:sp>
      <p:sp>
        <p:nvSpPr>
          <p:cNvPr id="50" name="Shape 36">
            <a:extLst xmlns:a="http://schemas.openxmlformats.org/drawingml/2006/main">
              <a:ext uri="{FF2B5EF4-FFF2-40B4-BE49-F238E27FC236}">
                <a16:creationId xmlns:a16="http://schemas.microsoft.com/office/drawing/2014/main" id="{710DC188-8345-4BD4-8F71-D26A38BEDAB6}"/>
              </a:ext>
            </a:extLst>
          </p:cNvPr>
          <p:cNvSpPr>
            <a:spLocks xmlns:a="http://schemas.openxmlformats.org/drawingml/2006/main" noGrp="1"/>
          </p:cNvSpPr>
          <p:nvPr/>
        </p:nvSpPr>
        <p:spPr>
          <a:xfrm xmlns:a="http://schemas.openxmlformats.org/drawingml/2006/main">
            <a:off x="9144000" y="5074920"/>
            <a:ext cx="2697480" cy="9144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F2"/>
            </a:solidFill>
            <a:prstDash val="solid"/>
          </a:ln>
        </p:spPr>
      </p:sp>
      <p:pic>
        <p:nvPicPr>
          <p:cNvPr id="117" name="Image 12"/>
          <p:cNvPicPr>
            <a:picLocks xmlns:a="http://schemas.openxmlformats.org/drawingml/2006/main" noChangeAspect="1"/>
          </p:cNvPicPr>
          <p:nvPr/>
        </p:nvPicPr>
        <p:blipFill>
          <a:blip xmlns:r="http://schemas.openxmlformats.org/officeDocument/2006/relationships" xmlns:a="http://schemas.openxmlformats.org/drawingml/2006/main" r:embed="R4f6f69fcc2574096"/>
          <a:stretch xmlns:a="http://schemas.openxmlformats.org/drawingml/2006/main">
            <a:fillRect l="0" t="0" r="0" b="0"/>
          </a:stretch>
        </p:blipFill>
        <p:spPr>
          <a:xfrm xmlns:a="http://schemas.openxmlformats.org/drawingml/2006/main">
            <a:off x="9308592" y="5166360"/>
            <a:ext cx="247254" cy="237744"/>
          </a:xfrm>
          <a:prstGeom xmlns:a="http://schemas.openxmlformats.org/drawingml/2006/main" prst="rect">
            <a:avLst/>
          </a:prstGeom>
        </p:spPr>
      </p:pic>
      <p:sp>
        <p:nvSpPr>
          <p:cNvPr id="52" name="Text 37">
            <a:extLst xmlns:a="http://schemas.openxmlformats.org/drawingml/2006/main">
              <a:ext uri="{FF2B5EF4-FFF2-40B4-BE49-F238E27FC236}">
                <a16:creationId xmlns:a16="http://schemas.microsoft.com/office/drawing/2014/main" id="{C11414CC-913C-46C5-9B37-B6C74547E010}"/>
              </a:ext>
            </a:extLst>
          </p:cNvPr>
          <p:cNvSpPr>
            <a:spLocks xmlns:a="http://schemas.openxmlformats.org/drawingml/2006/main" noGrp="1"/>
          </p:cNvSpPr>
          <p:nvPr/>
        </p:nvSpPr>
        <p:spPr>
          <a:xfrm xmlns:a="http://schemas.openxmlformats.org/drawingml/2006/main">
            <a:off x="9308592" y="544068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02536"/>
                </a:solidFill>
                <a:latin typeface="Calibri"/>
                <a:ea typeface="Calibri"/>
                <a:cs typeface="Calibri"/>
              </a:rPr>
              <a:t>Tỷ trọng ngành i trong GRDP</a:t>
            </a:r>
            <a:endParaRPr sz="1000"/>
          </a:p>
        </p:txBody>
      </p:sp>
      <p:sp>
        <p:nvSpPr>
          <p:cNvPr id="53" name="Text 38">
            <a:extLst xmlns:a="http://schemas.openxmlformats.org/drawingml/2006/main">
              <a:ext uri="{FF2B5EF4-FFF2-40B4-BE49-F238E27FC236}">
                <a16:creationId xmlns:a16="http://schemas.microsoft.com/office/drawing/2014/main" id="{E337B25D-47BC-4856-9CA9-177F67FB5B6A}"/>
              </a:ext>
            </a:extLst>
          </p:cNvPr>
          <p:cNvSpPr>
            <a:spLocks xmlns:a="http://schemas.openxmlformats.org/drawingml/2006/main" noGrp="1"/>
          </p:cNvSpPr>
          <p:nvPr/>
        </p:nvSpPr>
        <p:spPr>
          <a:xfrm xmlns:a="http://schemas.openxmlformats.org/drawingml/2006/main">
            <a:off x="9308592" y="5751576"/>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C9A227"/>
                </a:solidFill>
                <a:latin typeface="Calibri"/>
                <a:ea typeface="Calibri"/>
                <a:cs typeface="Calibri"/>
              </a:rPr>
              <a:t>%</a:t>
            </a:r>
            <a:endParaRPr sz="900"/>
          </a:p>
        </p:txBody>
      </p:sp>
      <p:sp>
        <p:nvSpPr>
          <p:cNvPr id="54" name="Text 39">
            <a:extLst xmlns:a="http://schemas.openxmlformats.org/drawingml/2006/main">
              <a:ext uri="{FF2B5EF4-FFF2-40B4-BE49-F238E27FC236}">
                <a16:creationId xmlns:a16="http://schemas.microsoft.com/office/drawing/2014/main" id="{29A332CB-9735-4038-8421-ABCAF09A43C3}"/>
              </a:ext>
            </a:extLst>
          </p:cNvPr>
          <p:cNvSpPr>
            <a:spLocks xmlns:a="http://schemas.openxmlformats.org/drawingml/2006/main" noGrp="1"/>
          </p:cNvSpPr>
          <p:nvPr/>
        </p:nvSpPr>
        <p:spPr>
          <a:xfrm xmlns:a="http://schemas.openxmlformats.org/drawingml/2006/main">
            <a:off x="640080" y="635508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5A6377"/>
                </a:solidFill>
                <a:latin typeface="Calibri"/>
                <a:ea typeface="Calibri"/>
                <a:cs typeface="Calibri"/>
              </a:rPr>
              <a:t>Ký hiệu dùng thống nhất cho toàn bộ các công thức trong tài liệu này.</a:t>
            </a:r>
            <a:endParaRPr sz="900"/>
          </a:p>
        </p:txBody>
      </p:sp>
    </p:spTree>
    <p:extLst>
      <p:ext uri="{BB962C8B-B14F-4D97-AF65-F5344CB8AC3E}">
        <p14:creationId xmlns:p14="http://schemas.microsoft.com/office/powerpoint/2010/main" val="17051118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CD0A2C-9F22-46B6-B8B9-5753450056E5}"/>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Căn cứ pháp lý và chuẩn nghiệp vụ áp dụng</a:t>
            </a:r>
            <a:endParaRPr sz="3100"/>
          </a:p>
        </p:txBody>
      </p:sp>
      <p:sp>
        <p:nvSpPr>
          <p:cNvPr id="3" name="Text 1">
            <a:extLst xmlns:a="http://schemas.openxmlformats.org/drawingml/2006/main">
              <a:ext uri="{FF2B5EF4-FFF2-40B4-BE49-F238E27FC236}">
                <a16:creationId xmlns:a16="http://schemas.microsoft.com/office/drawing/2014/main" id="{643DEAB0-13DC-4744-B73B-23750B16EB16}"/>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Toàn bộ yêu cầu dữ liệu trong tài liệu này bám theo văn bản pháp quy hiện hành</a:t>
            </a:r>
            <a:endParaRPr sz="1400"/>
          </a:p>
        </p:txBody>
      </p:sp>
      <p:sp>
        <p:nvSpPr>
          <p:cNvPr id="4" name="Shape 2">
            <a:extLst xmlns:a="http://schemas.openxmlformats.org/drawingml/2006/main">
              <a:ext uri="{FF2B5EF4-FFF2-40B4-BE49-F238E27FC236}">
                <a16:creationId xmlns:a16="http://schemas.microsoft.com/office/drawing/2014/main" id="{7749E5A3-4465-4128-8D22-F3AF6256DB2D}"/>
              </a:ext>
            </a:extLst>
          </p:cNvPr>
          <p:cNvSpPr>
            <a:spLocks xmlns:a="http://schemas.openxmlformats.org/drawingml/2006/main" noGrp="1"/>
          </p:cNvSpPr>
          <p:nvPr/>
        </p:nvSpPr>
        <p:spPr>
          <a:xfrm xmlns:a="http://schemas.openxmlformats.org/drawingml/2006/main">
            <a:off x="640080" y="1645920"/>
            <a:ext cx="5394960" cy="1417320"/>
          </a:xfrm>
          <a:prstGeom xmlns:a="http://schemas.openxmlformats.org/drawingml/2006/main" prst="roundRect">
            <a:avLst>
              <a:gd name="adj" fmla="val 5161"/>
            </a:avLst>
          </a:prstGeom>
          <a:solidFill xmlns:a="http://schemas.openxmlformats.org/drawingml/2006/main">
            <a:srgbClr val="EEF3FF"/>
          </a:solidFill>
          <a:ln xmlns:a="http://schemas.openxmlformats.org/drawingml/2006/main" w="9525">
            <a:solidFill>
              <a:srgbClr val="E1E7F2"/>
            </a:solidFill>
            <a:prstDash val="solid"/>
          </a:ln>
        </p:spPr>
      </p:sp>
      <p:sp>
        <p:nvSpPr>
          <p:cNvPr id="5" name="Text 3">
            <a:extLst xmlns:a="http://schemas.openxmlformats.org/drawingml/2006/main">
              <a:ext uri="{FF2B5EF4-FFF2-40B4-BE49-F238E27FC236}">
                <a16:creationId xmlns:a16="http://schemas.microsoft.com/office/drawing/2014/main" id="{437F9697-33E9-4574-933B-48437ED5878B}"/>
              </a:ext>
            </a:extLst>
          </p:cNvPr>
          <p:cNvSpPr>
            <a:spLocks xmlns:a="http://schemas.openxmlformats.org/drawingml/2006/main" noGrp="1"/>
          </p:cNvSpPr>
          <p:nvPr/>
        </p:nvSpPr>
        <p:spPr>
          <a:xfrm xmlns:a="http://schemas.openxmlformats.org/drawingml/2006/main">
            <a:off x="896112" y="1755648"/>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Nghị định 94/2022/NĐ-CP</a:t>
            </a:r>
            <a:endParaRPr sz="1300"/>
          </a:p>
        </p:txBody>
      </p:sp>
      <p:sp>
        <p:nvSpPr>
          <p:cNvPr id="6" name="Text 4">
            <a:extLst xmlns:a="http://schemas.openxmlformats.org/drawingml/2006/main">
              <a:ext uri="{FF2B5EF4-FFF2-40B4-BE49-F238E27FC236}">
                <a16:creationId xmlns:a16="http://schemas.microsoft.com/office/drawing/2014/main" id="{1F1B4A0C-FE8C-4201-A2E5-EF494CE421FF}"/>
              </a:ext>
            </a:extLst>
          </p:cNvPr>
          <p:cNvSpPr>
            <a:spLocks xmlns:a="http://schemas.openxmlformats.org/drawingml/2006/main" noGrp="1"/>
          </p:cNvSpPr>
          <p:nvPr/>
        </p:nvSpPr>
        <p:spPr>
          <a:xfrm xmlns:a="http://schemas.openxmlformats.org/drawingml/2006/main">
            <a:off x="896112" y="2103120"/>
            <a:ext cx="4892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Quy định nội dung chỉ tiêu thống kê quốc gia và quy trình biên soạn GDP, GRDP. Hiệu lực 01/01/2023, thay Nghị định 97/2016/NĐ-CP.</a:t>
            </a:r>
            <a:endParaRPr sz="1050"/>
          </a:p>
        </p:txBody>
      </p:sp>
      <p:sp>
        <p:nvSpPr>
          <p:cNvPr id="7" name="Text 5">
            <a:extLst xmlns:a="http://schemas.openxmlformats.org/drawingml/2006/main">
              <a:ext uri="{FF2B5EF4-FFF2-40B4-BE49-F238E27FC236}">
                <a16:creationId xmlns:a16="http://schemas.microsoft.com/office/drawing/2014/main" id="{5A1ED0B9-92EB-477E-801D-E9730A73A2BC}"/>
              </a:ext>
            </a:extLst>
          </p:cNvPr>
          <p:cNvSpPr>
            <a:spLocks xmlns:a="http://schemas.openxmlformats.org/drawingml/2006/main" noGrp="1"/>
          </p:cNvSpPr>
          <p:nvPr/>
        </p:nvSpPr>
        <p:spPr>
          <a:xfrm xmlns:a="http://schemas.openxmlformats.org/drawingml/2006/main">
            <a:off x="896112" y="2670048"/>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Điều 3 (6 bước), Điều 8 (thông tin đầu vào), Điều 9 (chỉ tiêu phải tính), Điều 10 (biên soạn), Điều 12 (lịch công bố)</a:t>
            </a:r>
            <a:endParaRPr sz="950"/>
          </a:p>
        </p:txBody>
      </p:sp>
      <p:sp>
        <p:nvSpPr>
          <p:cNvPr id="8" name="Shape 6">
            <a:extLst xmlns:a="http://schemas.openxmlformats.org/drawingml/2006/main">
              <a:ext uri="{FF2B5EF4-FFF2-40B4-BE49-F238E27FC236}">
                <a16:creationId xmlns:a16="http://schemas.microsoft.com/office/drawing/2014/main" id="{F26D6C79-CA7D-4FD1-92A2-8F8D94B2EE66}"/>
              </a:ext>
            </a:extLst>
          </p:cNvPr>
          <p:cNvSpPr>
            <a:spLocks xmlns:a="http://schemas.openxmlformats.org/drawingml/2006/main" noGrp="1"/>
          </p:cNvSpPr>
          <p:nvPr/>
        </p:nvSpPr>
        <p:spPr>
          <a:xfrm xmlns:a="http://schemas.openxmlformats.org/drawingml/2006/main">
            <a:off x="6309360" y="1645920"/>
            <a:ext cx="5394960" cy="1417320"/>
          </a:xfrm>
          <a:prstGeom xmlns:a="http://schemas.openxmlformats.org/drawingml/2006/main" prst="roundRect">
            <a:avLst>
              <a:gd name="adj" fmla="val 5161"/>
            </a:avLst>
          </a:prstGeom>
          <a:solidFill xmlns:a="http://schemas.openxmlformats.org/drawingml/2006/main">
            <a:srgbClr val="EEF3FF"/>
          </a:solidFill>
          <a:ln xmlns:a="http://schemas.openxmlformats.org/drawingml/2006/main" w="9525">
            <a:solidFill>
              <a:srgbClr val="E1E7F2"/>
            </a:solidFill>
            <a:prstDash val="solid"/>
          </a:ln>
        </p:spPr>
      </p:sp>
      <p:sp>
        <p:nvSpPr>
          <p:cNvPr id="9" name="Text 7">
            <a:extLst xmlns:a="http://schemas.openxmlformats.org/drawingml/2006/main">
              <a:ext uri="{FF2B5EF4-FFF2-40B4-BE49-F238E27FC236}">
                <a16:creationId xmlns:a16="http://schemas.microsoft.com/office/drawing/2014/main" id="{E2FAD48D-F891-45A6-98AE-C5EE54AAD97A}"/>
              </a:ext>
            </a:extLst>
          </p:cNvPr>
          <p:cNvSpPr>
            <a:spLocks xmlns:a="http://schemas.openxmlformats.org/drawingml/2006/main" noGrp="1"/>
          </p:cNvSpPr>
          <p:nvPr/>
        </p:nvSpPr>
        <p:spPr>
          <a:xfrm xmlns:a="http://schemas.openxmlformats.org/drawingml/2006/main">
            <a:off x="6565392" y="1755648"/>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Quyết định 715/QĐ-TTg (22/5/2015)</a:t>
            </a:r>
            <a:endParaRPr sz="1300"/>
          </a:p>
        </p:txBody>
      </p:sp>
      <p:sp>
        <p:nvSpPr>
          <p:cNvPr id="10" name="Text 8">
            <a:extLst xmlns:a="http://schemas.openxmlformats.org/drawingml/2006/main">
              <a:ext uri="{FF2B5EF4-FFF2-40B4-BE49-F238E27FC236}">
                <a16:creationId xmlns:a16="http://schemas.microsoft.com/office/drawing/2014/main" id="{1F9ACCF0-5FB4-4D98-AD0B-B975B1669D20}"/>
              </a:ext>
            </a:extLst>
          </p:cNvPr>
          <p:cNvSpPr>
            <a:spLocks xmlns:a="http://schemas.openxmlformats.org/drawingml/2006/main" noGrp="1"/>
          </p:cNvSpPr>
          <p:nvPr/>
        </p:nvSpPr>
        <p:spPr>
          <a:xfrm xmlns:a="http://schemas.openxmlformats.org/drawingml/2006/main">
            <a:off x="6565392" y="2103120"/>
            <a:ext cx="4892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Đề án đổi mới quy trình biên soạn số liệu GRDP — chuyển sang biên soạn tập trung tại cơ quan thống kê trung ương.</a:t>
            </a:r>
            <a:endParaRPr sz="1050"/>
          </a:p>
        </p:txBody>
      </p:sp>
      <p:sp>
        <p:nvSpPr>
          <p:cNvPr id="11" name="Text 9">
            <a:extLst xmlns:a="http://schemas.openxmlformats.org/drawingml/2006/main">
              <a:ext uri="{FF2B5EF4-FFF2-40B4-BE49-F238E27FC236}">
                <a16:creationId xmlns:a16="http://schemas.microsoft.com/office/drawing/2014/main" id="{AD23EA74-8F18-49B8-939D-E7A157EF6D45}"/>
              </a:ext>
            </a:extLst>
          </p:cNvPr>
          <p:cNvSpPr>
            <a:spLocks xmlns:a="http://schemas.openxmlformats.org/drawingml/2006/main" noGrp="1"/>
          </p:cNvSpPr>
          <p:nvPr/>
        </p:nvSpPr>
        <p:spPr>
          <a:xfrm xmlns:a="http://schemas.openxmlformats.org/drawingml/2006/main">
            <a:off x="6565392" y="2670048"/>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Nền tảng của nguyên tắc "tỉnh cung cấp dữ liệu nguồn, trung ương biên soạn"</a:t>
            </a:r>
            <a:endParaRPr sz="950"/>
          </a:p>
        </p:txBody>
      </p:sp>
      <p:sp>
        <p:nvSpPr>
          <p:cNvPr id="12" name="Shape 10">
            <a:extLst xmlns:a="http://schemas.openxmlformats.org/drawingml/2006/main">
              <a:ext uri="{FF2B5EF4-FFF2-40B4-BE49-F238E27FC236}">
                <a16:creationId xmlns:a16="http://schemas.microsoft.com/office/drawing/2014/main" id="{24A7725C-1304-4D9A-AF78-272EDBBDBF3C}"/>
              </a:ext>
            </a:extLst>
          </p:cNvPr>
          <p:cNvSpPr>
            <a:spLocks xmlns:a="http://schemas.openxmlformats.org/drawingml/2006/main" noGrp="1"/>
          </p:cNvSpPr>
          <p:nvPr/>
        </p:nvSpPr>
        <p:spPr>
          <a:xfrm xmlns:a="http://schemas.openxmlformats.org/drawingml/2006/main">
            <a:off x="640080" y="3218688"/>
            <a:ext cx="539496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E1E7F2"/>
            </a:solidFill>
            <a:prstDash val="solid"/>
          </a:ln>
        </p:spPr>
      </p:sp>
      <p:sp>
        <p:nvSpPr>
          <p:cNvPr id="13" name="Text 11">
            <a:extLst xmlns:a="http://schemas.openxmlformats.org/drawingml/2006/main">
              <a:ext uri="{FF2B5EF4-FFF2-40B4-BE49-F238E27FC236}">
                <a16:creationId xmlns:a16="http://schemas.microsoft.com/office/drawing/2014/main" id="{91B429D6-6215-481F-A0DA-D5CDB49ACBAD}"/>
              </a:ext>
            </a:extLst>
          </p:cNvPr>
          <p:cNvSpPr>
            <a:spLocks xmlns:a="http://schemas.openxmlformats.org/drawingml/2006/main" noGrp="1"/>
          </p:cNvSpPr>
          <p:nvPr/>
        </p:nvSpPr>
        <p:spPr>
          <a:xfrm xmlns:a="http://schemas.openxmlformats.org/drawingml/2006/main">
            <a:off x="896112" y="3328416"/>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Nghị định 62/2024/NĐ-CP</a:t>
            </a:r>
            <a:endParaRPr sz="1300"/>
          </a:p>
        </p:txBody>
      </p:sp>
      <p:sp>
        <p:nvSpPr>
          <p:cNvPr id="14" name="Text 12">
            <a:extLst xmlns:a="http://schemas.openxmlformats.org/drawingml/2006/main">
              <a:ext uri="{FF2B5EF4-FFF2-40B4-BE49-F238E27FC236}">
                <a16:creationId xmlns:a16="http://schemas.microsoft.com/office/drawing/2014/main" id="{C1F290FD-3A8D-4E3D-8E08-4F50E8EB4551}"/>
              </a:ext>
            </a:extLst>
          </p:cNvPr>
          <p:cNvSpPr>
            <a:spLocks xmlns:a="http://schemas.openxmlformats.org/drawingml/2006/main" noGrp="1"/>
          </p:cNvSpPr>
          <p:nvPr/>
        </p:nvSpPr>
        <p:spPr>
          <a:xfrm xmlns:a="http://schemas.openxmlformats.org/drawingml/2006/main">
            <a:off x="896112" y="3675888"/>
            <a:ext cx="4892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Sửa đổi, bổ sung quy định liên quan đến lịch công bố số liệu GDP, GRDP.</a:t>
            </a:r>
            <a:endParaRPr sz="1050"/>
          </a:p>
        </p:txBody>
      </p:sp>
      <p:sp>
        <p:nvSpPr>
          <p:cNvPr id="15" name="Text 13">
            <a:extLst xmlns:a="http://schemas.openxmlformats.org/drawingml/2006/main">
              <a:ext uri="{FF2B5EF4-FFF2-40B4-BE49-F238E27FC236}">
                <a16:creationId xmlns:a16="http://schemas.microsoft.com/office/drawing/2014/main" id="{F48196F8-269E-4B64-AFB4-127EA396C0B3}"/>
              </a:ext>
            </a:extLst>
          </p:cNvPr>
          <p:cNvSpPr>
            <a:spLocks xmlns:a="http://schemas.openxmlformats.org/drawingml/2006/main" noGrp="1"/>
          </p:cNvSpPr>
          <p:nvPr/>
        </p:nvSpPr>
        <p:spPr>
          <a:xfrm xmlns:a="http://schemas.openxmlformats.org/drawingml/2006/main">
            <a:off x="896112" y="4242816"/>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Áp dụng cho lịch phổ biến số liệu quý/năm</a:t>
            </a:r>
            <a:endParaRPr sz="950"/>
          </a:p>
        </p:txBody>
      </p:sp>
      <p:sp>
        <p:nvSpPr>
          <p:cNvPr id="16" name="Shape 14">
            <a:extLst xmlns:a="http://schemas.openxmlformats.org/drawingml/2006/main">
              <a:ext uri="{FF2B5EF4-FFF2-40B4-BE49-F238E27FC236}">
                <a16:creationId xmlns:a16="http://schemas.microsoft.com/office/drawing/2014/main" id="{013E6524-3FEC-4F2A-A027-04E4E454FDB5}"/>
              </a:ext>
            </a:extLst>
          </p:cNvPr>
          <p:cNvSpPr>
            <a:spLocks xmlns:a="http://schemas.openxmlformats.org/drawingml/2006/main" noGrp="1"/>
          </p:cNvSpPr>
          <p:nvPr/>
        </p:nvSpPr>
        <p:spPr>
          <a:xfrm xmlns:a="http://schemas.openxmlformats.org/drawingml/2006/main">
            <a:off x="6309360" y="3218688"/>
            <a:ext cx="539496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E1E7F2"/>
            </a:solidFill>
            <a:prstDash val="solid"/>
          </a:ln>
        </p:spPr>
      </p:sp>
      <p:sp>
        <p:nvSpPr>
          <p:cNvPr id="17" name="Text 15">
            <a:extLst xmlns:a="http://schemas.openxmlformats.org/drawingml/2006/main">
              <a:ext uri="{FF2B5EF4-FFF2-40B4-BE49-F238E27FC236}">
                <a16:creationId xmlns:a16="http://schemas.microsoft.com/office/drawing/2014/main" id="{286D89D4-795F-4C48-A59B-4E5688D7BCEF}"/>
              </a:ext>
            </a:extLst>
          </p:cNvPr>
          <p:cNvSpPr>
            <a:spLocks xmlns:a="http://schemas.openxmlformats.org/drawingml/2006/main" noGrp="1"/>
          </p:cNvSpPr>
          <p:nvPr/>
        </p:nvSpPr>
        <p:spPr>
          <a:xfrm xmlns:a="http://schemas.openxmlformats.org/drawingml/2006/main">
            <a:off x="6565392" y="3328416"/>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Năm gốc so sánh 2020</a:t>
            </a:r>
            <a:endParaRPr sz="1300"/>
          </a:p>
        </p:txBody>
      </p:sp>
      <p:sp>
        <p:nvSpPr>
          <p:cNvPr id="18" name="Text 16">
            <a:extLst xmlns:a="http://schemas.openxmlformats.org/drawingml/2006/main">
              <a:ext uri="{FF2B5EF4-FFF2-40B4-BE49-F238E27FC236}">
                <a16:creationId xmlns:a16="http://schemas.microsoft.com/office/drawing/2014/main" id="{4B2B2389-594D-4A13-818B-50D548E0D65E}"/>
              </a:ext>
            </a:extLst>
          </p:cNvPr>
          <p:cNvSpPr>
            <a:spLocks xmlns:a="http://schemas.openxmlformats.org/drawingml/2006/main" noGrp="1"/>
          </p:cNvSpPr>
          <p:nvPr/>
        </p:nvSpPr>
        <p:spPr>
          <a:xfrm xmlns:a="http://schemas.openxmlformats.org/drawingml/2006/main">
            <a:off x="6565392" y="3675888"/>
            <a:ext cx="4892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Ngành Thống kê chuyển năm gốc từ 2010 sang 2020 khi tính chỉ tiêu theo giá so sánh.</a:t>
            </a:r>
            <a:endParaRPr sz="1050"/>
          </a:p>
        </p:txBody>
      </p:sp>
      <p:sp>
        <p:nvSpPr>
          <p:cNvPr id="19" name="Text 17">
            <a:extLst xmlns:a="http://schemas.openxmlformats.org/drawingml/2006/main">
              <a:ext uri="{FF2B5EF4-FFF2-40B4-BE49-F238E27FC236}">
                <a16:creationId xmlns:a16="http://schemas.microsoft.com/office/drawing/2014/main" id="{B68D7750-4835-4C88-8463-492131AAB433}"/>
              </a:ext>
            </a:extLst>
          </p:cNvPr>
          <p:cNvSpPr>
            <a:spLocks xmlns:a="http://schemas.openxmlformats.org/drawingml/2006/main" noGrp="1"/>
          </p:cNvSpPr>
          <p:nvPr/>
        </p:nvSpPr>
        <p:spPr>
          <a:xfrm xmlns:a="http://schemas.openxmlformats.org/drawingml/2006/main">
            <a:off x="6565392" y="4242816"/>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Giải thích trực tiếp điểm gãy chuỗi trong file dữ liệu hiện có</a:t>
            </a:r>
            <a:endParaRPr sz="950"/>
          </a:p>
        </p:txBody>
      </p:sp>
      <p:sp>
        <p:nvSpPr>
          <p:cNvPr id="20" name="Shape 18">
            <a:extLst xmlns:a="http://schemas.openxmlformats.org/drawingml/2006/main">
              <a:ext uri="{FF2B5EF4-FFF2-40B4-BE49-F238E27FC236}">
                <a16:creationId xmlns:a16="http://schemas.microsoft.com/office/drawing/2014/main" id="{FA88866C-16C0-4105-A45A-5149A392D9A9}"/>
              </a:ext>
            </a:extLst>
          </p:cNvPr>
          <p:cNvSpPr>
            <a:spLocks xmlns:a="http://schemas.openxmlformats.org/drawingml/2006/main" noGrp="1"/>
          </p:cNvSpPr>
          <p:nvPr/>
        </p:nvSpPr>
        <p:spPr>
          <a:xfrm xmlns:a="http://schemas.openxmlformats.org/drawingml/2006/main">
            <a:off x="640080" y="4791456"/>
            <a:ext cx="539496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E1E7F2"/>
            </a:solidFill>
            <a:prstDash val="solid"/>
          </a:ln>
        </p:spPr>
      </p:sp>
      <p:sp>
        <p:nvSpPr>
          <p:cNvPr id="21" name="Text 19">
            <a:extLst xmlns:a="http://schemas.openxmlformats.org/drawingml/2006/main">
              <a:ext uri="{FF2B5EF4-FFF2-40B4-BE49-F238E27FC236}">
                <a16:creationId xmlns:a16="http://schemas.microsoft.com/office/drawing/2014/main" id="{BA5B3F96-8D09-47CE-B089-E57DF10F6A21}"/>
              </a:ext>
            </a:extLst>
          </p:cNvPr>
          <p:cNvSpPr>
            <a:spLocks xmlns:a="http://schemas.openxmlformats.org/drawingml/2006/main" noGrp="1"/>
          </p:cNvSpPr>
          <p:nvPr/>
        </p:nvSpPr>
        <p:spPr>
          <a:xfrm xmlns:a="http://schemas.openxmlformats.org/drawingml/2006/main">
            <a:off x="896112" y="4901184"/>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Nghị định 29/2025/NĐ-CP</a:t>
            </a:r>
            <a:endParaRPr sz="1300"/>
          </a:p>
        </p:txBody>
      </p:sp>
      <p:sp>
        <p:nvSpPr>
          <p:cNvPr id="22" name="Text 20">
            <a:extLst xmlns:a="http://schemas.openxmlformats.org/drawingml/2006/main">
              <a:ext uri="{FF2B5EF4-FFF2-40B4-BE49-F238E27FC236}">
                <a16:creationId xmlns:a16="http://schemas.microsoft.com/office/drawing/2014/main" id="{750D402F-FDB7-4B9E-9B84-AB8561BC56F9}"/>
              </a:ext>
            </a:extLst>
          </p:cNvPr>
          <p:cNvSpPr>
            <a:spLocks xmlns:a="http://schemas.openxmlformats.org/drawingml/2006/main" noGrp="1"/>
          </p:cNvSpPr>
          <p:nvPr/>
        </p:nvSpPr>
        <p:spPr>
          <a:xfrm xmlns:a="http://schemas.openxmlformats.org/drawingml/2006/main">
            <a:off x="896112" y="5248656"/>
            <a:ext cx="4892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Từ 01/3/2025, Tổng cục Thống kê trở thành Cục Thống kê thuộc Bộ Tài chính; cấp tỉnh là Chi cục Thống kê.</a:t>
            </a:r>
            <a:endParaRPr sz="1050"/>
          </a:p>
        </p:txBody>
      </p:sp>
      <p:sp>
        <p:nvSpPr>
          <p:cNvPr id="23" name="Text 21">
            <a:extLst xmlns:a="http://schemas.openxmlformats.org/drawingml/2006/main">
              <a:ext uri="{FF2B5EF4-FFF2-40B4-BE49-F238E27FC236}">
                <a16:creationId xmlns:a16="http://schemas.microsoft.com/office/drawing/2014/main" id="{3A023EF0-2369-4C50-98E9-B34FB4691F04}"/>
              </a:ext>
            </a:extLst>
          </p:cNvPr>
          <p:cNvSpPr>
            <a:spLocks xmlns:a="http://schemas.openxmlformats.org/drawingml/2006/main" noGrp="1"/>
          </p:cNvSpPr>
          <p:nvPr/>
        </p:nvSpPr>
        <p:spPr>
          <a:xfrm xmlns:a="http://schemas.openxmlformats.org/drawingml/2006/main">
            <a:off x="896112" y="5815584"/>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Đầu mối chuyên môn của tỉnh hiện nay là Chi cục Thống kê tỉnh</a:t>
            </a:r>
            <a:endParaRPr sz="950"/>
          </a:p>
        </p:txBody>
      </p:sp>
      <p:sp>
        <p:nvSpPr>
          <p:cNvPr id="24" name="Shape 22">
            <a:extLst xmlns:a="http://schemas.openxmlformats.org/drawingml/2006/main">
              <a:ext uri="{FF2B5EF4-FFF2-40B4-BE49-F238E27FC236}">
                <a16:creationId xmlns:a16="http://schemas.microsoft.com/office/drawing/2014/main" id="{F3BAAC14-C3C1-416B-A36E-987F4E494CFE}"/>
              </a:ext>
            </a:extLst>
          </p:cNvPr>
          <p:cNvSpPr>
            <a:spLocks xmlns:a="http://schemas.openxmlformats.org/drawingml/2006/main" noGrp="1"/>
          </p:cNvSpPr>
          <p:nvPr/>
        </p:nvSpPr>
        <p:spPr>
          <a:xfrm xmlns:a="http://schemas.openxmlformats.org/drawingml/2006/main">
            <a:off x="6309360" y="4791456"/>
            <a:ext cx="539496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E1E7F2"/>
            </a:solidFill>
            <a:prstDash val="solid"/>
          </a:ln>
        </p:spPr>
      </p:sp>
      <p:sp>
        <p:nvSpPr>
          <p:cNvPr id="25" name="Text 23">
            <a:extLst xmlns:a="http://schemas.openxmlformats.org/drawingml/2006/main">
              <a:ext uri="{FF2B5EF4-FFF2-40B4-BE49-F238E27FC236}">
                <a16:creationId xmlns:a16="http://schemas.microsoft.com/office/drawing/2014/main" id="{DF690B9B-7328-47B2-86C6-6E3D24F72A15}"/>
              </a:ext>
            </a:extLst>
          </p:cNvPr>
          <p:cNvSpPr>
            <a:spLocks xmlns:a="http://schemas.openxmlformats.org/drawingml/2006/main" noGrp="1"/>
          </p:cNvSpPr>
          <p:nvPr/>
        </p:nvSpPr>
        <p:spPr>
          <a:xfrm xmlns:a="http://schemas.openxmlformats.org/drawingml/2006/main">
            <a:off x="6565392" y="4901184"/>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Nghị quyết 60-NQ/TW &amp; sắp xếp ĐVHC</a:t>
            </a:r>
            <a:endParaRPr sz="1300"/>
          </a:p>
        </p:txBody>
      </p:sp>
      <p:sp>
        <p:nvSpPr>
          <p:cNvPr id="26" name="Text 24">
            <a:extLst xmlns:a="http://schemas.openxmlformats.org/drawingml/2006/main">
              <a:ext uri="{FF2B5EF4-FFF2-40B4-BE49-F238E27FC236}">
                <a16:creationId xmlns:a16="http://schemas.microsoft.com/office/drawing/2014/main" id="{E4241EFB-AEC7-46E3-97D3-2AB6B9FEDE29}"/>
              </a:ext>
            </a:extLst>
          </p:cNvPr>
          <p:cNvSpPr>
            <a:spLocks xmlns:a="http://schemas.openxmlformats.org/drawingml/2006/main" noGrp="1"/>
          </p:cNvSpPr>
          <p:nvPr/>
        </p:nvSpPr>
        <p:spPr>
          <a:xfrm xmlns:a="http://schemas.openxmlformats.org/drawingml/2006/main">
            <a:off x="6565392" y="5248656"/>
            <a:ext cx="4892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Từ 01/7/2025 hợp nhất Quảng Bình – Quảng Trị thành tỉnh Quảng Trị mới.</a:t>
            </a:r>
            <a:endParaRPr sz="1050"/>
          </a:p>
        </p:txBody>
      </p:sp>
      <p:sp>
        <p:nvSpPr>
          <p:cNvPr id="27" name="Text 25">
            <a:extLst xmlns:a="http://schemas.openxmlformats.org/drawingml/2006/main">
              <a:ext uri="{FF2B5EF4-FFF2-40B4-BE49-F238E27FC236}">
                <a16:creationId xmlns:a16="http://schemas.microsoft.com/office/drawing/2014/main" id="{1F8E18EC-A3DC-4450-8FDC-A483E16A297C}"/>
              </a:ext>
            </a:extLst>
          </p:cNvPr>
          <p:cNvSpPr>
            <a:spLocks xmlns:a="http://schemas.openxmlformats.org/drawingml/2006/main" noGrp="1"/>
          </p:cNvSpPr>
          <p:nvPr/>
        </p:nvSpPr>
        <p:spPr>
          <a:xfrm xmlns:a="http://schemas.openxmlformats.org/drawingml/2006/main">
            <a:off x="6565392" y="5815584"/>
            <a:ext cx="4892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Toàn bộ chuỗi số liệu phải gắn nhãn địa giới hành chính</a:t>
            </a:r>
            <a:endParaRPr sz="950"/>
          </a:p>
        </p:txBody>
      </p:sp>
    </p:spTree>
    <p:extLst>
      <p:ext uri="{BB962C8B-B14F-4D97-AF65-F5344CB8AC3E}">
        <p14:creationId xmlns:p14="http://schemas.microsoft.com/office/powerpoint/2010/main" val="3820499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19095FB-FDC8-4251-9DFE-005BCBF02EBA}"/>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E2761"/>
                </a:solidFill>
                <a:latin typeface="Cambria"/>
                <a:ea typeface="Cambria"/>
                <a:cs typeface="Cambria"/>
              </a:rPr>
              <a:t>Ba phương pháp tính GRDP – cấp tỉnh dùng phương pháp nào?</a:t>
            </a:r>
            <a:endParaRPr sz="2600"/>
          </a:p>
        </p:txBody>
      </p:sp>
      <p:sp>
        <p:nvSpPr>
          <p:cNvPr id="3" name="Text 1">
            <a:extLst xmlns:a="http://schemas.openxmlformats.org/drawingml/2006/main">
              <a:ext uri="{FF2B5EF4-FFF2-40B4-BE49-F238E27FC236}">
                <a16:creationId xmlns:a16="http://schemas.microsoft.com/office/drawing/2014/main" id="{4947E5F1-70F3-4CE3-90D7-3B08B644072A}"/>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Nghị định 94/2022/NĐ-CP: GRDP biên soạn theo phương pháp sản xuất; hai phương pháp còn lại chỉ tính ở phạm vi cả nước</a:t>
            </a:r>
            <a:endParaRPr sz="1400"/>
          </a:p>
        </p:txBody>
      </p:sp>
      <p:sp>
        <p:nvSpPr>
          <p:cNvPr id="4" name="Shape 2">
            <a:extLst xmlns:a="http://schemas.openxmlformats.org/drawingml/2006/main">
              <a:ext uri="{FF2B5EF4-FFF2-40B4-BE49-F238E27FC236}">
                <a16:creationId xmlns:a16="http://schemas.microsoft.com/office/drawing/2014/main" id="{812FF900-09D2-43B8-8718-FF681C98749A}"/>
              </a:ext>
            </a:extLst>
          </p:cNvPr>
          <p:cNvSpPr>
            <a:spLocks xmlns:a="http://schemas.openxmlformats.org/drawingml/2006/main" noGrp="1"/>
          </p:cNvSpPr>
          <p:nvPr/>
        </p:nvSpPr>
        <p:spPr>
          <a:xfrm xmlns:a="http://schemas.openxmlformats.org/drawingml/2006/main">
            <a:off x="640080" y="1645920"/>
            <a:ext cx="11155680" cy="1417320"/>
          </a:xfrm>
          <a:prstGeom xmlns:a="http://schemas.openxmlformats.org/drawingml/2006/main" prst="roundRect">
            <a:avLst>
              <a:gd name="adj" fmla="val 5161"/>
            </a:avLst>
          </a:prstGeom>
          <a:solidFill xmlns:a="http://schemas.openxmlformats.org/drawingml/2006/main">
            <a:srgbClr val="EEF3FF"/>
          </a:solidFill>
          <a:ln xmlns:a="http://schemas.openxmlformats.org/drawingml/2006/main" w="9525">
            <a:solidFill>
              <a:srgbClr val="E1E7F2"/>
            </a:solidFill>
            <a:prstDash val="solid"/>
          </a:ln>
        </p:spPr>
      </p:sp>
      <p:sp>
        <p:nvSpPr>
          <p:cNvPr id="5" name="Shape 3">
            <a:extLst xmlns:a="http://schemas.openxmlformats.org/drawingml/2006/main">
              <a:ext uri="{FF2B5EF4-FFF2-40B4-BE49-F238E27FC236}">
                <a16:creationId xmlns:a16="http://schemas.microsoft.com/office/drawing/2014/main" id="{68E84D8E-78ED-4102-984C-97DDC55E2A07}"/>
              </a:ext>
            </a:extLst>
          </p:cNvPr>
          <p:cNvSpPr>
            <a:spLocks xmlns:a="http://schemas.openxmlformats.org/drawingml/2006/main" noGrp="1"/>
          </p:cNvSpPr>
          <p:nvPr/>
        </p:nvSpPr>
        <p:spPr>
          <a:xfrm xmlns:a="http://schemas.openxmlformats.org/drawingml/2006/main">
            <a:off x="914400" y="1828800"/>
            <a:ext cx="384048" cy="384048"/>
          </a:xfrm>
          <a:prstGeom xmlns:a="http://schemas.openxmlformats.org/drawingml/2006/main" prst="ellipse">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B3C9BB2C-7B2E-445B-A45F-0DAB97AA671D}"/>
              </a:ext>
            </a:extLst>
          </p:cNvPr>
          <p:cNvSpPr>
            <a:spLocks xmlns:a="http://schemas.openxmlformats.org/drawingml/2006/main" noGrp="1"/>
          </p:cNvSpPr>
          <p:nvPr/>
        </p:nvSpPr>
        <p:spPr>
          <a:xfrm xmlns:a="http://schemas.openxmlformats.org/drawingml/2006/main">
            <a:off x="914400" y="18288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535A6699-EE28-422F-BE7C-A36DC69B8C5D}"/>
              </a:ext>
            </a:extLst>
          </p:cNvPr>
          <p:cNvSpPr>
            <a:spLocks xmlns:a="http://schemas.openxmlformats.org/drawingml/2006/main" noGrp="1"/>
          </p:cNvSpPr>
          <p:nvPr/>
        </p:nvSpPr>
        <p:spPr>
          <a:xfrm xmlns:a="http://schemas.openxmlformats.org/drawingml/2006/main">
            <a:off x="1463040" y="1773936"/>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libri"/>
                <a:ea typeface="Calibri"/>
                <a:cs typeface="Calibri"/>
              </a:rPr>
              <a:t>Phương pháp SẢN XUẤT</a:t>
            </a:r>
            <a:endParaRPr sz="1600"/>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e8580318d0634927"/>
          <a:stretch xmlns:a="http://schemas.openxmlformats.org/drawingml/2006/main">
            <a:fillRect l="0" t="0" r="0" b="0"/>
          </a:stretch>
        </p:blipFill>
        <p:spPr>
          <a:xfrm xmlns:a="http://schemas.openxmlformats.org/drawingml/2006/main">
            <a:off x="1481328" y="2212848"/>
            <a:ext cx="3108960" cy="63190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7043C982-35FB-4EDE-B33B-1683B9FEFEBE}"/>
              </a:ext>
            </a:extLst>
          </p:cNvPr>
          <p:cNvSpPr>
            <a:spLocks xmlns:a="http://schemas.openxmlformats.org/drawingml/2006/main" noGrp="1"/>
          </p:cNvSpPr>
          <p:nvPr/>
        </p:nvSpPr>
        <p:spPr>
          <a:xfrm xmlns:a="http://schemas.openxmlformats.org/drawingml/2006/main">
            <a:off x="7863840" y="1828800"/>
            <a:ext cx="374904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5A6377"/>
                </a:solidFill>
                <a:latin typeface="Calibri"/>
                <a:ea typeface="Calibri"/>
                <a:cs typeface="Calibri"/>
              </a:rPr>
              <a:t>BẮT BUỘC dùng cho GRDP tỉnh — Điều 10 khoản 2 Nghị định 94/2022/NĐ-CP</a:t>
            </a:r>
            <a:endParaRPr sz="1100"/>
          </a:p>
        </p:txBody>
      </p:sp>
      <p:sp>
        <p:nvSpPr>
          <p:cNvPr id="10" name="Shape 7">
            <a:extLst xmlns:a="http://schemas.openxmlformats.org/drawingml/2006/main">
              <a:ext uri="{FF2B5EF4-FFF2-40B4-BE49-F238E27FC236}">
                <a16:creationId xmlns:a16="http://schemas.microsoft.com/office/drawing/2014/main" id="{99E6910A-0983-4866-984B-119AF35733A1}"/>
              </a:ext>
            </a:extLst>
          </p:cNvPr>
          <p:cNvSpPr>
            <a:spLocks xmlns:a="http://schemas.openxmlformats.org/drawingml/2006/main" noGrp="1"/>
          </p:cNvSpPr>
          <p:nvPr/>
        </p:nvSpPr>
        <p:spPr>
          <a:xfrm xmlns:a="http://schemas.openxmlformats.org/drawingml/2006/main">
            <a:off x="640080" y="3218688"/>
            <a:ext cx="11155680" cy="1417320"/>
          </a:xfrm>
          <a:prstGeom xmlns:a="http://schemas.openxmlformats.org/drawingml/2006/main" prst="roundRect">
            <a:avLst>
              <a:gd name="adj" fmla="val 5161"/>
            </a:avLst>
          </a:prstGeom>
          <a:solidFill xmlns:a="http://schemas.openxmlformats.org/drawingml/2006/main">
            <a:srgbClr val="F2F5FB"/>
          </a:solidFill>
          <a:ln xmlns:a="http://schemas.openxmlformats.org/drawingml/2006/main" w="9525">
            <a:solidFill>
              <a:srgbClr val="E1E7F2"/>
            </a:solidFill>
            <a:prstDash val="solid"/>
          </a:ln>
        </p:spPr>
      </p:sp>
      <p:sp>
        <p:nvSpPr>
          <p:cNvPr id="11" name="Shape 8">
            <a:extLst xmlns:a="http://schemas.openxmlformats.org/drawingml/2006/main">
              <a:ext uri="{FF2B5EF4-FFF2-40B4-BE49-F238E27FC236}">
                <a16:creationId xmlns:a16="http://schemas.microsoft.com/office/drawing/2014/main" id="{516D1BAD-1FE1-49B5-9DD4-74E4CCF7CF34}"/>
              </a:ext>
            </a:extLst>
          </p:cNvPr>
          <p:cNvSpPr>
            <a:spLocks xmlns:a="http://schemas.openxmlformats.org/drawingml/2006/main" noGrp="1"/>
          </p:cNvSpPr>
          <p:nvPr/>
        </p:nvSpPr>
        <p:spPr>
          <a:xfrm xmlns:a="http://schemas.openxmlformats.org/drawingml/2006/main">
            <a:off x="914400" y="3401568"/>
            <a:ext cx="384048" cy="384048"/>
          </a:xfrm>
          <a:prstGeom xmlns:a="http://schemas.openxmlformats.org/drawingml/2006/main" prst="ellipse">
            <a:avLst/>
          </a:prstGeom>
          <a:solidFill xmlns:a="http://schemas.openxmlformats.org/drawingml/2006/main">
            <a:srgbClr val="1E2761"/>
          </a:solidFill>
        </p:spPr>
      </p:sp>
      <p:sp>
        <p:nvSpPr>
          <p:cNvPr id="12" name="Text 9">
            <a:extLst xmlns:a="http://schemas.openxmlformats.org/drawingml/2006/main">
              <a:ext uri="{FF2B5EF4-FFF2-40B4-BE49-F238E27FC236}">
                <a16:creationId xmlns:a16="http://schemas.microsoft.com/office/drawing/2014/main" id="{13695B01-1E9F-4130-B3F1-CC31EDAF4F50}"/>
              </a:ext>
            </a:extLst>
          </p:cNvPr>
          <p:cNvSpPr>
            <a:spLocks xmlns:a="http://schemas.openxmlformats.org/drawingml/2006/main" noGrp="1"/>
          </p:cNvSpPr>
          <p:nvPr/>
        </p:nvSpPr>
        <p:spPr>
          <a:xfrm xmlns:a="http://schemas.openxmlformats.org/drawingml/2006/main">
            <a:off x="914400" y="340156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3" name="Text 10">
            <a:extLst xmlns:a="http://schemas.openxmlformats.org/drawingml/2006/main">
              <a:ext uri="{FF2B5EF4-FFF2-40B4-BE49-F238E27FC236}">
                <a16:creationId xmlns:a16="http://schemas.microsoft.com/office/drawing/2014/main" id="{9AB34189-328B-4F50-99E1-2B33B7775EB4}"/>
              </a:ext>
            </a:extLst>
          </p:cNvPr>
          <p:cNvSpPr>
            <a:spLocks xmlns:a="http://schemas.openxmlformats.org/drawingml/2006/main" noGrp="1"/>
          </p:cNvSpPr>
          <p:nvPr/>
        </p:nvSpPr>
        <p:spPr>
          <a:xfrm xmlns:a="http://schemas.openxmlformats.org/drawingml/2006/main">
            <a:off x="1463040" y="3346704"/>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libri"/>
                <a:ea typeface="Calibri"/>
                <a:cs typeface="Calibri"/>
              </a:rPr>
              <a:t>Phương pháp THU NHẬP</a:t>
            </a:r>
            <a:endParaRPr sz="1600"/>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77521ef8e51a4714"/>
          <a:stretch xmlns:a="http://schemas.openxmlformats.org/drawingml/2006/main">
            <a:fillRect l="0" t="0" r="0" b="0"/>
          </a:stretch>
        </p:blipFill>
        <p:spPr>
          <a:xfrm xmlns:a="http://schemas.openxmlformats.org/drawingml/2006/main">
            <a:off x="1481328" y="3785616"/>
            <a:ext cx="5120640" cy="363682"/>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CF050D32-1302-44CA-9AD6-4BB552B81DA2}"/>
              </a:ext>
            </a:extLst>
          </p:cNvPr>
          <p:cNvSpPr>
            <a:spLocks xmlns:a="http://schemas.openxmlformats.org/drawingml/2006/main" noGrp="1"/>
          </p:cNvSpPr>
          <p:nvPr/>
        </p:nvSpPr>
        <p:spPr>
          <a:xfrm xmlns:a="http://schemas.openxmlformats.org/drawingml/2006/main">
            <a:off x="7863840" y="3401568"/>
            <a:ext cx="374904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5A6377"/>
                </a:solidFill>
                <a:latin typeface="Calibri"/>
                <a:ea typeface="Calibri"/>
                <a:cs typeface="Calibri"/>
              </a:rPr>
              <a:t>Không dùng để công bố GRDP tỉnh — chỉ để đối chiếu chéo và phân tích cơ cấu thu nhập</a:t>
            </a:r>
            <a:endParaRPr sz="1100"/>
          </a:p>
        </p:txBody>
      </p:sp>
      <p:sp>
        <p:nvSpPr>
          <p:cNvPr id="16" name="Shape 12">
            <a:extLst xmlns:a="http://schemas.openxmlformats.org/drawingml/2006/main">
              <a:ext uri="{FF2B5EF4-FFF2-40B4-BE49-F238E27FC236}">
                <a16:creationId xmlns:a16="http://schemas.microsoft.com/office/drawing/2014/main" id="{B140D2A4-92E4-4DAA-9A59-192FF2A735F1}"/>
              </a:ext>
            </a:extLst>
          </p:cNvPr>
          <p:cNvSpPr>
            <a:spLocks xmlns:a="http://schemas.openxmlformats.org/drawingml/2006/main" noGrp="1"/>
          </p:cNvSpPr>
          <p:nvPr/>
        </p:nvSpPr>
        <p:spPr>
          <a:xfrm xmlns:a="http://schemas.openxmlformats.org/drawingml/2006/main">
            <a:off x="640080" y="4791456"/>
            <a:ext cx="11155680" cy="1417320"/>
          </a:xfrm>
          <a:prstGeom xmlns:a="http://schemas.openxmlformats.org/drawingml/2006/main" prst="roundRect">
            <a:avLst>
              <a:gd name="adj" fmla="val 5161"/>
            </a:avLst>
          </a:prstGeom>
          <a:solidFill xmlns:a="http://schemas.openxmlformats.org/drawingml/2006/main">
            <a:srgbClr val="F2F5FB"/>
          </a:solidFill>
          <a:ln xmlns:a="http://schemas.openxmlformats.org/drawingml/2006/main" w="9525">
            <a:solidFill>
              <a:srgbClr val="E1E7F2"/>
            </a:solidFill>
            <a:prstDash val="solid"/>
          </a:ln>
        </p:spPr>
      </p:sp>
      <p:sp>
        <p:nvSpPr>
          <p:cNvPr id="17" name="Shape 13">
            <a:extLst xmlns:a="http://schemas.openxmlformats.org/drawingml/2006/main">
              <a:ext uri="{FF2B5EF4-FFF2-40B4-BE49-F238E27FC236}">
                <a16:creationId xmlns:a16="http://schemas.microsoft.com/office/drawing/2014/main" id="{458DB941-3E82-42B9-B542-7F28A7DF9936}"/>
              </a:ext>
            </a:extLst>
          </p:cNvPr>
          <p:cNvSpPr>
            <a:spLocks xmlns:a="http://schemas.openxmlformats.org/drawingml/2006/main" noGrp="1"/>
          </p:cNvSpPr>
          <p:nvPr/>
        </p:nvSpPr>
        <p:spPr>
          <a:xfrm xmlns:a="http://schemas.openxmlformats.org/drawingml/2006/main">
            <a:off x="914400" y="4974336"/>
            <a:ext cx="384048" cy="384048"/>
          </a:xfrm>
          <a:prstGeom xmlns:a="http://schemas.openxmlformats.org/drawingml/2006/main" prst="ellipse">
            <a:avLst/>
          </a:prstGeom>
          <a:solidFill xmlns:a="http://schemas.openxmlformats.org/drawingml/2006/main">
            <a:srgbClr val="1E2761"/>
          </a:solidFill>
        </p:spPr>
      </p:sp>
      <p:sp>
        <p:nvSpPr>
          <p:cNvPr id="18" name="Text 14">
            <a:extLst xmlns:a="http://schemas.openxmlformats.org/drawingml/2006/main">
              <a:ext uri="{FF2B5EF4-FFF2-40B4-BE49-F238E27FC236}">
                <a16:creationId xmlns:a16="http://schemas.microsoft.com/office/drawing/2014/main" id="{F9311E4F-25E7-4868-9ADE-E408F1DC165F}"/>
              </a:ext>
            </a:extLst>
          </p:cNvPr>
          <p:cNvSpPr>
            <a:spLocks xmlns:a="http://schemas.openxmlformats.org/drawingml/2006/main" noGrp="1"/>
          </p:cNvSpPr>
          <p:nvPr/>
        </p:nvSpPr>
        <p:spPr>
          <a:xfrm xmlns:a="http://schemas.openxmlformats.org/drawingml/2006/main">
            <a:off x="914400" y="4974336"/>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9" name="Text 15">
            <a:extLst xmlns:a="http://schemas.openxmlformats.org/drawingml/2006/main">
              <a:ext uri="{FF2B5EF4-FFF2-40B4-BE49-F238E27FC236}">
                <a16:creationId xmlns:a16="http://schemas.microsoft.com/office/drawing/2014/main" id="{2087A400-D7FC-44D9-99B7-5715B67D4F2F}"/>
              </a:ext>
            </a:extLst>
          </p:cNvPr>
          <p:cNvSpPr>
            <a:spLocks xmlns:a="http://schemas.openxmlformats.org/drawingml/2006/main" noGrp="1"/>
          </p:cNvSpPr>
          <p:nvPr/>
        </p:nvSpPr>
        <p:spPr>
          <a:xfrm xmlns:a="http://schemas.openxmlformats.org/drawingml/2006/main">
            <a:off x="1463040" y="4919472"/>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libri"/>
                <a:ea typeface="Calibri"/>
                <a:cs typeface="Calibri"/>
              </a:rPr>
              <a:t>Phương pháp SỬ DỤNG CUỐI CÙNG</a:t>
            </a:r>
            <a:endParaRPr sz="1600"/>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2538b63c1bd5481d"/>
          <a:stretch xmlns:a="http://schemas.openxmlformats.org/drawingml/2006/main">
            <a:fillRect l="0" t="0" r="0" b="0"/>
          </a:stretch>
        </p:blipFill>
        <p:spPr>
          <a:xfrm xmlns:a="http://schemas.openxmlformats.org/drawingml/2006/main">
            <a:off x="1481328" y="5358384"/>
            <a:ext cx="6035040" cy="386862"/>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26270FF3-8DDF-40F6-9577-F1F759704C16}"/>
              </a:ext>
            </a:extLst>
          </p:cNvPr>
          <p:cNvSpPr>
            <a:spLocks xmlns:a="http://schemas.openxmlformats.org/drawingml/2006/main" noGrp="1"/>
          </p:cNvSpPr>
          <p:nvPr/>
        </p:nvSpPr>
        <p:spPr>
          <a:xfrm xmlns:a="http://schemas.openxmlformats.org/drawingml/2006/main">
            <a:off x="7863840" y="4974336"/>
            <a:ext cx="374904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5A6377"/>
                </a:solidFill>
                <a:latin typeface="Calibri"/>
                <a:ea typeface="Calibri"/>
                <a:cs typeface="Calibri"/>
              </a:rPr>
              <a:t>Tích luỹ tài sản, tiêu dùng cuối cùng, xuất nhập khẩu chỉ tính phạm vi cả nước — Điều 9 khoản 2</a:t>
            </a:r>
            <a:endParaRPr sz="1100"/>
          </a:p>
        </p:txBody>
      </p:sp>
      <p:sp>
        <p:nvSpPr>
          <p:cNvPr id="22" name="Text 17">
            <a:extLst xmlns:a="http://schemas.openxmlformats.org/drawingml/2006/main">
              <a:ext uri="{FF2B5EF4-FFF2-40B4-BE49-F238E27FC236}">
                <a16:creationId xmlns:a16="http://schemas.microsoft.com/office/drawing/2014/main" id="{B2717B04-B448-48C2-B0F8-06F71B3F838C}"/>
              </a:ext>
            </a:extLst>
          </p:cNvPr>
          <p:cNvSpPr>
            <a:spLocks xmlns:a="http://schemas.openxmlformats.org/drawingml/2006/main" noGrp="1"/>
          </p:cNvSpPr>
          <p:nvPr/>
        </p:nvSpPr>
        <p:spPr>
          <a:xfrm xmlns:a="http://schemas.openxmlformats.org/drawingml/2006/main">
            <a:off x="640080" y="635508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5A6377"/>
                </a:solidFill>
                <a:latin typeface="Calibri"/>
                <a:ea typeface="Calibri"/>
                <a:cs typeface="Calibri"/>
              </a:rPr>
              <a:t>Căn cứ: Nghị định 94/2022/NĐ-CP (hiệu lực 01/01/2023, thay Nghị định 97/2016/NĐ-CP), Điều 9 và Điều 10; Hệ thống tài khoản quốc gia (SNA).</a:t>
            </a:r>
            <a:endParaRPr sz="900"/>
          </a:p>
        </p:txBody>
      </p:sp>
    </p:spTree>
    <p:extLst>
      <p:ext uri="{BB962C8B-B14F-4D97-AF65-F5344CB8AC3E}">
        <p14:creationId xmlns:p14="http://schemas.microsoft.com/office/powerpoint/2010/main" val="86705907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93B631-E7C4-43B3-B1BF-D9FB28689CB4}"/>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Phương pháp 1 – Sản xuất: cần trường dữ liệu gì</a:t>
            </a:r>
            <a:endParaRPr sz="3100"/>
          </a:p>
        </p:txBody>
      </p:sp>
      <p:sp>
        <p:nvSpPr>
          <p:cNvPr id="3" name="Text 1">
            <a:extLst xmlns:a="http://schemas.openxmlformats.org/drawingml/2006/main">
              <a:ext uri="{FF2B5EF4-FFF2-40B4-BE49-F238E27FC236}">
                <a16:creationId xmlns:a16="http://schemas.microsoft.com/office/drawing/2014/main" id="{BFD920E6-7456-42EB-9473-C00201754815}"/>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Giá trị tăng thêm từng ngành là gốc của mọi tính toán</a:t>
            </a:r>
            <a:endParaRPr sz="1400"/>
          </a:p>
        </p:txBody>
      </p:sp>
      <p:sp>
        <p:nvSpPr>
          <p:cNvPr id="4" name="Shape 2">
            <a:extLst xmlns:a="http://schemas.openxmlformats.org/drawingml/2006/main">
              <a:ext uri="{FF2B5EF4-FFF2-40B4-BE49-F238E27FC236}">
                <a16:creationId xmlns:a16="http://schemas.microsoft.com/office/drawing/2014/main" id="{2B37372C-7638-4988-BE81-67F6FC8274A1}"/>
              </a:ext>
            </a:extLst>
          </p:cNvPr>
          <p:cNvSpPr>
            <a:spLocks xmlns:a="http://schemas.openxmlformats.org/drawingml/2006/main" noGrp="1"/>
          </p:cNvSpPr>
          <p:nvPr/>
        </p:nvSpPr>
        <p:spPr>
          <a:xfrm xmlns:a="http://schemas.openxmlformats.org/drawingml/2006/main">
            <a:off x="640080" y="1600200"/>
            <a:ext cx="11155680" cy="685800"/>
          </a:xfrm>
          <a:prstGeom xmlns:a="http://schemas.openxmlformats.org/drawingml/2006/main" prst="roundRect">
            <a:avLst>
              <a:gd name="adj" fmla="val 10667"/>
            </a:avLst>
          </a:prstGeom>
          <a:solidFill xmlns:a="http://schemas.openxmlformats.org/drawingml/2006/main">
            <a:srgbClr val="EEF3FF"/>
          </a:solidFill>
          <a:ln xmlns:a="http://schemas.openxmlformats.org/drawingml/2006/main" w="9525">
            <a:solidFill>
              <a:srgbClr val="E1E7F2"/>
            </a:solidFill>
            <a:prstDash val="solid"/>
          </a:ln>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29c9048835434057"/>
          <a:stretch xmlns:a="http://schemas.openxmlformats.org/drawingml/2006/main">
            <a:fillRect l="0" t="0" r="0" b="0"/>
          </a:stretch>
        </p:blipFill>
        <p:spPr>
          <a:xfrm xmlns:a="http://schemas.openxmlformats.org/drawingml/2006/main">
            <a:off x="2606040" y="1764792"/>
            <a:ext cx="7132320" cy="486516"/>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6F80C5A6-657D-4882-9F16-64BAB6BE512A}"/>
              </a:ext>
            </a:extLst>
          </p:cNvPr>
          <p:cNvSpPr>
            <a:spLocks xmlns:a="http://schemas.openxmlformats.org/drawingml/2006/main" noGrp="1"/>
          </p:cNvSpPr>
          <p:nvPr/>
        </p:nvSpPr>
        <p:spPr>
          <a:xfrm xmlns:a="http://schemas.openxmlformats.org/drawingml/2006/main">
            <a:off x="640080" y="635508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5A6377"/>
                </a:solidFill>
                <a:latin typeface="Calibri"/>
                <a:ea typeface="Calibri"/>
                <a:cs typeface="Calibri"/>
              </a:rPr>
              <a:t>Đúng bằng danh mục chỉ tiêu cấp tỉnh tại Điều 9 khoản 3 Nghị định 94/2022/NĐ-CP: giá trị sản xuất, chi phí trung gian, hệ thống chỉ số giá, thuế sản phẩm, trợ cấp sản phẩm.</a:t>
            </a:r>
            <a:endParaRPr sz="900"/>
          </a:p>
        </p:txBody>
      </p:sp>
      <p:sp>
        <p:nvSpPr>
          <p:cNvPr id="7" name="Shape 4">
            <a:extLst xmlns:a="http://schemas.openxmlformats.org/drawingml/2006/main">
              <a:ext uri="{FF2B5EF4-FFF2-40B4-BE49-F238E27FC236}">
                <a16:creationId xmlns:a16="http://schemas.microsoft.com/office/drawing/2014/main" id="{43DAF572-5E32-41E4-B239-D5B308E5DD1F}"/>
              </a:ext>
            </a:extLst>
          </p:cNvPr>
          <p:cNvSpPr>
            <a:spLocks xmlns:a="http://schemas.openxmlformats.org/drawingml/2006/main" noGrp="1"/>
          </p:cNvSpPr>
          <p:nvPr/>
        </p:nvSpPr>
        <p:spPr>
          <a:xfrm xmlns:a="http://schemas.openxmlformats.org/drawingml/2006/main">
            <a:off x="640080" y="2514600"/>
            <a:ext cx="11155680" cy="548640"/>
          </a:xfrm>
          <a:prstGeom xmlns:a="http://schemas.openxmlformats.org/drawingml/2006/main" prst="roundRect">
            <a:avLst>
              <a:gd name="adj" fmla="val 8333"/>
            </a:avLst>
          </a:prstGeom>
          <a:solidFill xmlns:a="http://schemas.openxmlformats.org/drawingml/2006/main">
            <a:srgbClr val="F2F5FB"/>
          </a:solidFill>
          <a:ln xmlns:a="http://schemas.openxmlformats.org/drawingml/2006/main" w="6350">
            <a:solidFill>
              <a:srgbClr val="E1E7F2"/>
            </a:solidFill>
            <a:prstDash val="solid"/>
          </a:ln>
        </p:spPr>
      </p:sp>
      <p:sp>
        <p:nvSpPr>
          <p:cNvPr id="8" name="Text 5">
            <a:extLst xmlns:a="http://schemas.openxmlformats.org/drawingml/2006/main">
              <a:ext uri="{FF2B5EF4-FFF2-40B4-BE49-F238E27FC236}">
                <a16:creationId xmlns:a16="http://schemas.microsoft.com/office/drawing/2014/main" id="{A2D40100-8E44-45E8-8797-7D41676FF1C6}"/>
              </a:ext>
            </a:extLst>
          </p:cNvPr>
          <p:cNvSpPr>
            <a:spLocks xmlns:a="http://schemas.openxmlformats.org/drawingml/2006/main" noGrp="1"/>
          </p:cNvSpPr>
          <p:nvPr/>
        </p:nvSpPr>
        <p:spPr>
          <a:xfrm xmlns:a="http://schemas.openxmlformats.org/drawingml/2006/main">
            <a:off x="868680" y="2514600"/>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GO – Giá trị sản xuất</a:t>
            </a:r>
            <a:endParaRPr sz="1250"/>
          </a:p>
        </p:txBody>
      </p:sp>
      <p:sp>
        <p:nvSpPr>
          <p:cNvPr id="9" name="Text 6">
            <a:extLst xmlns:a="http://schemas.openxmlformats.org/drawingml/2006/main">
              <a:ext uri="{FF2B5EF4-FFF2-40B4-BE49-F238E27FC236}">
                <a16:creationId xmlns:a16="http://schemas.microsoft.com/office/drawing/2014/main" id="{8E91FC57-B0F4-4C1E-AF2C-2AE1EAADDD55}"/>
              </a:ext>
            </a:extLst>
          </p:cNvPr>
          <p:cNvSpPr>
            <a:spLocks xmlns:a="http://schemas.openxmlformats.org/drawingml/2006/main" noGrp="1"/>
          </p:cNvSpPr>
          <p:nvPr/>
        </p:nvSpPr>
        <p:spPr>
          <a:xfrm xmlns:a="http://schemas.openxmlformats.org/drawingml/2006/main">
            <a:off x="3657600" y="2514600"/>
            <a:ext cx="7955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Sản lượng × đơn giá theo từng ngành cấp 2/cấp 3; doanh thu thuần của doanh nghiệp; giá trị sản xuất hộ cá thể; chi ngân sách cho khu vực nhà nước.</a:t>
            </a:r>
            <a:endParaRPr sz="1150"/>
          </a:p>
        </p:txBody>
      </p:sp>
      <p:sp>
        <p:nvSpPr>
          <p:cNvPr id="10" name="Shape 7">
            <a:extLst xmlns:a="http://schemas.openxmlformats.org/drawingml/2006/main">
              <a:ext uri="{FF2B5EF4-FFF2-40B4-BE49-F238E27FC236}">
                <a16:creationId xmlns:a16="http://schemas.microsoft.com/office/drawing/2014/main" id="{EC86F131-1985-4791-A05D-57B9E70783CE}"/>
              </a:ext>
            </a:extLst>
          </p:cNvPr>
          <p:cNvSpPr>
            <a:spLocks xmlns:a="http://schemas.openxmlformats.org/drawingml/2006/main" noGrp="1"/>
          </p:cNvSpPr>
          <p:nvPr/>
        </p:nvSpPr>
        <p:spPr>
          <a:xfrm xmlns:a="http://schemas.openxmlformats.org/drawingml/2006/main">
            <a:off x="640080" y="3136392"/>
            <a:ext cx="11155680"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6350">
            <a:solidFill>
              <a:srgbClr val="E1E7F2"/>
            </a:solidFill>
            <a:prstDash val="solid"/>
          </a:ln>
        </p:spPr>
      </p:sp>
      <p:sp>
        <p:nvSpPr>
          <p:cNvPr id="11" name="Text 8">
            <a:extLst xmlns:a="http://schemas.openxmlformats.org/drawingml/2006/main">
              <a:ext uri="{FF2B5EF4-FFF2-40B4-BE49-F238E27FC236}">
                <a16:creationId xmlns:a16="http://schemas.microsoft.com/office/drawing/2014/main" id="{397D8001-9628-415B-9A34-8BE6A6F7CB77}"/>
              </a:ext>
            </a:extLst>
          </p:cNvPr>
          <p:cNvSpPr>
            <a:spLocks xmlns:a="http://schemas.openxmlformats.org/drawingml/2006/main" noGrp="1"/>
          </p:cNvSpPr>
          <p:nvPr/>
        </p:nvSpPr>
        <p:spPr>
          <a:xfrm xmlns:a="http://schemas.openxmlformats.org/drawingml/2006/main">
            <a:off x="868680" y="3136392"/>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IC – Chi phí trung gian</a:t>
            </a:r>
            <a:endParaRPr sz="1250"/>
          </a:p>
        </p:txBody>
      </p:sp>
      <p:sp>
        <p:nvSpPr>
          <p:cNvPr id="12" name="Text 9">
            <a:extLst xmlns:a="http://schemas.openxmlformats.org/drawingml/2006/main">
              <a:ext uri="{FF2B5EF4-FFF2-40B4-BE49-F238E27FC236}">
                <a16:creationId xmlns:a16="http://schemas.microsoft.com/office/drawing/2014/main" id="{74FDF1B4-1E8D-4210-B867-261F7EBB92FD}"/>
              </a:ext>
            </a:extLst>
          </p:cNvPr>
          <p:cNvSpPr>
            <a:spLocks xmlns:a="http://schemas.openxmlformats.org/drawingml/2006/main" noGrp="1"/>
          </p:cNvSpPr>
          <p:nvPr/>
        </p:nvSpPr>
        <p:spPr>
          <a:xfrm xmlns:a="http://schemas.openxmlformats.org/drawingml/2006/main">
            <a:off x="3657600" y="3136392"/>
            <a:ext cx="7955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Chi phí vật chất và dịch vụ mua ngoài; hoặc GO × hệ số IC từ điều tra chi phí trung gian theo ngành.</a:t>
            </a:r>
            <a:endParaRPr sz="1150"/>
          </a:p>
        </p:txBody>
      </p:sp>
      <p:sp>
        <p:nvSpPr>
          <p:cNvPr id="13" name="Shape 10">
            <a:extLst xmlns:a="http://schemas.openxmlformats.org/drawingml/2006/main">
              <a:ext uri="{FF2B5EF4-FFF2-40B4-BE49-F238E27FC236}">
                <a16:creationId xmlns:a16="http://schemas.microsoft.com/office/drawing/2014/main" id="{75F0FFD5-2E39-4419-A102-82C4DA5106A8}"/>
              </a:ext>
            </a:extLst>
          </p:cNvPr>
          <p:cNvSpPr>
            <a:spLocks xmlns:a="http://schemas.openxmlformats.org/drawingml/2006/main" noGrp="1"/>
          </p:cNvSpPr>
          <p:nvPr/>
        </p:nvSpPr>
        <p:spPr>
          <a:xfrm xmlns:a="http://schemas.openxmlformats.org/drawingml/2006/main">
            <a:off x="640080" y="3758184"/>
            <a:ext cx="11155680" cy="548640"/>
          </a:xfrm>
          <a:prstGeom xmlns:a="http://schemas.openxmlformats.org/drawingml/2006/main" prst="roundRect">
            <a:avLst>
              <a:gd name="adj" fmla="val 8333"/>
            </a:avLst>
          </a:prstGeom>
          <a:solidFill xmlns:a="http://schemas.openxmlformats.org/drawingml/2006/main">
            <a:srgbClr val="F2F5FB"/>
          </a:solidFill>
          <a:ln xmlns:a="http://schemas.openxmlformats.org/drawingml/2006/main" w="6350">
            <a:solidFill>
              <a:srgbClr val="E1E7F2"/>
            </a:solidFill>
            <a:prstDash val="solid"/>
          </a:ln>
        </p:spPr>
      </p:sp>
      <p:sp>
        <p:nvSpPr>
          <p:cNvPr id="14" name="Text 11">
            <a:extLst xmlns:a="http://schemas.openxmlformats.org/drawingml/2006/main">
              <a:ext uri="{FF2B5EF4-FFF2-40B4-BE49-F238E27FC236}">
                <a16:creationId xmlns:a16="http://schemas.microsoft.com/office/drawing/2014/main" id="{CB6EF995-4266-49DA-8A72-24B7D17D3A45}"/>
              </a:ext>
            </a:extLst>
          </p:cNvPr>
          <p:cNvSpPr>
            <a:spLocks xmlns:a="http://schemas.openxmlformats.org/drawingml/2006/main" noGrp="1"/>
          </p:cNvSpPr>
          <p:nvPr/>
        </p:nvSpPr>
        <p:spPr>
          <a:xfrm xmlns:a="http://schemas.openxmlformats.org/drawingml/2006/main">
            <a:off x="868680" y="3758184"/>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Cơ cấu ngành</a:t>
            </a:r>
            <a:endParaRPr sz="1250"/>
          </a:p>
        </p:txBody>
      </p:sp>
      <p:sp>
        <p:nvSpPr>
          <p:cNvPr id="15" name="Text 12">
            <a:extLst xmlns:a="http://schemas.openxmlformats.org/drawingml/2006/main">
              <a:ext uri="{FF2B5EF4-FFF2-40B4-BE49-F238E27FC236}">
                <a16:creationId xmlns:a16="http://schemas.microsoft.com/office/drawing/2014/main" id="{1B82150B-7A6E-4724-A5EF-8BF0662A6585}"/>
              </a:ext>
            </a:extLst>
          </p:cNvPr>
          <p:cNvSpPr>
            <a:spLocks xmlns:a="http://schemas.openxmlformats.org/drawingml/2006/main" noGrp="1"/>
          </p:cNvSpPr>
          <p:nvPr/>
        </p:nvSpPr>
        <p:spPr>
          <a:xfrm xmlns:a="http://schemas.openxmlformats.org/drawingml/2006/main">
            <a:off x="3657600" y="3758184"/>
            <a:ext cx="7955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Bảng phân ngành kinh tế Việt Nam (VSIC) – mã ngành cấp 1/2/3 gắn với từng bản ghi.</a:t>
            </a:r>
            <a:endParaRPr sz="1150"/>
          </a:p>
        </p:txBody>
      </p:sp>
      <p:sp>
        <p:nvSpPr>
          <p:cNvPr id="16" name="Shape 13">
            <a:extLst xmlns:a="http://schemas.openxmlformats.org/drawingml/2006/main">
              <a:ext uri="{FF2B5EF4-FFF2-40B4-BE49-F238E27FC236}">
                <a16:creationId xmlns:a16="http://schemas.microsoft.com/office/drawing/2014/main" id="{55B5329B-5325-465B-A585-57BF364E2603}"/>
              </a:ext>
            </a:extLst>
          </p:cNvPr>
          <p:cNvSpPr>
            <a:spLocks xmlns:a="http://schemas.openxmlformats.org/drawingml/2006/main" noGrp="1"/>
          </p:cNvSpPr>
          <p:nvPr/>
        </p:nvSpPr>
        <p:spPr>
          <a:xfrm xmlns:a="http://schemas.openxmlformats.org/drawingml/2006/main">
            <a:off x="640080" y="4379976"/>
            <a:ext cx="11155680"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6350">
            <a:solidFill>
              <a:srgbClr val="E1E7F2"/>
            </a:solidFill>
            <a:prstDash val="solid"/>
          </a:ln>
        </p:spPr>
      </p:sp>
      <p:sp>
        <p:nvSpPr>
          <p:cNvPr id="17" name="Text 14">
            <a:extLst xmlns:a="http://schemas.openxmlformats.org/drawingml/2006/main">
              <a:ext uri="{FF2B5EF4-FFF2-40B4-BE49-F238E27FC236}">
                <a16:creationId xmlns:a16="http://schemas.microsoft.com/office/drawing/2014/main" id="{614BD191-3470-4D2D-9168-AF66167ED9D0}"/>
              </a:ext>
            </a:extLst>
          </p:cNvPr>
          <p:cNvSpPr>
            <a:spLocks xmlns:a="http://schemas.openxmlformats.org/drawingml/2006/main" noGrp="1"/>
          </p:cNvSpPr>
          <p:nvPr/>
        </p:nvSpPr>
        <p:spPr>
          <a:xfrm xmlns:a="http://schemas.openxmlformats.org/drawingml/2006/main">
            <a:off x="868680" y="4379976"/>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Thuế sản phẩm</a:t>
            </a:r>
            <a:endParaRPr sz="1250"/>
          </a:p>
        </p:txBody>
      </p:sp>
      <p:sp>
        <p:nvSpPr>
          <p:cNvPr id="18" name="Text 15">
            <a:extLst xmlns:a="http://schemas.openxmlformats.org/drawingml/2006/main">
              <a:ext uri="{FF2B5EF4-FFF2-40B4-BE49-F238E27FC236}">
                <a16:creationId xmlns:a16="http://schemas.microsoft.com/office/drawing/2014/main" id="{3A060A8B-07B4-4C47-9C3E-233ED7E19FD7}"/>
              </a:ext>
            </a:extLst>
          </p:cNvPr>
          <p:cNvSpPr>
            <a:spLocks xmlns:a="http://schemas.openxmlformats.org/drawingml/2006/main" noGrp="1"/>
          </p:cNvSpPr>
          <p:nvPr/>
        </p:nvSpPr>
        <p:spPr>
          <a:xfrm xmlns:a="http://schemas.openxmlformats.org/drawingml/2006/main">
            <a:off x="3657600" y="4379976"/>
            <a:ext cx="7955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Thuế GTGT hàng sản xuất trong nước, thuế tiêu thụ đặc biệt, thuế xuất nhập khẩu, thuế bảo vệ môi trường (số liệu ngành Thuế – Hải quan).</a:t>
            </a:r>
            <a:endParaRPr sz="1150"/>
          </a:p>
        </p:txBody>
      </p:sp>
      <p:sp>
        <p:nvSpPr>
          <p:cNvPr id="19" name="Shape 16">
            <a:extLst xmlns:a="http://schemas.openxmlformats.org/drawingml/2006/main">
              <a:ext uri="{FF2B5EF4-FFF2-40B4-BE49-F238E27FC236}">
                <a16:creationId xmlns:a16="http://schemas.microsoft.com/office/drawing/2014/main" id="{079FA8EE-05DC-4DA5-A3D6-B6E22326879C}"/>
              </a:ext>
            </a:extLst>
          </p:cNvPr>
          <p:cNvSpPr>
            <a:spLocks xmlns:a="http://schemas.openxmlformats.org/drawingml/2006/main" noGrp="1"/>
          </p:cNvSpPr>
          <p:nvPr/>
        </p:nvSpPr>
        <p:spPr>
          <a:xfrm xmlns:a="http://schemas.openxmlformats.org/drawingml/2006/main">
            <a:off x="640080" y="5001768"/>
            <a:ext cx="11155680" cy="548640"/>
          </a:xfrm>
          <a:prstGeom xmlns:a="http://schemas.openxmlformats.org/drawingml/2006/main" prst="roundRect">
            <a:avLst>
              <a:gd name="adj" fmla="val 8333"/>
            </a:avLst>
          </a:prstGeom>
          <a:solidFill xmlns:a="http://schemas.openxmlformats.org/drawingml/2006/main">
            <a:srgbClr val="F2F5FB"/>
          </a:solidFill>
          <a:ln xmlns:a="http://schemas.openxmlformats.org/drawingml/2006/main" w="6350">
            <a:solidFill>
              <a:srgbClr val="E1E7F2"/>
            </a:solidFill>
            <a:prstDash val="solid"/>
          </a:ln>
        </p:spPr>
      </p:sp>
      <p:sp>
        <p:nvSpPr>
          <p:cNvPr id="20" name="Text 17">
            <a:extLst xmlns:a="http://schemas.openxmlformats.org/drawingml/2006/main">
              <a:ext uri="{FF2B5EF4-FFF2-40B4-BE49-F238E27FC236}">
                <a16:creationId xmlns:a16="http://schemas.microsoft.com/office/drawing/2014/main" id="{F64038AB-B8FD-47E7-8C33-EC1D29D69706}"/>
              </a:ext>
            </a:extLst>
          </p:cNvPr>
          <p:cNvSpPr>
            <a:spLocks xmlns:a="http://schemas.openxmlformats.org/drawingml/2006/main" noGrp="1"/>
          </p:cNvSpPr>
          <p:nvPr/>
        </p:nvSpPr>
        <p:spPr>
          <a:xfrm xmlns:a="http://schemas.openxmlformats.org/drawingml/2006/main">
            <a:off x="868680" y="5001768"/>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Trợ cấp sản phẩm</a:t>
            </a:r>
            <a:endParaRPr sz="1250"/>
          </a:p>
        </p:txBody>
      </p:sp>
      <p:sp>
        <p:nvSpPr>
          <p:cNvPr id="21" name="Text 18">
            <a:extLst xmlns:a="http://schemas.openxmlformats.org/drawingml/2006/main">
              <a:ext uri="{FF2B5EF4-FFF2-40B4-BE49-F238E27FC236}">
                <a16:creationId xmlns:a16="http://schemas.microsoft.com/office/drawing/2014/main" id="{14BE20DE-9A7A-4611-BDC2-0141CDB536EA}"/>
              </a:ext>
            </a:extLst>
          </p:cNvPr>
          <p:cNvSpPr>
            <a:spLocks xmlns:a="http://schemas.openxmlformats.org/drawingml/2006/main" noGrp="1"/>
          </p:cNvSpPr>
          <p:nvPr/>
        </p:nvSpPr>
        <p:spPr>
          <a:xfrm xmlns:a="http://schemas.openxmlformats.org/drawingml/2006/main">
            <a:off x="3657600" y="5001768"/>
            <a:ext cx="7955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Các khoản trợ giá, trợ cấp theo sản phẩm từ ngân sách.</a:t>
            </a:r>
            <a:endParaRPr sz="1150"/>
          </a:p>
        </p:txBody>
      </p:sp>
      <p:sp>
        <p:nvSpPr>
          <p:cNvPr id="22" name="Shape 19">
            <a:extLst xmlns:a="http://schemas.openxmlformats.org/drawingml/2006/main">
              <a:ext uri="{FF2B5EF4-FFF2-40B4-BE49-F238E27FC236}">
                <a16:creationId xmlns:a16="http://schemas.microsoft.com/office/drawing/2014/main" id="{4196E5BA-6283-48B8-BE8A-B1BEEA95CB32}"/>
              </a:ext>
            </a:extLst>
          </p:cNvPr>
          <p:cNvSpPr>
            <a:spLocks xmlns:a="http://schemas.openxmlformats.org/drawingml/2006/main" noGrp="1"/>
          </p:cNvSpPr>
          <p:nvPr/>
        </p:nvSpPr>
        <p:spPr>
          <a:xfrm xmlns:a="http://schemas.openxmlformats.org/drawingml/2006/main">
            <a:off x="640080" y="5623560"/>
            <a:ext cx="11155680"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6350">
            <a:solidFill>
              <a:srgbClr val="E1E7F2"/>
            </a:solidFill>
            <a:prstDash val="solid"/>
          </a:ln>
        </p:spPr>
      </p:sp>
      <p:sp>
        <p:nvSpPr>
          <p:cNvPr id="23" name="Text 20">
            <a:extLst xmlns:a="http://schemas.openxmlformats.org/drawingml/2006/main">
              <a:ext uri="{FF2B5EF4-FFF2-40B4-BE49-F238E27FC236}">
                <a16:creationId xmlns:a16="http://schemas.microsoft.com/office/drawing/2014/main" id="{ADC18ED2-7C9E-4847-A772-E2F14BA9498E}"/>
              </a:ext>
            </a:extLst>
          </p:cNvPr>
          <p:cNvSpPr>
            <a:spLocks xmlns:a="http://schemas.openxmlformats.org/drawingml/2006/main" noGrp="1"/>
          </p:cNvSpPr>
          <p:nvPr/>
        </p:nvSpPr>
        <p:spPr>
          <a:xfrm xmlns:a="http://schemas.openxmlformats.org/drawingml/2006/main">
            <a:off x="868680" y="5623560"/>
            <a:ext cx="2651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Chỉ số giá</a:t>
            </a:r>
            <a:endParaRPr sz="1250"/>
          </a:p>
        </p:txBody>
      </p:sp>
      <p:sp>
        <p:nvSpPr>
          <p:cNvPr id="24" name="Text 21">
            <a:extLst xmlns:a="http://schemas.openxmlformats.org/drawingml/2006/main">
              <a:ext uri="{FF2B5EF4-FFF2-40B4-BE49-F238E27FC236}">
                <a16:creationId xmlns:a16="http://schemas.microsoft.com/office/drawing/2014/main" id="{B863BB37-ABDB-48EB-A00E-601C994DB8AA}"/>
              </a:ext>
            </a:extLst>
          </p:cNvPr>
          <p:cNvSpPr>
            <a:spLocks xmlns:a="http://schemas.openxmlformats.org/drawingml/2006/main" noGrp="1"/>
          </p:cNvSpPr>
          <p:nvPr/>
        </p:nvSpPr>
        <p:spPr>
          <a:xfrm xmlns:a="http://schemas.openxmlformats.org/drawingml/2006/main">
            <a:off x="3657600" y="5623560"/>
            <a:ext cx="7955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CPI, PPI, chỉ số giá xây dựng, chỉ số giá cước vận tải — dùng giảm phát về giá so sánh.</a:t>
            </a:r>
            <a:endParaRPr sz="1150"/>
          </a:p>
        </p:txBody>
      </p:sp>
    </p:spTree>
    <p:extLst>
      <p:ext uri="{BB962C8B-B14F-4D97-AF65-F5344CB8AC3E}">
        <p14:creationId xmlns:p14="http://schemas.microsoft.com/office/powerpoint/2010/main" val="12987670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B90F515-7537-488A-98D4-329F3C82A88A}"/>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Phương pháp 2 – Thu nhập: cần trường dữ liệu gì</a:t>
            </a:r>
            <a:endParaRPr sz="3100"/>
          </a:p>
        </p:txBody>
      </p:sp>
      <p:sp>
        <p:nvSpPr>
          <p:cNvPr id="3" name="Text 1">
            <a:extLst xmlns:a="http://schemas.openxmlformats.org/drawingml/2006/main">
              <a:ext uri="{FF2B5EF4-FFF2-40B4-BE49-F238E27FC236}">
                <a16:creationId xmlns:a16="http://schemas.microsoft.com/office/drawing/2014/main" id="{E7ADE062-F28B-4D09-9DBE-CA65CB40B31B}"/>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Tiếp cận từ phía phân phối thu nhập — dùng để đối chiếu, không dùng công bố GRDP tỉnh</a:t>
            </a:r>
            <a:endParaRPr sz="1400"/>
          </a:p>
        </p:txBody>
      </p:sp>
      <p:sp>
        <p:nvSpPr>
          <p:cNvPr id="4" name="Shape 2">
            <a:extLst xmlns:a="http://schemas.openxmlformats.org/drawingml/2006/main">
              <a:ext uri="{FF2B5EF4-FFF2-40B4-BE49-F238E27FC236}">
                <a16:creationId xmlns:a16="http://schemas.microsoft.com/office/drawing/2014/main" id="{28DA0852-4305-4AF5-95FA-9491A22A45BE}"/>
              </a:ext>
            </a:extLst>
          </p:cNvPr>
          <p:cNvSpPr>
            <a:spLocks xmlns:a="http://schemas.openxmlformats.org/drawingml/2006/main" noGrp="1"/>
          </p:cNvSpPr>
          <p:nvPr/>
        </p:nvSpPr>
        <p:spPr>
          <a:xfrm xmlns:a="http://schemas.openxmlformats.org/drawingml/2006/main">
            <a:off x="640080" y="1600200"/>
            <a:ext cx="11155680" cy="777240"/>
          </a:xfrm>
          <a:prstGeom xmlns:a="http://schemas.openxmlformats.org/drawingml/2006/main" prst="roundRect">
            <a:avLst>
              <a:gd name="adj" fmla="val 9412"/>
            </a:avLst>
          </a:prstGeom>
          <a:solidFill xmlns:a="http://schemas.openxmlformats.org/drawingml/2006/main">
            <a:srgbClr val="EEF3FF"/>
          </a:solidFill>
          <a:ln xmlns:a="http://schemas.openxmlformats.org/drawingml/2006/main" w="9525">
            <a:solidFill>
              <a:srgbClr val="E1E7F2"/>
            </a:solidFill>
            <a:prstDash val="solid"/>
          </a:ln>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fa75c49a711647e5"/>
          <a:stretch xmlns:a="http://schemas.openxmlformats.org/drawingml/2006/main">
            <a:fillRect l="0" t="0" r="0" b="0"/>
          </a:stretch>
        </p:blipFill>
        <p:spPr>
          <a:xfrm xmlns:a="http://schemas.openxmlformats.org/drawingml/2006/main">
            <a:off x="3017520" y="1783080"/>
            <a:ext cx="6309360" cy="448108"/>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B701E92F-5754-4FF8-AD3C-0FAF23F45CD4}"/>
              </a:ext>
            </a:extLst>
          </p:cNvPr>
          <p:cNvSpPr>
            <a:spLocks xmlns:a="http://schemas.openxmlformats.org/drawingml/2006/main" noGrp="1"/>
          </p:cNvSpPr>
          <p:nvPr/>
        </p:nvSpPr>
        <p:spPr>
          <a:xfrm xmlns:a="http://schemas.openxmlformats.org/drawingml/2006/main">
            <a:off x="640080" y="2560320"/>
            <a:ext cx="5394960" cy="1691640"/>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9525">
            <a:solidFill>
              <a:srgbClr val="E1E7F2"/>
            </a:solidFill>
            <a:prstDash val="solid"/>
          </a:ln>
        </p:spPr>
      </p:sp>
      <p:sp>
        <p:nvSpPr>
          <p:cNvPr id="7" name="Shape 4">
            <a:extLst xmlns:a="http://schemas.openxmlformats.org/drawingml/2006/main">
              <a:ext uri="{FF2B5EF4-FFF2-40B4-BE49-F238E27FC236}">
                <a16:creationId xmlns:a16="http://schemas.microsoft.com/office/drawing/2014/main" id="{96FDDCC3-F408-400E-98EA-1FDB318E3FB6}"/>
              </a:ext>
            </a:extLst>
          </p:cNvPr>
          <p:cNvSpPr>
            <a:spLocks xmlns:a="http://schemas.openxmlformats.org/drawingml/2006/main" noGrp="1"/>
          </p:cNvSpPr>
          <p:nvPr/>
        </p:nvSpPr>
        <p:spPr>
          <a:xfrm xmlns:a="http://schemas.openxmlformats.org/drawingml/2006/main">
            <a:off x="640080" y="2560320"/>
            <a:ext cx="5394960" cy="566928"/>
          </a:xfrm>
          <a:prstGeom xmlns:a="http://schemas.openxmlformats.org/drawingml/2006/main" prst="roundRect">
            <a:avLst>
              <a:gd name="adj" fmla="val 9677"/>
            </a:avLst>
          </a:prstGeom>
          <a:solidFill xmlns:a="http://schemas.openxmlformats.org/drawingml/2006/main">
            <a:srgbClr val="1E2761"/>
          </a:solidFill>
        </p:spPr>
      </p:sp>
      <p:sp>
        <p:nvSpPr>
          <p:cNvPr id="8" name="Text 5">
            <a:extLst xmlns:a="http://schemas.openxmlformats.org/drawingml/2006/main">
              <a:ext uri="{FF2B5EF4-FFF2-40B4-BE49-F238E27FC236}">
                <a16:creationId xmlns:a16="http://schemas.microsoft.com/office/drawing/2014/main" id="{EDE0DCD7-1E31-46E3-8A8A-A79E1AB29BDF}"/>
              </a:ext>
            </a:extLst>
          </p:cNvPr>
          <p:cNvSpPr>
            <a:spLocks xmlns:a="http://schemas.openxmlformats.org/drawingml/2006/main" noGrp="1"/>
          </p:cNvSpPr>
          <p:nvPr/>
        </p:nvSpPr>
        <p:spPr>
          <a:xfrm xmlns:a="http://schemas.openxmlformats.org/drawingml/2006/main">
            <a:off x="868680" y="2560320"/>
            <a:ext cx="3657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Thu nhập của người lao động</a:t>
            </a:r>
            <a:endParaRPr sz="1400"/>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158f495e47c64075"/>
          <a:stretch xmlns:a="http://schemas.openxmlformats.org/drawingml/2006/main">
            <a:fillRect l="0" t="0" r="0" b="0"/>
          </a:stretch>
        </p:blipFill>
        <p:spPr>
          <a:xfrm xmlns:a="http://schemas.openxmlformats.org/drawingml/2006/main">
            <a:off x="5529852" y="2734056"/>
            <a:ext cx="249156" cy="237744"/>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3F06E3-4B76-4180-B808-ABDFA638ED7F}"/>
              </a:ext>
            </a:extLst>
          </p:cNvPr>
          <p:cNvSpPr>
            <a:spLocks xmlns:a="http://schemas.openxmlformats.org/drawingml/2006/main" noGrp="1"/>
          </p:cNvSpPr>
          <p:nvPr/>
        </p:nvSpPr>
        <p:spPr>
          <a:xfrm xmlns:a="http://schemas.openxmlformats.org/drawingml/2006/main">
            <a:off x="914400" y="3182112"/>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Tiền lương, tiền công, phụ cấp; đóng góp BHXH của chủ sử dụng; thu nhập bằng hiện vật.</a:t>
            </a:r>
            <a:endParaRPr sz="1150"/>
          </a:p>
        </p:txBody>
      </p:sp>
      <p:sp>
        <p:nvSpPr>
          <p:cNvPr id="11" name="Text 7">
            <a:extLst xmlns:a="http://schemas.openxmlformats.org/drawingml/2006/main">
              <a:ext uri="{FF2B5EF4-FFF2-40B4-BE49-F238E27FC236}">
                <a16:creationId xmlns:a16="http://schemas.microsoft.com/office/drawing/2014/main" id="{B1B3785E-F776-4BA1-808E-7E691F147378}"/>
              </a:ext>
            </a:extLst>
          </p:cNvPr>
          <p:cNvSpPr>
            <a:spLocks xmlns:a="http://schemas.openxmlformats.org/drawingml/2006/main" noGrp="1"/>
          </p:cNvSpPr>
          <p:nvPr/>
        </p:nvSpPr>
        <p:spPr>
          <a:xfrm xmlns:a="http://schemas.openxmlformats.org/drawingml/2006/main">
            <a:off x="914400" y="3858768"/>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5A6377"/>
                </a:solidFill>
                <a:latin typeface="Calibri"/>
                <a:ea typeface="Calibri"/>
                <a:cs typeface="Calibri"/>
              </a:rPr>
              <a:t>Nguồn: điều tra doanh nghiệp, quỹ lương, BHXH, quyết toán ngân sách</a:t>
            </a:r>
            <a:endParaRPr sz="1000"/>
          </a:p>
        </p:txBody>
      </p:sp>
      <p:sp>
        <p:nvSpPr>
          <p:cNvPr id="12" name="Shape 8">
            <a:extLst xmlns:a="http://schemas.openxmlformats.org/drawingml/2006/main">
              <a:ext uri="{FF2B5EF4-FFF2-40B4-BE49-F238E27FC236}">
                <a16:creationId xmlns:a16="http://schemas.microsoft.com/office/drawing/2014/main" id="{59423A93-D63A-4F7E-BDA7-87CD33E156D1}"/>
              </a:ext>
            </a:extLst>
          </p:cNvPr>
          <p:cNvSpPr>
            <a:spLocks xmlns:a="http://schemas.openxmlformats.org/drawingml/2006/main" noGrp="1"/>
          </p:cNvSpPr>
          <p:nvPr/>
        </p:nvSpPr>
        <p:spPr>
          <a:xfrm xmlns:a="http://schemas.openxmlformats.org/drawingml/2006/main">
            <a:off x="6309360" y="2560320"/>
            <a:ext cx="5394960" cy="1691640"/>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9525">
            <a:solidFill>
              <a:srgbClr val="E1E7F2"/>
            </a:solidFill>
            <a:prstDash val="solid"/>
          </a:ln>
        </p:spPr>
      </p:sp>
      <p:sp>
        <p:nvSpPr>
          <p:cNvPr id="13" name="Shape 9">
            <a:extLst xmlns:a="http://schemas.openxmlformats.org/drawingml/2006/main">
              <a:ext uri="{FF2B5EF4-FFF2-40B4-BE49-F238E27FC236}">
                <a16:creationId xmlns:a16="http://schemas.microsoft.com/office/drawing/2014/main" id="{6AE0D855-0ECD-41C1-B2E8-0A79939C33F1}"/>
              </a:ext>
            </a:extLst>
          </p:cNvPr>
          <p:cNvSpPr>
            <a:spLocks xmlns:a="http://schemas.openxmlformats.org/drawingml/2006/main" noGrp="1"/>
          </p:cNvSpPr>
          <p:nvPr/>
        </p:nvSpPr>
        <p:spPr>
          <a:xfrm xmlns:a="http://schemas.openxmlformats.org/drawingml/2006/main">
            <a:off x="6309360" y="2560320"/>
            <a:ext cx="5394960" cy="566928"/>
          </a:xfrm>
          <a:prstGeom xmlns:a="http://schemas.openxmlformats.org/drawingml/2006/main" prst="roundRect">
            <a:avLst>
              <a:gd name="adj" fmla="val 9677"/>
            </a:avLst>
          </a:prstGeom>
          <a:solidFill xmlns:a="http://schemas.openxmlformats.org/drawingml/2006/main">
            <a:srgbClr val="1C7293"/>
          </a:solidFill>
        </p:spPr>
      </p:sp>
      <p:sp>
        <p:nvSpPr>
          <p:cNvPr id="14" name="Text 10">
            <a:extLst xmlns:a="http://schemas.openxmlformats.org/drawingml/2006/main">
              <a:ext uri="{FF2B5EF4-FFF2-40B4-BE49-F238E27FC236}">
                <a16:creationId xmlns:a16="http://schemas.microsoft.com/office/drawing/2014/main" id="{34EE48B3-8E47-41B8-B9AA-D9A305F636EE}"/>
              </a:ext>
            </a:extLst>
          </p:cNvPr>
          <p:cNvSpPr>
            <a:spLocks xmlns:a="http://schemas.openxmlformats.org/drawingml/2006/main" noGrp="1"/>
          </p:cNvSpPr>
          <p:nvPr/>
        </p:nvSpPr>
        <p:spPr>
          <a:xfrm xmlns:a="http://schemas.openxmlformats.org/drawingml/2006/main">
            <a:off x="6537960" y="2560320"/>
            <a:ext cx="3657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Thuế sản xuất trừ trợ cấp</a:t>
            </a:r>
            <a:endParaRPr sz="1400"/>
          </a:p>
        </p:txBody>
      </p:sp>
      <p:pic>
        <p:nvPicPr>
          <p:cNvPr id="49" name="Image 2"/>
          <p:cNvPicPr>
            <a:picLocks xmlns:a="http://schemas.openxmlformats.org/drawingml/2006/main" noChangeAspect="1"/>
          </p:cNvPicPr>
          <p:nvPr/>
        </p:nvPicPr>
        <p:blipFill>
          <a:blip xmlns:r="http://schemas.openxmlformats.org/officeDocument/2006/relationships" xmlns:a="http://schemas.openxmlformats.org/drawingml/2006/main" r:embed="R0f52b0793b4b463a"/>
          <a:stretch xmlns:a="http://schemas.openxmlformats.org/drawingml/2006/main">
            <a:fillRect l="0" t="0" r="0" b="0"/>
          </a:stretch>
        </p:blipFill>
        <p:spPr>
          <a:xfrm xmlns:a="http://schemas.openxmlformats.org/drawingml/2006/main">
            <a:off x="10566258" y="2734056"/>
            <a:ext cx="882030" cy="237744"/>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1127217C-4ABC-4582-BC31-99361B7D7124}"/>
              </a:ext>
            </a:extLst>
          </p:cNvPr>
          <p:cNvSpPr>
            <a:spLocks xmlns:a="http://schemas.openxmlformats.org/drawingml/2006/main" noGrp="1"/>
          </p:cNvSpPr>
          <p:nvPr/>
        </p:nvSpPr>
        <p:spPr>
          <a:xfrm xmlns:a="http://schemas.openxmlformats.org/drawingml/2006/main">
            <a:off x="6583680" y="3182112"/>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Thuế môn bài, thuế tài nguyên, tiền thuê đất, phí – lệ phí; trừ trợ cấp sản xuất.</a:t>
            </a:r>
            <a:endParaRPr sz="1150"/>
          </a:p>
        </p:txBody>
      </p:sp>
      <p:sp>
        <p:nvSpPr>
          <p:cNvPr id="17" name="Text 12">
            <a:extLst xmlns:a="http://schemas.openxmlformats.org/drawingml/2006/main">
              <a:ext uri="{FF2B5EF4-FFF2-40B4-BE49-F238E27FC236}">
                <a16:creationId xmlns:a16="http://schemas.microsoft.com/office/drawing/2014/main" id="{E55B2DE1-6F9A-48AD-A5C2-548E3AB941E4}"/>
              </a:ext>
            </a:extLst>
          </p:cNvPr>
          <p:cNvSpPr>
            <a:spLocks xmlns:a="http://schemas.openxmlformats.org/drawingml/2006/main" noGrp="1"/>
          </p:cNvSpPr>
          <p:nvPr/>
        </p:nvSpPr>
        <p:spPr>
          <a:xfrm xmlns:a="http://schemas.openxmlformats.org/drawingml/2006/main">
            <a:off x="6583680" y="3858768"/>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5A6377"/>
                </a:solidFill>
                <a:latin typeface="Calibri"/>
                <a:ea typeface="Calibri"/>
                <a:cs typeface="Calibri"/>
              </a:rPr>
              <a:t>Nguồn: Thuế, Tài chính, Kho bạc</a:t>
            </a:r>
            <a:endParaRPr sz="1000"/>
          </a:p>
        </p:txBody>
      </p:sp>
      <p:sp>
        <p:nvSpPr>
          <p:cNvPr id="18" name="Shape 13">
            <a:extLst xmlns:a="http://schemas.openxmlformats.org/drawingml/2006/main">
              <a:ext uri="{FF2B5EF4-FFF2-40B4-BE49-F238E27FC236}">
                <a16:creationId xmlns:a16="http://schemas.microsoft.com/office/drawing/2014/main" id="{B39DEB15-7DE5-4609-AFFE-F5DCCCA41B5C}"/>
              </a:ext>
            </a:extLst>
          </p:cNvPr>
          <p:cNvSpPr>
            <a:spLocks xmlns:a="http://schemas.openxmlformats.org/drawingml/2006/main" noGrp="1"/>
          </p:cNvSpPr>
          <p:nvPr/>
        </p:nvSpPr>
        <p:spPr>
          <a:xfrm xmlns:a="http://schemas.openxmlformats.org/drawingml/2006/main">
            <a:off x="640080" y="4434840"/>
            <a:ext cx="5394960" cy="1691640"/>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9525">
            <a:solidFill>
              <a:srgbClr val="E1E7F2"/>
            </a:solidFill>
            <a:prstDash val="solid"/>
          </a:ln>
        </p:spPr>
      </p:sp>
      <p:sp>
        <p:nvSpPr>
          <p:cNvPr id="19" name="Shape 14">
            <a:extLst xmlns:a="http://schemas.openxmlformats.org/drawingml/2006/main">
              <a:ext uri="{FF2B5EF4-FFF2-40B4-BE49-F238E27FC236}">
                <a16:creationId xmlns:a16="http://schemas.microsoft.com/office/drawing/2014/main" id="{0C9B2C1D-6BE9-406E-A066-FDFE1A7183A4}"/>
              </a:ext>
            </a:extLst>
          </p:cNvPr>
          <p:cNvSpPr>
            <a:spLocks xmlns:a="http://schemas.openxmlformats.org/drawingml/2006/main" noGrp="1"/>
          </p:cNvSpPr>
          <p:nvPr/>
        </p:nvSpPr>
        <p:spPr>
          <a:xfrm xmlns:a="http://schemas.openxmlformats.org/drawingml/2006/main">
            <a:off x="640080" y="4434840"/>
            <a:ext cx="5394960" cy="566928"/>
          </a:xfrm>
          <a:prstGeom xmlns:a="http://schemas.openxmlformats.org/drawingml/2006/main" prst="roundRect">
            <a:avLst>
              <a:gd name="adj" fmla="val 9677"/>
            </a:avLst>
          </a:prstGeom>
          <a:solidFill xmlns:a="http://schemas.openxmlformats.org/drawingml/2006/main">
            <a:srgbClr val="1E2761"/>
          </a:solidFill>
        </p:spPr>
      </p:sp>
      <p:sp>
        <p:nvSpPr>
          <p:cNvPr id="20" name="Text 15">
            <a:extLst xmlns:a="http://schemas.openxmlformats.org/drawingml/2006/main">
              <a:ext uri="{FF2B5EF4-FFF2-40B4-BE49-F238E27FC236}">
                <a16:creationId xmlns:a16="http://schemas.microsoft.com/office/drawing/2014/main" id="{522A0458-F810-42A4-85EE-E8DA92B4B0B4}"/>
              </a:ext>
            </a:extLst>
          </p:cNvPr>
          <p:cNvSpPr>
            <a:spLocks xmlns:a="http://schemas.openxmlformats.org/drawingml/2006/main" noGrp="1"/>
          </p:cNvSpPr>
          <p:nvPr/>
        </p:nvSpPr>
        <p:spPr>
          <a:xfrm xmlns:a="http://schemas.openxmlformats.org/drawingml/2006/main">
            <a:off x="868680" y="4434840"/>
            <a:ext cx="3657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Khấu hao tài sản cố định</a:t>
            </a:r>
            <a:endParaRPr sz="1400"/>
          </a:p>
        </p:txBody>
      </p:sp>
      <p:pic>
        <p:nvPicPr>
          <p:cNvPr id="55" name="Image 3"/>
          <p:cNvPicPr>
            <a:picLocks xmlns:a="http://schemas.openxmlformats.org/drawingml/2006/main" noChangeAspect="1"/>
          </p:cNvPicPr>
          <p:nvPr/>
        </p:nvPicPr>
        <p:blipFill>
          <a:blip xmlns:r="http://schemas.openxmlformats.org/officeDocument/2006/relationships" xmlns:a="http://schemas.openxmlformats.org/drawingml/2006/main" r:embed="Rbf6f29def04642cc"/>
          <a:stretch xmlns:a="http://schemas.openxmlformats.org/drawingml/2006/main">
            <a:fillRect l="0" t="0" r="0" b="0"/>
          </a:stretch>
        </p:blipFill>
        <p:spPr>
          <a:xfrm xmlns:a="http://schemas.openxmlformats.org/drawingml/2006/main">
            <a:off x="5591190" y="4608576"/>
            <a:ext cx="187818" cy="237744"/>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36484260-2CE9-4867-B730-F4FCB0F1B831}"/>
              </a:ext>
            </a:extLst>
          </p:cNvPr>
          <p:cNvSpPr>
            <a:spLocks xmlns:a="http://schemas.openxmlformats.org/drawingml/2006/main" noGrp="1"/>
          </p:cNvSpPr>
          <p:nvPr/>
        </p:nvSpPr>
        <p:spPr>
          <a:xfrm xmlns:a="http://schemas.openxmlformats.org/drawingml/2006/main">
            <a:off x="914400" y="5056632"/>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Mức khấu hao trích trong kỳ theo ngành; nguyên giá và giá trị còn lại của TSCĐ.</a:t>
            </a:r>
            <a:endParaRPr sz="1150"/>
          </a:p>
        </p:txBody>
      </p:sp>
      <p:sp>
        <p:nvSpPr>
          <p:cNvPr id="23" name="Text 17">
            <a:extLst xmlns:a="http://schemas.openxmlformats.org/drawingml/2006/main">
              <a:ext uri="{FF2B5EF4-FFF2-40B4-BE49-F238E27FC236}">
                <a16:creationId xmlns:a16="http://schemas.microsoft.com/office/drawing/2014/main" id="{47B4BD17-30FD-4DDA-8FD6-8B53C3405182}"/>
              </a:ext>
            </a:extLst>
          </p:cNvPr>
          <p:cNvSpPr>
            <a:spLocks xmlns:a="http://schemas.openxmlformats.org/drawingml/2006/main" noGrp="1"/>
          </p:cNvSpPr>
          <p:nvPr/>
        </p:nvSpPr>
        <p:spPr>
          <a:xfrm xmlns:a="http://schemas.openxmlformats.org/drawingml/2006/main">
            <a:off x="914400" y="5733288"/>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5A6377"/>
                </a:solidFill>
                <a:latin typeface="Calibri"/>
                <a:ea typeface="Calibri"/>
                <a:cs typeface="Calibri"/>
              </a:rPr>
              <a:t>Nguồn: báo cáo tài chính doanh nghiệp, đơn vị HCSN</a:t>
            </a:r>
            <a:endParaRPr sz="1000"/>
          </a:p>
        </p:txBody>
      </p:sp>
      <p:sp>
        <p:nvSpPr>
          <p:cNvPr id="24" name="Shape 18">
            <a:extLst xmlns:a="http://schemas.openxmlformats.org/drawingml/2006/main">
              <a:ext uri="{FF2B5EF4-FFF2-40B4-BE49-F238E27FC236}">
                <a16:creationId xmlns:a16="http://schemas.microsoft.com/office/drawing/2014/main" id="{E1CBC89A-E36C-40D6-8B38-EF4E6B216C8F}"/>
              </a:ext>
            </a:extLst>
          </p:cNvPr>
          <p:cNvSpPr>
            <a:spLocks xmlns:a="http://schemas.openxmlformats.org/drawingml/2006/main" noGrp="1"/>
          </p:cNvSpPr>
          <p:nvPr/>
        </p:nvSpPr>
        <p:spPr>
          <a:xfrm xmlns:a="http://schemas.openxmlformats.org/drawingml/2006/main">
            <a:off x="6309360" y="4434840"/>
            <a:ext cx="5394960" cy="1691640"/>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9525">
            <a:solidFill>
              <a:srgbClr val="E1E7F2"/>
            </a:solidFill>
            <a:prstDash val="solid"/>
          </a:ln>
        </p:spPr>
      </p:sp>
      <p:sp>
        <p:nvSpPr>
          <p:cNvPr id="25" name="Shape 19">
            <a:extLst xmlns:a="http://schemas.openxmlformats.org/drawingml/2006/main">
              <a:ext uri="{FF2B5EF4-FFF2-40B4-BE49-F238E27FC236}">
                <a16:creationId xmlns:a16="http://schemas.microsoft.com/office/drawing/2014/main" id="{78BCCEAB-AECB-4FF8-8682-1A9348034952}"/>
              </a:ext>
            </a:extLst>
          </p:cNvPr>
          <p:cNvSpPr>
            <a:spLocks xmlns:a="http://schemas.openxmlformats.org/drawingml/2006/main" noGrp="1"/>
          </p:cNvSpPr>
          <p:nvPr/>
        </p:nvSpPr>
        <p:spPr>
          <a:xfrm xmlns:a="http://schemas.openxmlformats.org/drawingml/2006/main">
            <a:off x="6309360" y="4434840"/>
            <a:ext cx="5394960" cy="566928"/>
          </a:xfrm>
          <a:prstGeom xmlns:a="http://schemas.openxmlformats.org/drawingml/2006/main" prst="roundRect">
            <a:avLst>
              <a:gd name="adj" fmla="val 9677"/>
            </a:avLst>
          </a:prstGeom>
          <a:solidFill xmlns:a="http://schemas.openxmlformats.org/drawingml/2006/main">
            <a:srgbClr val="1C7293"/>
          </a:solidFill>
        </p:spPr>
      </p:sp>
      <p:sp>
        <p:nvSpPr>
          <p:cNvPr id="26" name="Text 20">
            <a:extLst xmlns:a="http://schemas.openxmlformats.org/drawingml/2006/main">
              <a:ext uri="{FF2B5EF4-FFF2-40B4-BE49-F238E27FC236}">
                <a16:creationId xmlns:a16="http://schemas.microsoft.com/office/drawing/2014/main" id="{606070AB-6AA9-4433-92CB-B26903A4FBCB}"/>
              </a:ext>
            </a:extLst>
          </p:cNvPr>
          <p:cNvSpPr>
            <a:spLocks xmlns:a="http://schemas.openxmlformats.org/drawingml/2006/main" noGrp="1"/>
          </p:cNvSpPr>
          <p:nvPr/>
        </p:nvSpPr>
        <p:spPr>
          <a:xfrm xmlns:a="http://schemas.openxmlformats.org/drawingml/2006/main">
            <a:off x="6537960" y="4434840"/>
            <a:ext cx="3657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Thặng dư &amp; thu nhập hỗn hợp</a:t>
            </a:r>
            <a:endParaRPr sz="1400"/>
          </a:p>
        </p:txBody>
      </p:sp>
      <p:pic>
        <p:nvPicPr>
          <p:cNvPr id="61" name="Image 4"/>
          <p:cNvPicPr>
            <a:picLocks xmlns:a="http://schemas.openxmlformats.org/drawingml/2006/main" noChangeAspect="1"/>
          </p:cNvPicPr>
          <p:nvPr/>
        </p:nvPicPr>
        <p:blipFill>
          <a:blip xmlns:r="http://schemas.openxmlformats.org/officeDocument/2006/relationships" xmlns:a="http://schemas.openxmlformats.org/drawingml/2006/main" r:embed="R6e589c87cf5c4b89"/>
          <a:stretch xmlns:a="http://schemas.openxmlformats.org/drawingml/2006/main">
            <a:fillRect l="0" t="0" r="0" b="0"/>
          </a:stretch>
        </p:blipFill>
        <p:spPr>
          <a:xfrm xmlns:a="http://schemas.openxmlformats.org/drawingml/2006/main">
            <a:off x="11237409" y="4608576"/>
            <a:ext cx="210879"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E13BF0F1-7192-4D04-A080-3E6B2373436E}"/>
              </a:ext>
            </a:extLst>
          </p:cNvPr>
          <p:cNvSpPr>
            <a:spLocks xmlns:a="http://schemas.openxmlformats.org/drawingml/2006/main" noGrp="1"/>
          </p:cNvSpPr>
          <p:nvPr/>
        </p:nvSpPr>
        <p:spPr>
          <a:xfrm xmlns:a="http://schemas.openxmlformats.org/drawingml/2006/main">
            <a:off x="6583680" y="5056632"/>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02536"/>
                </a:solidFill>
                <a:latin typeface="Calibri"/>
                <a:ea typeface="Calibri"/>
                <a:cs typeface="Calibri"/>
              </a:rPr>
              <a:t>Lợi nhuận trước thuế của doanh nghiệp; thu nhập hỗn hợp của hộ sản xuất kinh doanh cá thể.</a:t>
            </a:r>
            <a:endParaRPr sz="1150"/>
          </a:p>
        </p:txBody>
      </p:sp>
      <p:sp>
        <p:nvSpPr>
          <p:cNvPr id="29" name="Text 22">
            <a:extLst xmlns:a="http://schemas.openxmlformats.org/drawingml/2006/main">
              <a:ext uri="{FF2B5EF4-FFF2-40B4-BE49-F238E27FC236}">
                <a16:creationId xmlns:a16="http://schemas.microsoft.com/office/drawing/2014/main" id="{2DDE4329-551F-416B-8557-DC65E9A55A43}"/>
              </a:ext>
            </a:extLst>
          </p:cNvPr>
          <p:cNvSpPr>
            <a:spLocks xmlns:a="http://schemas.openxmlformats.org/drawingml/2006/main" noGrp="1"/>
          </p:cNvSpPr>
          <p:nvPr/>
        </p:nvSpPr>
        <p:spPr>
          <a:xfrm xmlns:a="http://schemas.openxmlformats.org/drawingml/2006/main">
            <a:off x="6583680" y="5733288"/>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5A6377"/>
                </a:solidFill>
                <a:latin typeface="Calibri"/>
                <a:ea typeface="Calibri"/>
                <a:cs typeface="Calibri"/>
              </a:rPr>
              <a:t>Nguồn: điều tra doanh nghiệp, điều tra hộ SXKD cá thể</a:t>
            </a:r>
            <a:endParaRPr sz="1000"/>
          </a:p>
        </p:txBody>
      </p:sp>
      <p:sp>
        <p:nvSpPr>
          <p:cNvPr id="30" name="Text 23">
            <a:extLst xmlns:a="http://schemas.openxmlformats.org/drawingml/2006/main">
              <a:ext uri="{FF2B5EF4-FFF2-40B4-BE49-F238E27FC236}">
                <a16:creationId xmlns:a16="http://schemas.microsoft.com/office/drawing/2014/main" id="{B80920FE-38A1-46C8-8333-55D22ED99DE2}"/>
              </a:ext>
            </a:extLst>
          </p:cNvPr>
          <p:cNvSpPr>
            <a:spLocks xmlns:a="http://schemas.openxmlformats.org/drawingml/2006/main" noGrp="1"/>
          </p:cNvSpPr>
          <p:nvPr/>
        </p:nvSpPr>
        <p:spPr>
          <a:xfrm xmlns:a="http://schemas.openxmlformats.org/drawingml/2006/main">
            <a:off x="640080" y="635508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5A6377"/>
                </a:solidFill>
                <a:latin typeface="Calibri"/>
                <a:ea typeface="Calibri"/>
                <a:cs typeface="Calibri"/>
              </a:rPr>
              <a:t>Phương pháp thu nhập chủ yếu dùng để đối chiếu chéo và phân tích cơ cấu phân phối thu nhập trên địa bàn.</a:t>
            </a:r>
            <a:endParaRPr sz="900"/>
          </a:p>
        </p:txBody>
      </p:sp>
    </p:spTree>
    <p:extLst>
      <p:ext uri="{BB962C8B-B14F-4D97-AF65-F5344CB8AC3E}">
        <p14:creationId xmlns:p14="http://schemas.microsoft.com/office/powerpoint/2010/main" val="19586731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8C0AF5-3C2C-49EA-A41E-C28237BC3E44}"/>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E2761"/>
                </a:solidFill>
                <a:latin typeface="Cambria"/>
                <a:ea typeface="Cambria"/>
                <a:cs typeface="Cambria"/>
              </a:rPr>
              <a:t>Phương pháp 3 – Sử dụng cuối cùng: cần trường dữ liệu gì</a:t>
            </a:r>
            <a:endParaRPr sz="2600"/>
          </a:p>
        </p:txBody>
      </p:sp>
      <p:sp>
        <p:nvSpPr>
          <p:cNvPr id="3" name="Text 1">
            <a:extLst xmlns:a="http://schemas.openxmlformats.org/drawingml/2006/main">
              <a:ext uri="{FF2B5EF4-FFF2-40B4-BE49-F238E27FC236}">
                <a16:creationId xmlns:a16="http://schemas.microsoft.com/office/drawing/2014/main" id="{CB9072EC-65D6-4712-9F6B-90B767B68909}"/>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Tiếp cận từ phía cầu cuối cùng — theo NĐ 94 chỉ tính ở phạm vi cả nước, cấp tỉnh dùng để phân tích</a:t>
            </a:r>
            <a:endParaRPr sz="1400"/>
          </a:p>
        </p:txBody>
      </p:sp>
      <p:sp>
        <p:nvSpPr>
          <p:cNvPr id="4" name="Shape 2">
            <a:extLst xmlns:a="http://schemas.openxmlformats.org/drawingml/2006/main">
              <a:ext uri="{FF2B5EF4-FFF2-40B4-BE49-F238E27FC236}">
                <a16:creationId xmlns:a16="http://schemas.microsoft.com/office/drawing/2014/main" id="{9022975B-9235-494D-AB40-11939D507D88}"/>
              </a:ext>
            </a:extLst>
          </p:cNvPr>
          <p:cNvSpPr>
            <a:spLocks xmlns:a="http://schemas.openxmlformats.org/drawingml/2006/main" noGrp="1"/>
          </p:cNvSpPr>
          <p:nvPr/>
        </p:nvSpPr>
        <p:spPr>
          <a:xfrm xmlns:a="http://schemas.openxmlformats.org/drawingml/2006/main">
            <a:off x="640080" y="1600200"/>
            <a:ext cx="11155680" cy="731520"/>
          </a:xfrm>
          <a:prstGeom xmlns:a="http://schemas.openxmlformats.org/drawingml/2006/main" prst="roundRect">
            <a:avLst>
              <a:gd name="adj" fmla="val 10000"/>
            </a:avLst>
          </a:prstGeom>
          <a:solidFill xmlns:a="http://schemas.openxmlformats.org/drawingml/2006/main">
            <a:srgbClr val="EEF3FF"/>
          </a:solidFill>
          <a:ln xmlns:a="http://schemas.openxmlformats.org/drawingml/2006/main" w="9525">
            <a:solidFill>
              <a:srgbClr val="E1E7F2"/>
            </a:solidFill>
            <a:prstDash val="solid"/>
          </a:ln>
        </p:spPr>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e5f73279b4674565"/>
          <a:stretch xmlns:a="http://schemas.openxmlformats.org/drawingml/2006/main">
            <a:fillRect l="0" t="0" r="0" b="0"/>
          </a:stretch>
        </p:blipFill>
        <p:spPr>
          <a:xfrm xmlns:a="http://schemas.openxmlformats.org/drawingml/2006/main">
            <a:off x="2651760" y="1783080"/>
            <a:ext cx="6949440" cy="445477"/>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B1C52A28-1DDC-4AC6-B151-9A7C92C95425}"/>
              </a:ext>
            </a:extLst>
          </p:cNvPr>
          <p:cNvSpPr>
            <a:spLocks xmlns:a="http://schemas.openxmlformats.org/drawingml/2006/main" noGrp="1"/>
          </p:cNvSpPr>
          <p:nvPr/>
        </p:nvSpPr>
        <p:spPr>
          <a:xfrm xmlns:a="http://schemas.openxmlformats.org/drawingml/2006/main">
            <a:off x="640080" y="2514600"/>
            <a:ext cx="11155680" cy="841248"/>
          </a:xfrm>
          <a:prstGeom xmlns:a="http://schemas.openxmlformats.org/drawingml/2006/main" prst="roundRect">
            <a:avLst>
              <a:gd name="adj" fmla="val 8696"/>
            </a:avLst>
          </a:prstGeom>
          <a:solidFill xmlns:a="http://schemas.openxmlformats.org/drawingml/2006/main">
            <a:srgbClr val="F2F5FB"/>
          </a:solidFill>
          <a:ln xmlns:a="http://schemas.openxmlformats.org/drawingml/2006/main" w="9525">
            <a:solidFill>
              <a:srgbClr val="E1E7F2"/>
            </a:solidFill>
            <a:prstDash val="solid"/>
          </a:ln>
        </p:spPr>
      </p:sp>
      <p:sp>
        <p:nvSpPr>
          <p:cNvPr id="7" name="Shape 4">
            <a:extLst xmlns:a="http://schemas.openxmlformats.org/drawingml/2006/main">
              <a:ext uri="{FF2B5EF4-FFF2-40B4-BE49-F238E27FC236}">
                <a16:creationId xmlns:a16="http://schemas.microsoft.com/office/drawing/2014/main" id="{C8D0D0FC-6570-4CEA-B30A-C1BEB936980D}"/>
              </a:ext>
            </a:extLst>
          </p:cNvPr>
          <p:cNvSpPr>
            <a:spLocks xmlns:a="http://schemas.openxmlformats.org/drawingml/2006/main" noGrp="1"/>
          </p:cNvSpPr>
          <p:nvPr/>
        </p:nvSpPr>
        <p:spPr>
          <a:xfrm xmlns:a="http://schemas.openxmlformats.org/drawingml/2006/main">
            <a:off x="868680" y="2651760"/>
            <a:ext cx="1051560" cy="548640"/>
          </a:xfrm>
          <a:prstGeom xmlns:a="http://schemas.openxmlformats.org/drawingml/2006/main" prst="roundRect">
            <a:avLst>
              <a:gd name="adj" fmla="val 13333"/>
            </a:avLst>
          </a:prstGeom>
          <a:solidFill xmlns:a="http://schemas.openxmlformats.org/drawingml/2006/main">
            <a:srgbClr val="C9A227"/>
          </a:solidFill>
        </p:spPr>
      </p:sp>
      <p:pic>
        <p:nvPicPr>
          <p:cNvPr id="39" name="Image 1"/>
          <p:cNvPicPr>
            <a:picLocks xmlns:a="http://schemas.openxmlformats.org/drawingml/2006/main" noChangeAspect="1"/>
          </p:cNvPicPr>
          <p:nvPr/>
        </p:nvPicPr>
        <p:blipFill>
          <a:blip xmlns:r="http://schemas.openxmlformats.org/officeDocument/2006/relationships" xmlns:a="http://schemas.openxmlformats.org/drawingml/2006/main" r:embed="Rb0fa44085a544e21"/>
          <a:stretch xmlns:a="http://schemas.openxmlformats.org/drawingml/2006/main">
            <a:fillRect l="0" t="0" r="0" b="0"/>
          </a:stretch>
        </p:blipFill>
        <p:spPr>
          <a:xfrm xmlns:a="http://schemas.openxmlformats.org/drawingml/2006/main">
            <a:off x="1262155" y="2798064"/>
            <a:ext cx="264609"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B331B894-61B8-48EF-B829-E416D5DF923E}"/>
              </a:ext>
            </a:extLst>
          </p:cNvPr>
          <p:cNvSpPr>
            <a:spLocks xmlns:a="http://schemas.openxmlformats.org/drawingml/2006/main" noGrp="1"/>
          </p:cNvSpPr>
          <p:nvPr/>
        </p:nvSpPr>
        <p:spPr>
          <a:xfrm xmlns:a="http://schemas.openxmlformats.org/drawingml/2006/main">
            <a:off x="2148840" y="262432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Tiêu dùng cuối cùng của hộ dân cư</a:t>
            </a:r>
            <a:endParaRPr sz="1350"/>
          </a:p>
        </p:txBody>
      </p:sp>
      <p:sp>
        <p:nvSpPr>
          <p:cNvPr id="10" name="Text 6">
            <a:extLst xmlns:a="http://schemas.openxmlformats.org/drawingml/2006/main">
              <a:ext uri="{FF2B5EF4-FFF2-40B4-BE49-F238E27FC236}">
                <a16:creationId xmlns:a16="http://schemas.microsoft.com/office/drawing/2014/main" id="{9EDC1E42-07B9-4B52-9A7D-495AAD7B0672}"/>
              </a:ext>
            </a:extLst>
          </p:cNvPr>
          <p:cNvSpPr>
            <a:spLocks xmlns:a="http://schemas.openxmlformats.org/drawingml/2006/main" noGrp="1"/>
          </p:cNvSpPr>
          <p:nvPr/>
        </p:nvSpPr>
        <p:spPr>
          <a:xfrm xmlns:a="http://schemas.openxmlformats.org/drawingml/2006/main">
            <a:off x="5349240" y="2606040"/>
            <a:ext cx="62636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Tổng mức bán lẻ hàng hoá và doanh thu dịch vụ tiêu dùng; chi tiêu bình quân đầu người (KSMS); dân số trung bình.</a:t>
            </a:r>
            <a:endParaRPr sz="1100"/>
          </a:p>
        </p:txBody>
      </p:sp>
      <p:sp>
        <p:nvSpPr>
          <p:cNvPr id="11" name="Shape 7">
            <a:extLst xmlns:a="http://schemas.openxmlformats.org/drawingml/2006/main">
              <a:ext uri="{FF2B5EF4-FFF2-40B4-BE49-F238E27FC236}">
                <a16:creationId xmlns:a16="http://schemas.microsoft.com/office/drawing/2014/main" id="{3F019101-F322-411B-93B8-FC98ED414A16}"/>
              </a:ext>
            </a:extLst>
          </p:cNvPr>
          <p:cNvSpPr>
            <a:spLocks xmlns:a="http://schemas.openxmlformats.org/drawingml/2006/main" noGrp="1"/>
          </p:cNvSpPr>
          <p:nvPr/>
        </p:nvSpPr>
        <p:spPr>
          <a:xfrm xmlns:a="http://schemas.openxmlformats.org/drawingml/2006/main">
            <a:off x="640080" y="3474720"/>
            <a:ext cx="11155680" cy="841248"/>
          </a:xfrm>
          <a:prstGeom xmlns:a="http://schemas.openxmlformats.org/drawingml/2006/main" prst="roundRect">
            <a:avLst>
              <a:gd name="adj" fmla="val 8696"/>
            </a:avLst>
          </a:prstGeom>
          <a:solidFill xmlns:a="http://schemas.openxmlformats.org/drawingml/2006/main">
            <a:srgbClr val="F2F5FB"/>
          </a:solidFill>
          <a:ln xmlns:a="http://schemas.openxmlformats.org/drawingml/2006/main" w="9525">
            <a:solidFill>
              <a:srgbClr val="E1E7F2"/>
            </a:solidFill>
            <a:prstDash val="solid"/>
          </a:ln>
        </p:spPr>
      </p:sp>
      <p:sp>
        <p:nvSpPr>
          <p:cNvPr id="12" name="Shape 8">
            <a:extLst xmlns:a="http://schemas.openxmlformats.org/drawingml/2006/main">
              <a:ext uri="{FF2B5EF4-FFF2-40B4-BE49-F238E27FC236}">
                <a16:creationId xmlns:a16="http://schemas.microsoft.com/office/drawing/2014/main" id="{225CAD5D-286D-49C3-A72E-6C4D42AB971C}"/>
              </a:ext>
            </a:extLst>
          </p:cNvPr>
          <p:cNvSpPr>
            <a:spLocks xmlns:a="http://schemas.openxmlformats.org/drawingml/2006/main" noGrp="1"/>
          </p:cNvSpPr>
          <p:nvPr/>
        </p:nvSpPr>
        <p:spPr>
          <a:xfrm xmlns:a="http://schemas.openxmlformats.org/drawingml/2006/main">
            <a:off x="868680" y="3611880"/>
            <a:ext cx="1051560" cy="548640"/>
          </a:xfrm>
          <a:prstGeom xmlns:a="http://schemas.openxmlformats.org/drawingml/2006/main" prst="roundRect">
            <a:avLst>
              <a:gd name="adj" fmla="val 13333"/>
            </a:avLst>
          </a:prstGeom>
          <a:solidFill xmlns:a="http://schemas.openxmlformats.org/drawingml/2006/main">
            <a:srgbClr val="C9A227"/>
          </a:solidFill>
        </p:spPr>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6ac8a37495fc4dcb"/>
          <a:stretch xmlns:a="http://schemas.openxmlformats.org/drawingml/2006/main">
            <a:fillRect l="0" t="0" r="0" b="0"/>
          </a:stretch>
        </p:blipFill>
        <p:spPr>
          <a:xfrm xmlns:a="http://schemas.openxmlformats.org/drawingml/2006/main">
            <a:off x="1272973" y="3758184"/>
            <a:ext cx="242974" cy="237744"/>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CF2D450F-7174-4574-8549-5FB9A26170E9}"/>
              </a:ext>
            </a:extLst>
          </p:cNvPr>
          <p:cNvSpPr>
            <a:spLocks xmlns:a="http://schemas.openxmlformats.org/drawingml/2006/main" noGrp="1"/>
          </p:cNvSpPr>
          <p:nvPr/>
        </p:nvSpPr>
        <p:spPr>
          <a:xfrm xmlns:a="http://schemas.openxmlformats.org/drawingml/2006/main">
            <a:off x="2148840" y="358444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Tiêu dùng cuối cùng của Nhà nước</a:t>
            </a:r>
            <a:endParaRPr sz="1350"/>
          </a:p>
        </p:txBody>
      </p:sp>
      <p:sp>
        <p:nvSpPr>
          <p:cNvPr id="15" name="Text 10">
            <a:extLst xmlns:a="http://schemas.openxmlformats.org/drawingml/2006/main">
              <a:ext uri="{FF2B5EF4-FFF2-40B4-BE49-F238E27FC236}">
                <a16:creationId xmlns:a16="http://schemas.microsoft.com/office/drawing/2014/main" id="{9A657AA0-4C6F-4F6B-ACED-F66B324C8881}"/>
              </a:ext>
            </a:extLst>
          </p:cNvPr>
          <p:cNvSpPr>
            <a:spLocks xmlns:a="http://schemas.openxmlformats.org/drawingml/2006/main" noGrp="1"/>
          </p:cNvSpPr>
          <p:nvPr/>
        </p:nvSpPr>
        <p:spPr>
          <a:xfrm xmlns:a="http://schemas.openxmlformats.org/drawingml/2006/main">
            <a:off x="5349240" y="3566160"/>
            <a:ext cx="62636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Chi thường xuyên ngân sách cho quản lý nhà nước, giáo dục, y tế, văn hoá, thể thao, du lịch.</a:t>
            </a:r>
            <a:endParaRPr sz="1100"/>
          </a:p>
        </p:txBody>
      </p:sp>
      <p:sp>
        <p:nvSpPr>
          <p:cNvPr id="16" name="Shape 11">
            <a:extLst xmlns:a="http://schemas.openxmlformats.org/drawingml/2006/main">
              <a:ext uri="{FF2B5EF4-FFF2-40B4-BE49-F238E27FC236}">
                <a16:creationId xmlns:a16="http://schemas.microsoft.com/office/drawing/2014/main" id="{2BCD9BA0-CABD-4768-B6E4-E8E7C6D00828}"/>
              </a:ext>
            </a:extLst>
          </p:cNvPr>
          <p:cNvSpPr>
            <a:spLocks xmlns:a="http://schemas.openxmlformats.org/drawingml/2006/main" noGrp="1"/>
          </p:cNvSpPr>
          <p:nvPr/>
        </p:nvSpPr>
        <p:spPr>
          <a:xfrm xmlns:a="http://schemas.openxmlformats.org/drawingml/2006/main">
            <a:off x="640080" y="4434840"/>
            <a:ext cx="11155680" cy="841248"/>
          </a:xfrm>
          <a:prstGeom xmlns:a="http://schemas.openxmlformats.org/drawingml/2006/main" prst="roundRect">
            <a:avLst>
              <a:gd name="adj" fmla="val 8696"/>
            </a:avLst>
          </a:prstGeom>
          <a:solidFill xmlns:a="http://schemas.openxmlformats.org/drawingml/2006/main">
            <a:srgbClr val="F2F5FB"/>
          </a:solidFill>
          <a:ln xmlns:a="http://schemas.openxmlformats.org/drawingml/2006/main" w="9525">
            <a:solidFill>
              <a:srgbClr val="E1E7F2"/>
            </a:solidFill>
            <a:prstDash val="solid"/>
          </a:ln>
        </p:spPr>
      </p:sp>
      <p:sp>
        <p:nvSpPr>
          <p:cNvPr id="17" name="Shape 12">
            <a:extLst xmlns:a="http://schemas.openxmlformats.org/drawingml/2006/main">
              <a:ext uri="{FF2B5EF4-FFF2-40B4-BE49-F238E27FC236}">
                <a16:creationId xmlns:a16="http://schemas.microsoft.com/office/drawing/2014/main" id="{32485955-0F13-4CE9-9D70-2A7F80CDDABA}"/>
              </a:ext>
            </a:extLst>
          </p:cNvPr>
          <p:cNvSpPr>
            <a:spLocks xmlns:a="http://schemas.openxmlformats.org/drawingml/2006/main" noGrp="1"/>
          </p:cNvSpPr>
          <p:nvPr/>
        </p:nvSpPr>
        <p:spPr>
          <a:xfrm xmlns:a="http://schemas.openxmlformats.org/drawingml/2006/main">
            <a:off x="868680" y="4572000"/>
            <a:ext cx="1051560" cy="548640"/>
          </a:xfrm>
          <a:prstGeom xmlns:a="http://schemas.openxmlformats.org/drawingml/2006/main" prst="roundRect">
            <a:avLst>
              <a:gd name="adj" fmla="val 13333"/>
            </a:avLst>
          </a:prstGeom>
          <a:solidFill xmlns:a="http://schemas.openxmlformats.org/drawingml/2006/main">
            <a:srgbClr val="C9A227"/>
          </a:solidFill>
        </p:spPr>
      </p:sp>
      <p:pic>
        <p:nvPicPr>
          <p:cNvPr id="49" name="Image 3"/>
          <p:cNvPicPr>
            <a:picLocks xmlns:a="http://schemas.openxmlformats.org/drawingml/2006/main" noChangeAspect="1"/>
          </p:cNvPicPr>
          <p:nvPr/>
        </p:nvPicPr>
        <p:blipFill>
          <a:blip xmlns:r="http://schemas.openxmlformats.org/officeDocument/2006/relationships" xmlns:a="http://schemas.openxmlformats.org/drawingml/2006/main" r:embed="Re4f17a794de24b9b"/>
          <a:stretch xmlns:a="http://schemas.openxmlformats.org/drawingml/2006/main">
            <a:fillRect l="0" t="0" r="0" b="0"/>
          </a:stretch>
        </p:blipFill>
        <p:spPr>
          <a:xfrm xmlns:a="http://schemas.openxmlformats.org/drawingml/2006/main">
            <a:off x="1055080" y="4718304"/>
            <a:ext cx="678759" cy="237744"/>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03E6AA54-D238-4892-A3B7-C45180DD866B}"/>
              </a:ext>
            </a:extLst>
          </p:cNvPr>
          <p:cNvSpPr>
            <a:spLocks xmlns:a="http://schemas.openxmlformats.org/drawingml/2006/main" noGrp="1"/>
          </p:cNvSpPr>
          <p:nvPr/>
        </p:nvSpPr>
        <p:spPr>
          <a:xfrm xmlns:a="http://schemas.openxmlformats.org/drawingml/2006/main">
            <a:off x="2148840" y="454456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Tích luỹ tài sản</a:t>
            </a:r>
            <a:endParaRPr sz="1350"/>
          </a:p>
        </p:txBody>
      </p:sp>
      <p:sp>
        <p:nvSpPr>
          <p:cNvPr id="20" name="Text 14">
            <a:extLst xmlns:a="http://schemas.openxmlformats.org/drawingml/2006/main">
              <a:ext uri="{FF2B5EF4-FFF2-40B4-BE49-F238E27FC236}">
                <a16:creationId xmlns:a16="http://schemas.microsoft.com/office/drawing/2014/main" id="{1DD7AD39-3A3D-4F2D-BE2A-1CC884103529}"/>
              </a:ext>
            </a:extLst>
          </p:cNvPr>
          <p:cNvSpPr>
            <a:spLocks xmlns:a="http://schemas.openxmlformats.org/drawingml/2006/main" noGrp="1"/>
          </p:cNvSpPr>
          <p:nvPr/>
        </p:nvSpPr>
        <p:spPr>
          <a:xfrm xmlns:a="http://schemas.openxmlformats.org/drawingml/2006/main">
            <a:off x="5349240" y="4526280"/>
            <a:ext cx="62636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Vốn đầu tư thực hiện toàn xã hội theo nguồn và theo ngành; giá trị TSCĐ tăng trong kỳ; chênh lệch tồn kho.</a:t>
            </a:r>
            <a:endParaRPr sz="1100"/>
          </a:p>
        </p:txBody>
      </p:sp>
      <p:sp>
        <p:nvSpPr>
          <p:cNvPr id="21" name="Shape 15">
            <a:extLst xmlns:a="http://schemas.openxmlformats.org/drawingml/2006/main">
              <a:ext uri="{FF2B5EF4-FFF2-40B4-BE49-F238E27FC236}">
                <a16:creationId xmlns:a16="http://schemas.microsoft.com/office/drawing/2014/main" id="{8FC22CC0-B2F4-48D9-A5DA-F6E1D3685FB1}"/>
              </a:ext>
            </a:extLst>
          </p:cNvPr>
          <p:cNvSpPr>
            <a:spLocks xmlns:a="http://schemas.openxmlformats.org/drawingml/2006/main" noGrp="1"/>
          </p:cNvSpPr>
          <p:nvPr/>
        </p:nvSpPr>
        <p:spPr>
          <a:xfrm xmlns:a="http://schemas.openxmlformats.org/drawingml/2006/main">
            <a:off x="640080" y="5394960"/>
            <a:ext cx="11155680" cy="841248"/>
          </a:xfrm>
          <a:prstGeom xmlns:a="http://schemas.openxmlformats.org/drawingml/2006/main" prst="roundRect">
            <a:avLst>
              <a:gd name="adj" fmla="val 8696"/>
            </a:avLst>
          </a:prstGeom>
          <a:solidFill xmlns:a="http://schemas.openxmlformats.org/drawingml/2006/main">
            <a:srgbClr val="F2F5FB"/>
          </a:solidFill>
          <a:ln xmlns:a="http://schemas.openxmlformats.org/drawingml/2006/main" w="9525">
            <a:solidFill>
              <a:srgbClr val="E1E7F2"/>
            </a:solidFill>
            <a:prstDash val="solid"/>
          </a:ln>
        </p:spPr>
      </p:sp>
      <p:sp>
        <p:nvSpPr>
          <p:cNvPr id="22" name="Shape 16">
            <a:extLst xmlns:a="http://schemas.openxmlformats.org/drawingml/2006/main">
              <a:ext uri="{FF2B5EF4-FFF2-40B4-BE49-F238E27FC236}">
                <a16:creationId xmlns:a16="http://schemas.microsoft.com/office/drawing/2014/main" id="{32DD6D6E-C970-41E2-B7D5-32CFBFFB535B}"/>
              </a:ext>
            </a:extLst>
          </p:cNvPr>
          <p:cNvSpPr>
            <a:spLocks xmlns:a="http://schemas.openxmlformats.org/drawingml/2006/main" noGrp="1"/>
          </p:cNvSpPr>
          <p:nvPr/>
        </p:nvSpPr>
        <p:spPr>
          <a:xfrm xmlns:a="http://schemas.openxmlformats.org/drawingml/2006/main">
            <a:off x="868680" y="5532120"/>
            <a:ext cx="1051560" cy="548640"/>
          </a:xfrm>
          <a:prstGeom xmlns:a="http://schemas.openxmlformats.org/drawingml/2006/main" prst="roundRect">
            <a:avLst>
              <a:gd name="adj" fmla="val 13333"/>
            </a:avLst>
          </a:prstGeom>
          <a:solidFill xmlns:a="http://schemas.openxmlformats.org/drawingml/2006/main">
            <a:srgbClr val="C9A227"/>
          </a:solidFill>
        </p:spPr>
      </p:sp>
      <p:pic>
        <p:nvPicPr>
          <p:cNvPr id="54" name="Image 4"/>
          <p:cNvPicPr>
            <a:picLocks xmlns:a="http://schemas.openxmlformats.org/drawingml/2006/main" noChangeAspect="1"/>
          </p:cNvPicPr>
          <p:nvPr/>
        </p:nvPicPr>
        <p:blipFill>
          <a:blip xmlns:r="http://schemas.openxmlformats.org/officeDocument/2006/relationships" xmlns:a="http://schemas.openxmlformats.org/drawingml/2006/main" r:embed="R7ae0d1eecdc54e14"/>
          <a:stretch xmlns:a="http://schemas.openxmlformats.org/drawingml/2006/main">
            <a:fillRect l="0" t="0" r="0" b="0"/>
          </a:stretch>
        </p:blipFill>
        <p:spPr>
          <a:xfrm xmlns:a="http://schemas.openxmlformats.org/drawingml/2006/main">
            <a:off x="1085749" y="5678424"/>
            <a:ext cx="617421" cy="237744"/>
          </a:xfrm>
          <a:prstGeom xmlns:a="http://schemas.openxmlformats.org/drawingml/2006/main" prst="rect">
            <a:avLst/>
          </a:prstGeom>
        </p:spPr>
      </p:pic>
      <p:sp>
        <p:nvSpPr>
          <p:cNvPr id="24" name="Text 17">
            <a:extLst xmlns:a="http://schemas.openxmlformats.org/drawingml/2006/main">
              <a:ext uri="{FF2B5EF4-FFF2-40B4-BE49-F238E27FC236}">
                <a16:creationId xmlns:a16="http://schemas.microsoft.com/office/drawing/2014/main" id="{041B1E79-FDCE-4C40-8D3E-39C0F6AED68E}"/>
              </a:ext>
            </a:extLst>
          </p:cNvPr>
          <p:cNvSpPr>
            <a:spLocks xmlns:a="http://schemas.openxmlformats.org/drawingml/2006/main" noGrp="1"/>
          </p:cNvSpPr>
          <p:nvPr/>
        </p:nvSpPr>
        <p:spPr>
          <a:xfrm xmlns:a="http://schemas.openxmlformats.org/drawingml/2006/main">
            <a:off x="2148840" y="550468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Chênh lệch xuất – nhập</a:t>
            </a:r>
            <a:endParaRPr sz="1350"/>
          </a:p>
        </p:txBody>
      </p:sp>
      <p:sp>
        <p:nvSpPr>
          <p:cNvPr id="25" name="Text 18">
            <a:extLst xmlns:a="http://schemas.openxmlformats.org/drawingml/2006/main">
              <a:ext uri="{FF2B5EF4-FFF2-40B4-BE49-F238E27FC236}">
                <a16:creationId xmlns:a16="http://schemas.microsoft.com/office/drawing/2014/main" id="{4F16E395-BF4F-4275-8F34-3BF5B466FEA9}"/>
              </a:ext>
            </a:extLst>
          </p:cNvPr>
          <p:cNvSpPr>
            <a:spLocks xmlns:a="http://schemas.openxmlformats.org/drawingml/2006/main" noGrp="1"/>
          </p:cNvSpPr>
          <p:nvPr/>
        </p:nvSpPr>
        <p:spPr>
          <a:xfrm xmlns:a="http://schemas.openxmlformats.org/drawingml/2006/main">
            <a:off x="5349240" y="5486400"/>
            <a:ext cx="62636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Kim ngạch xuất nhập khẩu (Hải quan); luồng hàng hoá – dịch vụ trao đổi với các tỉnh khác (khó thu thập nhất).</a:t>
            </a:r>
            <a:endParaRPr sz="1100"/>
          </a:p>
        </p:txBody>
      </p:sp>
      <p:sp>
        <p:nvSpPr>
          <p:cNvPr id="26" name="Shape 19">
            <a:extLst xmlns:a="http://schemas.openxmlformats.org/drawingml/2006/main">
              <a:ext uri="{FF2B5EF4-FFF2-40B4-BE49-F238E27FC236}">
                <a16:creationId xmlns:a16="http://schemas.microsoft.com/office/drawing/2014/main" id="{2D581400-A38B-4B31-8ECF-3B791CB7595A}"/>
              </a:ext>
            </a:extLst>
          </p:cNvPr>
          <p:cNvSpPr>
            <a:spLocks xmlns:a="http://schemas.openxmlformats.org/drawingml/2006/main" noGrp="1"/>
          </p:cNvSpPr>
          <p:nvPr/>
        </p:nvSpPr>
        <p:spPr>
          <a:xfrm xmlns:a="http://schemas.openxmlformats.org/drawingml/2006/main">
            <a:off x="640080" y="6172200"/>
            <a:ext cx="11155680" cy="0"/>
          </a:xfrm>
          <a:prstGeom xmlns:a="http://schemas.openxmlformats.org/drawingml/2006/main" prst="roundRect">
            <a:avLst>
              <a:gd name="adj" fmla="val Infinity"/>
            </a:avLst>
          </a:prstGeom>
          <a:solidFill xmlns:a="http://schemas.openxmlformats.org/drawingml/2006/main">
            <a:srgbClr val="FFFFFF"/>
          </a:solidFill>
          <a:ln xmlns:a="http://schemas.openxmlformats.org/drawingml/2006/main" w="9525">
            <a:solidFill>
              <a:srgbClr val="E1E7F2"/>
            </a:solidFill>
            <a:prstDash val="solid"/>
          </a:ln>
        </p:spPr>
      </p:sp>
      <p:sp>
        <p:nvSpPr>
          <p:cNvPr id="27" name="Text 20">
            <a:extLst xmlns:a="http://schemas.openxmlformats.org/drawingml/2006/main">
              <a:ext uri="{FF2B5EF4-FFF2-40B4-BE49-F238E27FC236}">
                <a16:creationId xmlns:a16="http://schemas.microsoft.com/office/drawing/2014/main" id="{CFDC0A94-17C2-4215-9A67-BCFA798828E6}"/>
              </a:ext>
            </a:extLst>
          </p:cNvPr>
          <p:cNvSpPr>
            <a:spLocks xmlns:a="http://schemas.openxmlformats.org/drawingml/2006/main" noGrp="1"/>
          </p:cNvSpPr>
          <p:nvPr/>
        </p:nvSpPr>
        <p:spPr>
          <a:xfrm xmlns:a="http://schemas.openxmlformats.org/drawingml/2006/main">
            <a:off x="640080" y="6172200"/>
            <a:ext cx="11155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5A6377"/>
                </a:solidFill>
                <a:latin typeface="Calibri"/>
                <a:ea typeface="Calibri"/>
                <a:cs typeface="Calibri"/>
              </a:rPr>
              <a:t>Lưu ý: ở cấp tỉnh, luồng hàng hoá liên tỉnh không có chứng từ hải quan nên phải ước lượng — đây là nguồn sai số lớn nhất của phương pháp sử dụng cuối cùng.</a:t>
            </a:r>
            <a:endParaRPr sz="1150"/>
          </a:p>
        </p:txBody>
      </p:sp>
    </p:spTree>
    <p:extLst>
      <p:ext uri="{BB962C8B-B14F-4D97-AF65-F5344CB8AC3E}">
        <p14:creationId xmlns:p14="http://schemas.microsoft.com/office/powerpoint/2010/main" val="19075237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8AFF80-903F-43A5-9D32-49B1FFEB3DF4}"/>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Hai loại giá bắt buộc phải có song song</a:t>
            </a:r>
            <a:endParaRPr sz="3100"/>
          </a:p>
        </p:txBody>
      </p:sp>
      <p:sp>
        <p:nvSpPr>
          <p:cNvPr id="3" name="Text 1">
            <a:extLst xmlns:a="http://schemas.openxmlformats.org/drawingml/2006/main">
              <a:ext uri="{FF2B5EF4-FFF2-40B4-BE49-F238E27FC236}">
                <a16:creationId xmlns:a16="http://schemas.microsoft.com/office/drawing/2014/main" id="{FCD3E162-655B-4864-967F-C86F81DE5843}"/>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Thiếu một trong hai thì không thể vừa tính quy mô, vừa tính tốc độ tăng trưởng</a:t>
            </a:r>
            <a:endParaRPr sz="1400"/>
          </a:p>
        </p:txBody>
      </p:sp>
      <p:sp>
        <p:nvSpPr>
          <p:cNvPr id="4" name="Shape 2">
            <a:extLst xmlns:a="http://schemas.openxmlformats.org/drawingml/2006/main">
              <a:ext uri="{FF2B5EF4-FFF2-40B4-BE49-F238E27FC236}">
                <a16:creationId xmlns:a16="http://schemas.microsoft.com/office/drawing/2014/main" id="{5B4228F8-8F21-473C-92E8-DEDE27F25D6D}"/>
              </a:ext>
            </a:extLst>
          </p:cNvPr>
          <p:cNvSpPr>
            <a:spLocks xmlns:a="http://schemas.openxmlformats.org/drawingml/2006/main" noGrp="1"/>
          </p:cNvSpPr>
          <p:nvPr/>
        </p:nvSpPr>
        <p:spPr>
          <a:xfrm xmlns:a="http://schemas.openxmlformats.org/drawingml/2006/main">
            <a:off x="640080" y="1645920"/>
            <a:ext cx="5394960" cy="2514600"/>
          </a:xfrm>
          <a:prstGeom xmlns:a="http://schemas.openxmlformats.org/drawingml/2006/main" prst="roundRect">
            <a:avLst>
              <a:gd name="adj" fmla="val 2909"/>
            </a:avLst>
          </a:prstGeom>
          <a:solidFill xmlns:a="http://schemas.openxmlformats.org/drawingml/2006/main">
            <a:srgbClr val="FFFFFF"/>
          </a:solidFill>
          <a:ln xmlns:a="http://schemas.openxmlformats.org/drawingml/2006/main" w="9525">
            <a:solidFill>
              <a:srgbClr val="E1E7F2"/>
            </a:solidFill>
            <a:prstDash val="solid"/>
          </a:ln>
        </p:spPr>
      </p:sp>
      <p:sp>
        <p:nvSpPr>
          <p:cNvPr id="5" name="Shape 3">
            <a:extLst xmlns:a="http://schemas.openxmlformats.org/drawingml/2006/main">
              <a:ext uri="{FF2B5EF4-FFF2-40B4-BE49-F238E27FC236}">
                <a16:creationId xmlns:a16="http://schemas.microsoft.com/office/drawing/2014/main" id="{51B99486-80AC-404E-A665-B198B2B09124}"/>
              </a:ext>
            </a:extLst>
          </p:cNvPr>
          <p:cNvSpPr>
            <a:spLocks xmlns:a="http://schemas.openxmlformats.org/drawingml/2006/main" noGrp="1"/>
          </p:cNvSpPr>
          <p:nvPr/>
        </p:nvSpPr>
        <p:spPr>
          <a:xfrm xmlns:a="http://schemas.openxmlformats.org/drawingml/2006/main">
            <a:off x="640080" y="1691640"/>
            <a:ext cx="5394960" cy="640080"/>
          </a:xfrm>
          <a:prstGeom xmlns:a="http://schemas.openxmlformats.org/drawingml/2006/main" prst="roundRect">
            <a:avLst>
              <a:gd name="adj" fmla="val 10000"/>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2D0F8ECA-A225-497E-BFFC-FA6AE205FD59}"/>
              </a:ext>
            </a:extLst>
          </p:cNvPr>
          <p:cNvSpPr>
            <a:spLocks xmlns:a="http://schemas.openxmlformats.org/drawingml/2006/main" noGrp="1"/>
          </p:cNvSpPr>
          <p:nvPr/>
        </p:nvSpPr>
        <p:spPr>
          <a:xfrm xmlns:a="http://schemas.openxmlformats.org/drawingml/2006/main">
            <a:off x="914400" y="1691640"/>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Cambria"/>
                <a:ea typeface="Cambria"/>
                <a:cs typeface="Cambria"/>
              </a:rPr>
              <a:t>Giá hiện hành</a:t>
            </a:r>
            <a:endParaRPr sz="1900"/>
          </a:p>
        </p:txBody>
      </p:sp>
      <p:sp>
        <p:nvSpPr>
          <p:cNvPr id="7" name="Text 5">
            <a:extLst xmlns:a="http://schemas.openxmlformats.org/drawingml/2006/main">
              <a:ext uri="{FF2B5EF4-FFF2-40B4-BE49-F238E27FC236}">
                <a16:creationId xmlns:a16="http://schemas.microsoft.com/office/drawing/2014/main" id="{E51A0C1E-5784-4AC4-AF04-51458829E861}"/>
              </a:ext>
            </a:extLst>
          </p:cNvPr>
          <p:cNvSpPr>
            <a:spLocks xmlns:a="http://schemas.openxmlformats.org/drawingml/2006/main" noGrp="1"/>
          </p:cNvSpPr>
          <p:nvPr/>
        </p:nvSpPr>
        <p:spPr>
          <a:xfrm xmlns:a="http://schemas.openxmlformats.org/drawingml/2006/main">
            <a:off x="914400" y="2468880"/>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A6377"/>
                </a:solidFill>
                <a:latin typeface="Calibri"/>
                <a:ea typeface="Calibri"/>
                <a:cs typeface="Calibri"/>
              </a:rPr>
              <a:t>Giá của chính kỳ báo cáo</a:t>
            </a:r>
            <a:endParaRPr sz="1200"/>
          </a:p>
        </p:txBody>
      </p:sp>
      <p:sp>
        <p:nvSpPr>
          <p:cNvPr id="8" name="Text 6">
            <a:extLst xmlns:a="http://schemas.openxmlformats.org/drawingml/2006/main">
              <a:ext uri="{FF2B5EF4-FFF2-40B4-BE49-F238E27FC236}">
                <a16:creationId xmlns:a16="http://schemas.microsoft.com/office/drawing/2014/main" id="{E61D10BB-A7D7-4957-8EC7-15EA84FDAC56}"/>
              </a:ext>
            </a:extLst>
          </p:cNvPr>
          <p:cNvSpPr>
            <a:spLocks xmlns:a="http://schemas.openxmlformats.org/drawingml/2006/main" noGrp="1"/>
          </p:cNvSpPr>
          <p:nvPr/>
        </p:nvSpPr>
        <p:spPr>
          <a:xfrm xmlns:a="http://schemas.openxmlformats.org/drawingml/2006/main">
            <a:off x="960120" y="2834640"/>
            <a:ext cx="4754880" cy="1280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1000"/>
              </a:spcAft>
              <a:buSzPct val="100000"/>
              <a:buChar char="•"/>
            </a:pPr>
            <a:r>
              <a:rPr sz="1250">
                <a:solidFill>
                  <a:srgbClr val="202536"/>
                </a:solidFill>
                <a:latin typeface="Calibri"/>
                <a:ea typeface="Calibri"/>
                <a:cs typeface="Calibri"/>
              </a:rPr>
              <a:t>Dùng để tính QUY MÔ nền kinh tế và CƠ CẤU ngành (%)</a:t>
            </a:r>
            <a:endParaRPr sz="1250"/>
          </a:p>
          <a:p xmlns:a="http://schemas.openxmlformats.org/drawingml/2006/main">
            <a:pPr marL="342900" indent="-342900">
              <a:buSzPct val="100000"/>
              <a:buChar char="•"/>
            </a:pPr>
            <a:r>
              <a:rPr sz="1250">
                <a:solidFill>
                  <a:srgbClr val="202536"/>
                </a:solidFill>
                <a:latin typeface="Calibri"/>
                <a:ea typeface="Calibri"/>
                <a:cs typeface="Calibri"/>
              </a:rPr>
              <a:t>Không dùng để tính tốc độ tăng trưởng vì lẫn yếu tố lạm phát</a:t>
            </a:r>
            <a:endParaRPr sz="1250"/>
          </a:p>
        </p:txBody>
      </p:sp>
      <p:sp>
        <p:nvSpPr>
          <p:cNvPr id="9" name="Shape 7">
            <a:extLst xmlns:a="http://schemas.openxmlformats.org/drawingml/2006/main">
              <a:ext uri="{FF2B5EF4-FFF2-40B4-BE49-F238E27FC236}">
                <a16:creationId xmlns:a16="http://schemas.microsoft.com/office/drawing/2014/main" id="{20665F6A-A8DC-4B66-B029-E7581407F055}"/>
              </a:ext>
            </a:extLst>
          </p:cNvPr>
          <p:cNvSpPr>
            <a:spLocks xmlns:a="http://schemas.openxmlformats.org/drawingml/2006/main" noGrp="1"/>
          </p:cNvSpPr>
          <p:nvPr/>
        </p:nvSpPr>
        <p:spPr>
          <a:xfrm xmlns:a="http://schemas.openxmlformats.org/drawingml/2006/main">
            <a:off x="6309360" y="1645920"/>
            <a:ext cx="5394960" cy="2514600"/>
          </a:xfrm>
          <a:prstGeom xmlns:a="http://schemas.openxmlformats.org/drawingml/2006/main" prst="roundRect">
            <a:avLst>
              <a:gd name="adj" fmla="val 2909"/>
            </a:avLst>
          </a:prstGeom>
          <a:solidFill xmlns:a="http://schemas.openxmlformats.org/drawingml/2006/main">
            <a:srgbClr val="FFFFFF"/>
          </a:solidFill>
          <a:ln xmlns:a="http://schemas.openxmlformats.org/drawingml/2006/main" w="9525">
            <a:solidFill>
              <a:srgbClr val="E1E7F2"/>
            </a:solidFill>
            <a:prstDash val="solid"/>
          </a:ln>
        </p:spPr>
      </p:sp>
      <p:sp>
        <p:nvSpPr>
          <p:cNvPr id="10" name="Shape 8">
            <a:extLst xmlns:a="http://schemas.openxmlformats.org/drawingml/2006/main">
              <a:ext uri="{FF2B5EF4-FFF2-40B4-BE49-F238E27FC236}">
                <a16:creationId xmlns:a16="http://schemas.microsoft.com/office/drawing/2014/main" id="{88DE1E4A-2363-4787-BADC-BD99517D71D4}"/>
              </a:ext>
            </a:extLst>
          </p:cNvPr>
          <p:cNvSpPr>
            <a:spLocks xmlns:a="http://schemas.openxmlformats.org/drawingml/2006/main" noGrp="1"/>
          </p:cNvSpPr>
          <p:nvPr/>
        </p:nvSpPr>
        <p:spPr>
          <a:xfrm xmlns:a="http://schemas.openxmlformats.org/drawingml/2006/main">
            <a:off x="6309360" y="1691640"/>
            <a:ext cx="5394960" cy="640080"/>
          </a:xfrm>
          <a:prstGeom xmlns:a="http://schemas.openxmlformats.org/drawingml/2006/main" prst="roundRect">
            <a:avLst>
              <a:gd name="adj" fmla="val 10000"/>
            </a:avLst>
          </a:prstGeom>
          <a:solidFill xmlns:a="http://schemas.openxmlformats.org/drawingml/2006/main">
            <a:srgbClr val="1C7293"/>
          </a:solidFill>
        </p:spPr>
      </p:sp>
      <p:sp>
        <p:nvSpPr>
          <p:cNvPr id="11" name="Text 9">
            <a:extLst xmlns:a="http://schemas.openxmlformats.org/drawingml/2006/main">
              <a:ext uri="{FF2B5EF4-FFF2-40B4-BE49-F238E27FC236}">
                <a16:creationId xmlns:a16="http://schemas.microsoft.com/office/drawing/2014/main" id="{0756A036-EE7E-4ED7-AEF6-937FDBBB69DF}"/>
              </a:ext>
            </a:extLst>
          </p:cNvPr>
          <p:cNvSpPr>
            <a:spLocks xmlns:a="http://schemas.openxmlformats.org/drawingml/2006/main" noGrp="1"/>
          </p:cNvSpPr>
          <p:nvPr/>
        </p:nvSpPr>
        <p:spPr>
          <a:xfrm xmlns:a="http://schemas.openxmlformats.org/drawingml/2006/main">
            <a:off x="6583680" y="1691640"/>
            <a:ext cx="48463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Cambria"/>
                <a:ea typeface="Cambria"/>
                <a:cs typeface="Cambria"/>
              </a:rPr>
              <a:t>Giá so sánh</a:t>
            </a:r>
            <a:endParaRPr sz="1900"/>
          </a:p>
        </p:txBody>
      </p:sp>
      <p:sp>
        <p:nvSpPr>
          <p:cNvPr id="12" name="Text 10">
            <a:extLst xmlns:a="http://schemas.openxmlformats.org/drawingml/2006/main">
              <a:ext uri="{FF2B5EF4-FFF2-40B4-BE49-F238E27FC236}">
                <a16:creationId xmlns:a16="http://schemas.microsoft.com/office/drawing/2014/main" id="{B315CD2A-422A-4F3B-9B75-34D6CA37CB0F}"/>
              </a:ext>
            </a:extLst>
          </p:cNvPr>
          <p:cNvSpPr>
            <a:spLocks xmlns:a="http://schemas.openxmlformats.org/drawingml/2006/main" noGrp="1"/>
          </p:cNvSpPr>
          <p:nvPr/>
        </p:nvSpPr>
        <p:spPr>
          <a:xfrm xmlns:a="http://schemas.openxmlformats.org/drawingml/2006/main">
            <a:off x="6583680" y="2468880"/>
            <a:ext cx="4846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A6377"/>
                </a:solidFill>
                <a:latin typeface="Calibri"/>
                <a:ea typeface="Calibri"/>
                <a:cs typeface="Calibri"/>
              </a:rPr>
              <a:t>Quy về giá của năm gốc</a:t>
            </a:r>
            <a:endParaRPr sz="1200"/>
          </a:p>
        </p:txBody>
      </p:sp>
      <p:sp>
        <p:nvSpPr>
          <p:cNvPr id="13" name="Text 11">
            <a:extLst xmlns:a="http://schemas.openxmlformats.org/drawingml/2006/main">
              <a:ext uri="{FF2B5EF4-FFF2-40B4-BE49-F238E27FC236}">
                <a16:creationId xmlns:a16="http://schemas.microsoft.com/office/drawing/2014/main" id="{60031577-FB33-47A0-A4E3-ACEF8200B29B}"/>
              </a:ext>
            </a:extLst>
          </p:cNvPr>
          <p:cNvSpPr>
            <a:spLocks xmlns:a="http://schemas.openxmlformats.org/drawingml/2006/main" noGrp="1"/>
          </p:cNvSpPr>
          <p:nvPr/>
        </p:nvSpPr>
        <p:spPr>
          <a:xfrm xmlns:a="http://schemas.openxmlformats.org/drawingml/2006/main">
            <a:off x="6629400" y="2834640"/>
            <a:ext cx="4754880" cy="1280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1000"/>
              </a:spcAft>
              <a:buSzPct val="100000"/>
              <a:buChar char="•"/>
            </a:pPr>
            <a:r>
              <a:rPr sz="1250">
                <a:solidFill>
                  <a:srgbClr val="202536"/>
                </a:solidFill>
                <a:latin typeface="Calibri"/>
                <a:ea typeface="Calibri"/>
                <a:cs typeface="Calibri"/>
              </a:rPr>
              <a:t>Dùng để tính TỐC ĐỘ TĂNG TRƯỞNG thực</a:t>
            </a:r>
            <a:endParaRPr sz="1250"/>
          </a:p>
          <a:p xmlns:a="http://schemas.openxmlformats.org/drawingml/2006/main">
            <a:pPr marL="342900" indent="-342900">
              <a:buSzPct val="100000"/>
              <a:buChar char="•"/>
            </a:pPr>
            <a:r>
              <a:rPr sz="1250">
                <a:solidFill>
                  <a:srgbClr val="202536"/>
                </a:solidFill>
                <a:latin typeface="Calibri"/>
                <a:ea typeface="Calibri"/>
                <a:cs typeface="Calibri"/>
              </a:rPr>
              <a:t>Phải có chỉ số giá tương ứng từng ngành để giảm phát</a:t>
            </a:r>
            <a:endParaRPr sz="1250"/>
          </a:p>
        </p:txBody>
      </p:sp>
      <p:sp>
        <p:nvSpPr>
          <p:cNvPr id="14" name="Shape 12">
            <a:extLst xmlns:a="http://schemas.openxmlformats.org/drawingml/2006/main">
              <a:ext uri="{FF2B5EF4-FFF2-40B4-BE49-F238E27FC236}">
                <a16:creationId xmlns:a16="http://schemas.microsoft.com/office/drawing/2014/main" id="{2D1468AB-62FD-4B2F-90E0-08C3FE244D54}"/>
              </a:ext>
            </a:extLst>
          </p:cNvPr>
          <p:cNvSpPr>
            <a:spLocks xmlns:a="http://schemas.openxmlformats.org/drawingml/2006/main" noGrp="1"/>
          </p:cNvSpPr>
          <p:nvPr/>
        </p:nvSpPr>
        <p:spPr>
          <a:xfrm xmlns:a="http://schemas.openxmlformats.org/drawingml/2006/main">
            <a:off x="640080" y="4343400"/>
            <a:ext cx="5394960" cy="868680"/>
          </a:xfrm>
          <a:prstGeom xmlns:a="http://schemas.openxmlformats.org/drawingml/2006/main" prst="roundRect">
            <a:avLst>
              <a:gd name="adj" fmla="val 8421"/>
            </a:avLst>
          </a:prstGeom>
          <a:solidFill xmlns:a="http://schemas.openxmlformats.org/drawingml/2006/main">
            <a:srgbClr val="EEF3FF"/>
          </a:solidFill>
          <a:ln xmlns:a="http://schemas.openxmlformats.org/drawingml/2006/main" w="9525">
            <a:solidFill>
              <a:srgbClr val="E1E7F2"/>
            </a:solidFill>
            <a:prstDash val="solid"/>
          </a:ln>
        </p:spPr>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4a7a8a66882f4804"/>
          <a:stretch xmlns:a="http://schemas.openxmlformats.org/drawingml/2006/main">
            <a:fillRect l="0" t="0" r="0" b="0"/>
          </a:stretch>
        </p:blipFill>
        <p:spPr>
          <a:xfrm xmlns:a="http://schemas.openxmlformats.org/drawingml/2006/main">
            <a:off x="1417320" y="4453128"/>
            <a:ext cx="1737360" cy="542925"/>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FD38085D-8404-4E5B-AE14-2A019D47C513}"/>
              </a:ext>
            </a:extLst>
          </p:cNvPr>
          <p:cNvSpPr>
            <a:spLocks xmlns:a="http://schemas.openxmlformats.org/drawingml/2006/main" noGrp="1"/>
          </p:cNvSpPr>
          <p:nvPr/>
        </p:nvSpPr>
        <p:spPr>
          <a:xfrm xmlns:a="http://schemas.openxmlformats.org/drawingml/2006/main">
            <a:off x="3383280" y="4480560"/>
            <a:ext cx="24688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377"/>
                </a:solidFill>
                <a:latin typeface="Calibri"/>
                <a:ea typeface="Calibri"/>
                <a:cs typeface="Calibri"/>
              </a:rPr>
              <a:t>Giảm phát về giá so sánh</a:t>
            </a:r>
            <a:endParaRPr sz="1100"/>
          </a:p>
        </p:txBody>
      </p:sp>
      <p:sp>
        <p:nvSpPr>
          <p:cNvPr id="17" name="Shape 14">
            <a:extLst xmlns:a="http://schemas.openxmlformats.org/drawingml/2006/main">
              <a:ext uri="{FF2B5EF4-FFF2-40B4-BE49-F238E27FC236}">
                <a16:creationId xmlns:a16="http://schemas.microsoft.com/office/drawing/2014/main" id="{C618445A-4A94-424E-82D7-BBA25A523E99}"/>
              </a:ext>
            </a:extLst>
          </p:cNvPr>
          <p:cNvSpPr>
            <a:spLocks xmlns:a="http://schemas.openxmlformats.org/drawingml/2006/main" noGrp="1"/>
          </p:cNvSpPr>
          <p:nvPr/>
        </p:nvSpPr>
        <p:spPr>
          <a:xfrm xmlns:a="http://schemas.openxmlformats.org/drawingml/2006/main">
            <a:off x="6309360" y="4343400"/>
            <a:ext cx="5486400" cy="868680"/>
          </a:xfrm>
          <a:prstGeom xmlns:a="http://schemas.openxmlformats.org/drawingml/2006/main" prst="roundRect">
            <a:avLst>
              <a:gd name="adj" fmla="val 8421"/>
            </a:avLst>
          </a:prstGeom>
          <a:solidFill xmlns:a="http://schemas.openxmlformats.org/drawingml/2006/main">
            <a:srgbClr val="EEF3FF"/>
          </a:solidFill>
          <a:ln xmlns:a="http://schemas.openxmlformats.org/drawingml/2006/main" w="9525">
            <a:solidFill>
              <a:srgbClr val="E1E7F2"/>
            </a:solidFill>
            <a:prstDash val="solid"/>
          </a:ln>
        </p:spPr>
      </p:sp>
      <p:pic>
        <p:nvPicPr>
          <p:cNvPr id="41" name="Image 1"/>
          <p:cNvPicPr>
            <a:picLocks xmlns:a="http://schemas.openxmlformats.org/drawingml/2006/main" noChangeAspect="1"/>
          </p:cNvPicPr>
          <p:nvPr/>
        </p:nvPicPr>
        <p:blipFill>
          <a:blip xmlns:r="http://schemas.openxmlformats.org/officeDocument/2006/relationships" xmlns:a="http://schemas.openxmlformats.org/drawingml/2006/main" r:embed="Rc005fdb9d407417c"/>
          <a:stretch xmlns:a="http://schemas.openxmlformats.org/drawingml/2006/main">
            <a:fillRect l="0" t="0" r="0" b="0"/>
          </a:stretch>
        </p:blipFill>
        <p:spPr>
          <a:xfrm xmlns:a="http://schemas.openxmlformats.org/drawingml/2006/main">
            <a:off x="6720840" y="4553712"/>
            <a:ext cx="2743200" cy="496957"/>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A3D7B245-E807-41DA-9EEB-19243279CEC1}"/>
              </a:ext>
            </a:extLst>
          </p:cNvPr>
          <p:cNvSpPr>
            <a:spLocks xmlns:a="http://schemas.openxmlformats.org/drawingml/2006/main" noGrp="1"/>
          </p:cNvSpPr>
          <p:nvPr/>
        </p:nvSpPr>
        <p:spPr>
          <a:xfrm xmlns:a="http://schemas.openxmlformats.org/drawingml/2006/main">
            <a:off x="9601200" y="4480560"/>
            <a:ext cx="20116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377"/>
                </a:solidFill>
                <a:latin typeface="Calibri"/>
                <a:ea typeface="Calibri"/>
                <a:cs typeface="Calibri"/>
              </a:rPr>
              <a:t>Tốc độ tăng so cùng kỳ</a:t>
            </a:r>
            <a:endParaRPr sz="1100"/>
          </a:p>
        </p:txBody>
      </p:sp>
      <p:sp>
        <p:nvSpPr>
          <p:cNvPr id="20" name="Shape 16">
            <a:extLst xmlns:a="http://schemas.openxmlformats.org/drawingml/2006/main">
              <a:ext uri="{FF2B5EF4-FFF2-40B4-BE49-F238E27FC236}">
                <a16:creationId xmlns:a16="http://schemas.microsoft.com/office/drawing/2014/main" id="{DA68FAAC-16DE-44C5-A3D5-1CCD81E93220}"/>
              </a:ext>
            </a:extLst>
          </p:cNvPr>
          <p:cNvSpPr>
            <a:spLocks xmlns:a="http://schemas.openxmlformats.org/drawingml/2006/main" noGrp="1"/>
          </p:cNvSpPr>
          <p:nvPr/>
        </p:nvSpPr>
        <p:spPr>
          <a:xfrm xmlns:a="http://schemas.openxmlformats.org/drawingml/2006/main">
            <a:off x="640080" y="5349240"/>
            <a:ext cx="11155680" cy="914400"/>
          </a:xfrm>
          <a:prstGeom xmlns:a="http://schemas.openxmlformats.org/drawingml/2006/main" prst="roundRect">
            <a:avLst>
              <a:gd name="adj" fmla="val 8000"/>
            </a:avLst>
          </a:prstGeom>
          <a:solidFill xmlns:a="http://schemas.openxmlformats.org/drawingml/2006/main">
            <a:srgbClr val="FFF6DC"/>
          </a:solidFill>
          <a:ln xmlns:a="http://schemas.openxmlformats.org/drawingml/2006/main" w="9525">
            <a:solidFill>
              <a:srgbClr val="E1E7F2"/>
            </a:solidFill>
            <a:prstDash val="solid"/>
          </a:ln>
        </p:spPr>
      </p:sp>
      <p:sp>
        <p:nvSpPr>
          <p:cNvPr id="21" name="Text 17">
            <a:extLst xmlns:a="http://schemas.openxmlformats.org/drawingml/2006/main">
              <a:ext uri="{FF2B5EF4-FFF2-40B4-BE49-F238E27FC236}">
                <a16:creationId xmlns:a16="http://schemas.microsoft.com/office/drawing/2014/main" id="{D483A162-8239-493B-BF7D-8E8DA01842AA}"/>
              </a:ext>
            </a:extLst>
          </p:cNvPr>
          <p:cNvSpPr>
            <a:spLocks xmlns:a="http://schemas.openxmlformats.org/drawingml/2006/main" noGrp="1"/>
          </p:cNvSpPr>
          <p:nvPr/>
        </p:nvSpPr>
        <p:spPr>
          <a:xfrm xmlns:a="http://schemas.openxmlformats.org/drawingml/2006/main">
            <a:off x="914400" y="544068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8A6D00"/>
                </a:solidFill>
                <a:latin typeface="Calibri"/>
                <a:ea typeface="Calibri"/>
                <a:cs typeface="Calibri"/>
              </a:rPr>
              <a:t>Cảnh báo từ chính dữ liệu đang có</a:t>
            </a:r>
            <a:endParaRPr sz="1400"/>
          </a:p>
        </p:txBody>
      </p:sp>
      <p:sp>
        <p:nvSpPr>
          <p:cNvPr id="22" name="Text 18">
            <a:extLst xmlns:a="http://schemas.openxmlformats.org/drawingml/2006/main">
              <a:ext uri="{FF2B5EF4-FFF2-40B4-BE49-F238E27FC236}">
                <a16:creationId xmlns:a16="http://schemas.microsoft.com/office/drawing/2014/main" id="{D319A9A6-0E9A-4560-93C2-C26B929D9662}"/>
              </a:ext>
            </a:extLst>
          </p:cNvPr>
          <p:cNvSpPr>
            <a:spLocks xmlns:a="http://schemas.openxmlformats.org/drawingml/2006/main" noGrp="1"/>
          </p:cNvSpPr>
          <p:nvPr/>
        </p:nvSpPr>
        <p:spPr>
          <a:xfrm xmlns:a="http://schemas.openxmlformats.org/drawingml/2006/main">
            <a:off x="914400" y="5742432"/>
            <a:ext cx="106070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600"/>
              </a:spcAft>
              <a:buSzPct val="100000"/>
              <a:buChar char="•"/>
            </a:pPr>
            <a:r>
              <a:rPr sz="1050">
                <a:solidFill>
                  <a:srgbClr val="202536"/>
                </a:solidFill>
                <a:latin typeface="Calibri"/>
                <a:ea typeface="Calibri"/>
                <a:cs typeface="Calibri"/>
              </a:rPr>
              <a:t>Năm 2025 dùng "Giá so sánh 2010"; từ Quý I/2026 chuyển sang "Giá so sánh 2020" → chuỗi số liệu bị gãy, không so sánh trực tiếp được nếu chưa hồi quy chuỗi về cùng năm gốc.</a:t>
            </a:r>
            <a:endParaRPr sz="1050"/>
          </a:p>
          <a:p xmlns:a="http://schemas.openxmlformats.org/drawingml/2006/main">
            <a:pPr marL="342900" indent="-342900">
              <a:buSzPct val="100000"/>
              <a:buChar char="•"/>
            </a:pPr>
            <a:r>
              <a:rPr sz="1050">
                <a:solidFill>
                  <a:srgbClr val="202536"/>
                </a:solidFill>
                <a:latin typeface="Calibri"/>
                <a:ea typeface="Calibri"/>
                <a:cs typeface="Calibri"/>
              </a:rPr>
              <a:t>Các dòng Quý III và Quý IV/2026 trong file vẫn ghi nhãn "Giá so sánh 2010" trong khi Quý I–II/2026 là 2020 → lỗi metadata cần chuẩn hoá trước khi nạp kho dữ liệu.</a:t>
            </a:r>
            <a:endParaRPr sz="1050"/>
          </a:p>
        </p:txBody>
      </p:sp>
    </p:spTree>
    <p:extLst>
      <p:ext uri="{BB962C8B-B14F-4D97-AF65-F5344CB8AC3E}">
        <p14:creationId xmlns:p14="http://schemas.microsoft.com/office/powerpoint/2010/main" val="9608601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0D6E02-1602-4D75-87FC-4FA6BE2743F0}"/>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Cấu trúc file dữ liệu hiện có: 9 trường, 128 dòng</a:t>
            </a:r>
            <a:endParaRPr sz="3100"/>
          </a:p>
        </p:txBody>
      </p:sp>
      <p:sp>
        <p:nvSpPr>
          <p:cNvPr id="3" name="Text 1">
            <a:extLst xmlns:a="http://schemas.openxmlformats.org/drawingml/2006/main">
              <a:ext uri="{FF2B5EF4-FFF2-40B4-BE49-F238E27FC236}">
                <a16:creationId xmlns:a16="http://schemas.microsoft.com/office/drawing/2014/main" id="{FA93316E-7827-4B3F-BB95-AEB135F015AF}"/>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Đây là bảng KẾT QUẢ — đủ để hiển thị dashboard, chưa đủ để tính toán và kiểm chứng</a:t>
            </a:r>
            <a:endParaRPr sz="1400"/>
          </a:p>
        </p:txBody>
      </p:sp>
      <p:sp>
        <p:nvSpPr>
          <p:cNvPr id="4" name="Shape 2">
            <a:extLst xmlns:a="http://schemas.openxmlformats.org/drawingml/2006/main">
              <a:ext uri="{FF2B5EF4-FFF2-40B4-BE49-F238E27FC236}">
                <a16:creationId xmlns:a16="http://schemas.microsoft.com/office/drawing/2014/main" id="{703E5CC1-B3AC-4BAA-82E6-D21C31CA590B}"/>
              </a:ext>
            </a:extLst>
          </p:cNvPr>
          <p:cNvSpPr>
            <a:spLocks xmlns:a="http://schemas.openxmlformats.org/drawingml/2006/main" noGrp="1"/>
          </p:cNvSpPr>
          <p:nvPr/>
        </p:nvSpPr>
        <p:spPr>
          <a:xfrm xmlns:a="http://schemas.openxmlformats.org/drawingml/2006/main">
            <a:off x="640080" y="169164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5" name="Text 3">
            <a:extLst xmlns:a="http://schemas.openxmlformats.org/drawingml/2006/main">
              <a:ext uri="{FF2B5EF4-FFF2-40B4-BE49-F238E27FC236}">
                <a16:creationId xmlns:a16="http://schemas.microsoft.com/office/drawing/2014/main" id="{21BFB0DB-7565-43EF-99E3-1891E7817F8E}"/>
              </a:ext>
            </a:extLst>
          </p:cNvPr>
          <p:cNvSpPr>
            <a:spLocks xmlns:a="http://schemas.openxmlformats.org/drawingml/2006/main" noGrp="1"/>
          </p:cNvSpPr>
          <p:nvPr/>
        </p:nvSpPr>
        <p:spPr>
          <a:xfrm xmlns:a="http://schemas.openxmlformats.org/drawingml/2006/main">
            <a:off x="822960" y="174650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STT</a:t>
            </a:r>
            <a:endParaRPr sz="1300"/>
          </a:p>
        </p:txBody>
      </p:sp>
      <p:sp>
        <p:nvSpPr>
          <p:cNvPr id="6" name="Text 4">
            <a:extLst xmlns:a="http://schemas.openxmlformats.org/drawingml/2006/main">
              <a:ext uri="{FF2B5EF4-FFF2-40B4-BE49-F238E27FC236}">
                <a16:creationId xmlns:a16="http://schemas.microsoft.com/office/drawing/2014/main" id="{EE635EB0-B563-4B61-9432-082F58946E74}"/>
              </a:ext>
            </a:extLst>
          </p:cNvPr>
          <p:cNvSpPr>
            <a:spLocks xmlns:a="http://schemas.openxmlformats.org/drawingml/2006/main" noGrp="1"/>
          </p:cNvSpPr>
          <p:nvPr/>
        </p:nvSpPr>
        <p:spPr>
          <a:xfrm xmlns:a="http://schemas.openxmlformats.org/drawingml/2006/main">
            <a:off x="822960" y="203911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Mã phân cấp chỉ tiêu (I, 1.0, 1.1 …)</a:t>
            </a:r>
            <a:endParaRPr sz="1050"/>
          </a:p>
        </p:txBody>
      </p:sp>
      <p:sp>
        <p:nvSpPr>
          <p:cNvPr id="7" name="Text 5">
            <a:extLst xmlns:a="http://schemas.openxmlformats.org/drawingml/2006/main">
              <a:ext uri="{FF2B5EF4-FFF2-40B4-BE49-F238E27FC236}">
                <a16:creationId xmlns:a16="http://schemas.microsoft.com/office/drawing/2014/main" id="{8F319C69-D715-4B54-88F4-56D0CCAA5C66}"/>
              </a:ext>
            </a:extLst>
          </p:cNvPr>
          <p:cNvSpPr>
            <a:spLocks xmlns:a="http://schemas.openxmlformats.org/drawingml/2006/main" noGrp="1"/>
          </p:cNvSpPr>
          <p:nvPr/>
        </p:nvSpPr>
        <p:spPr>
          <a:xfrm xmlns:a="http://schemas.openxmlformats.org/drawingml/2006/main">
            <a:off x="822960" y="226771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Khoá phân cấp</a:t>
            </a:r>
            <a:endParaRPr sz="950"/>
          </a:p>
        </p:txBody>
      </p:sp>
      <p:sp>
        <p:nvSpPr>
          <p:cNvPr id="8" name="Shape 6">
            <a:extLst xmlns:a="http://schemas.openxmlformats.org/drawingml/2006/main">
              <a:ext uri="{FF2B5EF4-FFF2-40B4-BE49-F238E27FC236}">
                <a16:creationId xmlns:a16="http://schemas.microsoft.com/office/drawing/2014/main" id="{5BF4C700-12DA-48FB-AB28-CE34513B5A72}"/>
              </a:ext>
            </a:extLst>
          </p:cNvPr>
          <p:cNvSpPr>
            <a:spLocks xmlns:a="http://schemas.openxmlformats.org/drawingml/2006/main" noGrp="1"/>
          </p:cNvSpPr>
          <p:nvPr/>
        </p:nvSpPr>
        <p:spPr>
          <a:xfrm xmlns:a="http://schemas.openxmlformats.org/drawingml/2006/main">
            <a:off x="4434840" y="169164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9" name="Text 7">
            <a:extLst xmlns:a="http://schemas.openxmlformats.org/drawingml/2006/main">
              <a:ext uri="{FF2B5EF4-FFF2-40B4-BE49-F238E27FC236}">
                <a16:creationId xmlns:a16="http://schemas.microsoft.com/office/drawing/2014/main" id="{808F69D7-C417-497D-85A2-64455AB5BECC}"/>
              </a:ext>
            </a:extLst>
          </p:cNvPr>
          <p:cNvSpPr>
            <a:spLocks xmlns:a="http://schemas.openxmlformats.org/drawingml/2006/main" noGrp="1"/>
          </p:cNvSpPr>
          <p:nvPr/>
        </p:nvSpPr>
        <p:spPr>
          <a:xfrm xmlns:a="http://schemas.openxmlformats.org/drawingml/2006/main">
            <a:off x="4617720" y="174650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Chỉ tiêu</a:t>
            </a:r>
            <a:endParaRPr sz="1300"/>
          </a:p>
        </p:txBody>
      </p:sp>
      <p:sp>
        <p:nvSpPr>
          <p:cNvPr id="10" name="Text 8">
            <a:extLst xmlns:a="http://schemas.openxmlformats.org/drawingml/2006/main">
              <a:ext uri="{FF2B5EF4-FFF2-40B4-BE49-F238E27FC236}">
                <a16:creationId xmlns:a16="http://schemas.microsoft.com/office/drawing/2014/main" id="{CD137885-B476-4BB7-B948-0FD8CCBB5E52}"/>
              </a:ext>
            </a:extLst>
          </p:cNvPr>
          <p:cNvSpPr>
            <a:spLocks xmlns:a="http://schemas.openxmlformats.org/drawingml/2006/main" noGrp="1"/>
          </p:cNvSpPr>
          <p:nvPr/>
        </p:nvSpPr>
        <p:spPr>
          <a:xfrm xmlns:a="http://schemas.openxmlformats.org/drawingml/2006/main">
            <a:off x="4617720" y="203911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Tên ngành/khoản mục</a:t>
            </a:r>
            <a:endParaRPr sz="1050"/>
          </a:p>
        </p:txBody>
      </p:sp>
      <p:sp>
        <p:nvSpPr>
          <p:cNvPr id="11" name="Text 9">
            <a:extLst xmlns:a="http://schemas.openxmlformats.org/drawingml/2006/main">
              <a:ext uri="{FF2B5EF4-FFF2-40B4-BE49-F238E27FC236}">
                <a16:creationId xmlns:a16="http://schemas.microsoft.com/office/drawing/2014/main" id="{83B8E52A-3940-44FA-AA39-D253C0D0D7A2}"/>
              </a:ext>
            </a:extLst>
          </p:cNvPr>
          <p:cNvSpPr>
            <a:spLocks xmlns:a="http://schemas.openxmlformats.org/drawingml/2006/main" noGrp="1"/>
          </p:cNvSpPr>
          <p:nvPr/>
        </p:nvSpPr>
        <p:spPr>
          <a:xfrm xmlns:a="http://schemas.openxmlformats.org/drawingml/2006/main">
            <a:off x="4617720" y="226771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Chiều ngành</a:t>
            </a:r>
            <a:endParaRPr sz="950"/>
          </a:p>
        </p:txBody>
      </p:sp>
      <p:sp>
        <p:nvSpPr>
          <p:cNvPr id="12" name="Shape 10">
            <a:extLst xmlns:a="http://schemas.openxmlformats.org/drawingml/2006/main">
              <a:ext uri="{FF2B5EF4-FFF2-40B4-BE49-F238E27FC236}">
                <a16:creationId xmlns:a16="http://schemas.microsoft.com/office/drawing/2014/main" id="{5EF153AD-A3C3-4A38-B00F-896D1F74B956}"/>
              </a:ext>
            </a:extLst>
          </p:cNvPr>
          <p:cNvSpPr>
            <a:spLocks xmlns:a="http://schemas.openxmlformats.org/drawingml/2006/main" noGrp="1"/>
          </p:cNvSpPr>
          <p:nvPr/>
        </p:nvSpPr>
        <p:spPr>
          <a:xfrm xmlns:a="http://schemas.openxmlformats.org/drawingml/2006/main">
            <a:off x="8229600" y="169164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13" name="Text 11">
            <a:extLst xmlns:a="http://schemas.openxmlformats.org/drawingml/2006/main">
              <a:ext uri="{FF2B5EF4-FFF2-40B4-BE49-F238E27FC236}">
                <a16:creationId xmlns:a16="http://schemas.microsoft.com/office/drawing/2014/main" id="{055D0EC4-1329-4D31-BC8A-7462CFEB41B2}"/>
              </a:ext>
            </a:extLst>
          </p:cNvPr>
          <p:cNvSpPr>
            <a:spLocks xmlns:a="http://schemas.openxmlformats.org/drawingml/2006/main" noGrp="1"/>
          </p:cNvSpPr>
          <p:nvPr/>
        </p:nvSpPr>
        <p:spPr>
          <a:xfrm xmlns:a="http://schemas.openxmlformats.org/drawingml/2006/main">
            <a:off x="8412480" y="174650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Năm</a:t>
            </a:r>
            <a:endParaRPr sz="1300"/>
          </a:p>
        </p:txBody>
      </p:sp>
      <p:sp>
        <p:nvSpPr>
          <p:cNvPr id="14" name="Text 12">
            <a:extLst xmlns:a="http://schemas.openxmlformats.org/drawingml/2006/main">
              <a:ext uri="{FF2B5EF4-FFF2-40B4-BE49-F238E27FC236}">
                <a16:creationId xmlns:a16="http://schemas.microsoft.com/office/drawing/2014/main" id="{B3E723D6-BE79-418B-BB80-18D5957C57FB}"/>
              </a:ext>
            </a:extLst>
          </p:cNvPr>
          <p:cNvSpPr>
            <a:spLocks xmlns:a="http://schemas.openxmlformats.org/drawingml/2006/main" noGrp="1"/>
          </p:cNvSpPr>
          <p:nvPr/>
        </p:nvSpPr>
        <p:spPr>
          <a:xfrm xmlns:a="http://schemas.openxmlformats.org/drawingml/2006/main">
            <a:off x="8412480" y="203911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Năm 2025 / Năm 2026</a:t>
            </a:r>
            <a:endParaRPr sz="1050"/>
          </a:p>
        </p:txBody>
      </p:sp>
      <p:sp>
        <p:nvSpPr>
          <p:cNvPr id="15" name="Text 13">
            <a:extLst xmlns:a="http://schemas.openxmlformats.org/drawingml/2006/main">
              <a:ext uri="{FF2B5EF4-FFF2-40B4-BE49-F238E27FC236}">
                <a16:creationId xmlns:a16="http://schemas.microsoft.com/office/drawing/2014/main" id="{6D0A1850-CEDD-415E-8401-A5BC303D13A9}"/>
              </a:ext>
            </a:extLst>
          </p:cNvPr>
          <p:cNvSpPr>
            <a:spLocks xmlns:a="http://schemas.openxmlformats.org/drawingml/2006/main" noGrp="1"/>
          </p:cNvSpPr>
          <p:nvPr/>
        </p:nvSpPr>
        <p:spPr>
          <a:xfrm xmlns:a="http://schemas.openxmlformats.org/drawingml/2006/main">
            <a:off x="8412480" y="226771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Chiều thời gian</a:t>
            </a:r>
            <a:endParaRPr sz="950"/>
          </a:p>
        </p:txBody>
      </p:sp>
      <p:sp>
        <p:nvSpPr>
          <p:cNvPr id="16" name="Shape 14">
            <a:extLst xmlns:a="http://schemas.openxmlformats.org/drawingml/2006/main">
              <a:ext uri="{FF2B5EF4-FFF2-40B4-BE49-F238E27FC236}">
                <a16:creationId xmlns:a16="http://schemas.microsoft.com/office/drawing/2014/main" id="{FA4208DC-DC36-46F9-B486-B3DE6FFE2430}"/>
              </a:ext>
            </a:extLst>
          </p:cNvPr>
          <p:cNvSpPr>
            <a:spLocks xmlns:a="http://schemas.openxmlformats.org/drawingml/2006/main" noGrp="1"/>
          </p:cNvSpPr>
          <p:nvPr/>
        </p:nvSpPr>
        <p:spPr>
          <a:xfrm xmlns:a="http://schemas.openxmlformats.org/drawingml/2006/main">
            <a:off x="640080" y="265176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17" name="Text 15">
            <a:extLst xmlns:a="http://schemas.openxmlformats.org/drawingml/2006/main">
              <a:ext uri="{FF2B5EF4-FFF2-40B4-BE49-F238E27FC236}">
                <a16:creationId xmlns:a16="http://schemas.microsoft.com/office/drawing/2014/main" id="{7BD0B67E-01C1-4DE6-9F0B-D4CCDA1927B4}"/>
              </a:ext>
            </a:extLst>
          </p:cNvPr>
          <p:cNvSpPr>
            <a:spLocks xmlns:a="http://schemas.openxmlformats.org/drawingml/2006/main" noGrp="1"/>
          </p:cNvSpPr>
          <p:nvPr/>
        </p:nvSpPr>
        <p:spPr>
          <a:xfrm xmlns:a="http://schemas.openxmlformats.org/drawingml/2006/main">
            <a:off x="822960" y="270662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Kỳ báo cáo</a:t>
            </a:r>
            <a:endParaRPr sz="1300"/>
          </a:p>
        </p:txBody>
      </p:sp>
      <p:sp>
        <p:nvSpPr>
          <p:cNvPr id="18" name="Text 16">
            <a:extLst xmlns:a="http://schemas.openxmlformats.org/drawingml/2006/main">
              <a:ext uri="{FF2B5EF4-FFF2-40B4-BE49-F238E27FC236}">
                <a16:creationId xmlns:a16="http://schemas.microsoft.com/office/drawing/2014/main" id="{EDFD5C12-03E2-48DF-A8AF-83F6694198A0}"/>
              </a:ext>
            </a:extLst>
          </p:cNvPr>
          <p:cNvSpPr>
            <a:spLocks xmlns:a="http://schemas.openxmlformats.org/drawingml/2006/main" noGrp="1"/>
          </p:cNvSpPr>
          <p:nvPr/>
        </p:nvSpPr>
        <p:spPr>
          <a:xfrm xmlns:a="http://schemas.openxmlformats.org/drawingml/2006/main">
            <a:off x="822960" y="299923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Quý I → Quý IV</a:t>
            </a:r>
            <a:endParaRPr sz="1050"/>
          </a:p>
        </p:txBody>
      </p:sp>
      <p:sp>
        <p:nvSpPr>
          <p:cNvPr id="19" name="Text 17">
            <a:extLst xmlns:a="http://schemas.openxmlformats.org/drawingml/2006/main">
              <a:ext uri="{FF2B5EF4-FFF2-40B4-BE49-F238E27FC236}">
                <a16:creationId xmlns:a16="http://schemas.microsoft.com/office/drawing/2014/main" id="{4E1C8E3C-7D81-4F8F-A747-FF87DB44C739}"/>
              </a:ext>
            </a:extLst>
          </p:cNvPr>
          <p:cNvSpPr>
            <a:spLocks xmlns:a="http://schemas.openxmlformats.org/drawingml/2006/main" noGrp="1"/>
          </p:cNvSpPr>
          <p:nvPr/>
        </p:nvSpPr>
        <p:spPr>
          <a:xfrm xmlns:a="http://schemas.openxmlformats.org/drawingml/2006/main">
            <a:off x="822960" y="322783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Chiều thời gian</a:t>
            </a:r>
            <a:endParaRPr sz="950"/>
          </a:p>
        </p:txBody>
      </p:sp>
      <p:sp>
        <p:nvSpPr>
          <p:cNvPr id="20" name="Shape 18">
            <a:extLst xmlns:a="http://schemas.openxmlformats.org/drawingml/2006/main">
              <a:ext uri="{FF2B5EF4-FFF2-40B4-BE49-F238E27FC236}">
                <a16:creationId xmlns:a16="http://schemas.microsoft.com/office/drawing/2014/main" id="{9313AF51-F933-4BE1-87D2-382FF7B417E6}"/>
              </a:ext>
            </a:extLst>
          </p:cNvPr>
          <p:cNvSpPr>
            <a:spLocks xmlns:a="http://schemas.openxmlformats.org/drawingml/2006/main" noGrp="1"/>
          </p:cNvSpPr>
          <p:nvPr/>
        </p:nvSpPr>
        <p:spPr>
          <a:xfrm xmlns:a="http://schemas.openxmlformats.org/drawingml/2006/main">
            <a:off x="4434840" y="265176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21" name="Text 19">
            <a:extLst xmlns:a="http://schemas.openxmlformats.org/drawingml/2006/main">
              <a:ext uri="{FF2B5EF4-FFF2-40B4-BE49-F238E27FC236}">
                <a16:creationId xmlns:a16="http://schemas.microsoft.com/office/drawing/2014/main" id="{C9CAA737-3732-4187-ACE7-B3CBD3128CA1}"/>
              </a:ext>
            </a:extLst>
          </p:cNvPr>
          <p:cNvSpPr>
            <a:spLocks xmlns:a="http://schemas.openxmlformats.org/drawingml/2006/main" noGrp="1"/>
          </p:cNvSpPr>
          <p:nvPr/>
        </p:nvSpPr>
        <p:spPr>
          <a:xfrm xmlns:a="http://schemas.openxmlformats.org/drawingml/2006/main">
            <a:off x="4617720" y="270662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Phân loại</a:t>
            </a:r>
            <a:endParaRPr sz="1300"/>
          </a:p>
        </p:txBody>
      </p:sp>
      <p:sp>
        <p:nvSpPr>
          <p:cNvPr id="22" name="Text 20">
            <a:extLst xmlns:a="http://schemas.openxmlformats.org/drawingml/2006/main">
              <a:ext uri="{FF2B5EF4-FFF2-40B4-BE49-F238E27FC236}">
                <a16:creationId xmlns:a16="http://schemas.microsoft.com/office/drawing/2014/main" id="{2C4064A5-039B-4C6B-9DEC-9EB06B4077AE}"/>
              </a:ext>
            </a:extLst>
          </p:cNvPr>
          <p:cNvSpPr>
            <a:spLocks xmlns:a="http://schemas.openxmlformats.org/drawingml/2006/main" noGrp="1"/>
          </p:cNvSpPr>
          <p:nvPr/>
        </p:nvSpPr>
        <p:spPr>
          <a:xfrm xmlns:a="http://schemas.openxmlformats.org/drawingml/2006/main">
            <a:off x="4617720" y="299923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Giá hiện hành / Giá so sánh</a:t>
            </a:r>
            <a:endParaRPr sz="1050"/>
          </a:p>
        </p:txBody>
      </p:sp>
      <p:sp>
        <p:nvSpPr>
          <p:cNvPr id="23" name="Text 21">
            <a:extLst xmlns:a="http://schemas.openxmlformats.org/drawingml/2006/main">
              <a:ext uri="{FF2B5EF4-FFF2-40B4-BE49-F238E27FC236}">
                <a16:creationId xmlns:a16="http://schemas.microsoft.com/office/drawing/2014/main" id="{9948B5F9-E97A-4255-8905-339B34B67B29}"/>
              </a:ext>
            </a:extLst>
          </p:cNvPr>
          <p:cNvSpPr>
            <a:spLocks xmlns:a="http://schemas.openxmlformats.org/drawingml/2006/main" noGrp="1"/>
          </p:cNvSpPr>
          <p:nvPr/>
        </p:nvSpPr>
        <p:spPr>
          <a:xfrm xmlns:a="http://schemas.openxmlformats.org/drawingml/2006/main">
            <a:off x="4617720" y="322783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Chiều loại giá</a:t>
            </a:r>
            <a:endParaRPr sz="950"/>
          </a:p>
        </p:txBody>
      </p:sp>
      <p:sp>
        <p:nvSpPr>
          <p:cNvPr id="24" name="Shape 22">
            <a:extLst xmlns:a="http://schemas.openxmlformats.org/drawingml/2006/main">
              <a:ext uri="{FF2B5EF4-FFF2-40B4-BE49-F238E27FC236}">
                <a16:creationId xmlns:a16="http://schemas.microsoft.com/office/drawing/2014/main" id="{33B5C437-F472-4447-AB51-80C76EBF5BAE}"/>
              </a:ext>
            </a:extLst>
          </p:cNvPr>
          <p:cNvSpPr>
            <a:spLocks xmlns:a="http://schemas.openxmlformats.org/drawingml/2006/main" noGrp="1"/>
          </p:cNvSpPr>
          <p:nvPr/>
        </p:nvSpPr>
        <p:spPr>
          <a:xfrm xmlns:a="http://schemas.openxmlformats.org/drawingml/2006/main">
            <a:off x="8229600" y="265176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25" name="Text 23">
            <a:extLst xmlns:a="http://schemas.openxmlformats.org/drawingml/2006/main">
              <a:ext uri="{FF2B5EF4-FFF2-40B4-BE49-F238E27FC236}">
                <a16:creationId xmlns:a16="http://schemas.microsoft.com/office/drawing/2014/main" id="{603E90E4-320D-4B6F-9AF5-FCC6335021A9}"/>
              </a:ext>
            </a:extLst>
          </p:cNvPr>
          <p:cNvSpPr>
            <a:spLocks xmlns:a="http://schemas.openxmlformats.org/drawingml/2006/main" noGrp="1"/>
          </p:cNvSpPr>
          <p:nvPr/>
        </p:nvSpPr>
        <p:spPr>
          <a:xfrm xmlns:a="http://schemas.openxmlformats.org/drawingml/2006/main">
            <a:off x="8412480" y="270662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Giá trị (tỷ đồng)</a:t>
            </a:r>
            <a:endParaRPr sz="1300"/>
          </a:p>
        </p:txBody>
      </p:sp>
      <p:sp>
        <p:nvSpPr>
          <p:cNvPr id="26" name="Text 24">
            <a:extLst xmlns:a="http://schemas.openxmlformats.org/drawingml/2006/main">
              <a:ext uri="{FF2B5EF4-FFF2-40B4-BE49-F238E27FC236}">
                <a16:creationId xmlns:a16="http://schemas.microsoft.com/office/drawing/2014/main" id="{BB6D622D-60AD-4EFF-A150-35574853C40F}"/>
              </a:ext>
            </a:extLst>
          </p:cNvPr>
          <p:cNvSpPr>
            <a:spLocks xmlns:a="http://schemas.openxmlformats.org/drawingml/2006/main" noGrp="1"/>
          </p:cNvSpPr>
          <p:nvPr/>
        </p:nvSpPr>
        <p:spPr>
          <a:xfrm xmlns:a="http://schemas.openxmlformats.org/drawingml/2006/main">
            <a:off x="8412480" y="299923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Giá trị kỳ báo cáo</a:t>
            </a:r>
            <a:endParaRPr sz="1050"/>
          </a:p>
        </p:txBody>
      </p:sp>
      <p:sp>
        <p:nvSpPr>
          <p:cNvPr id="27" name="Text 25">
            <a:extLst xmlns:a="http://schemas.openxmlformats.org/drawingml/2006/main">
              <a:ext uri="{FF2B5EF4-FFF2-40B4-BE49-F238E27FC236}">
                <a16:creationId xmlns:a16="http://schemas.microsoft.com/office/drawing/2014/main" id="{2EED0D78-C7EC-4DAA-BBD8-488EC61B2587}"/>
              </a:ext>
            </a:extLst>
          </p:cNvPr>
          <p:cNvSpPr>
            <a:spLocks xmlns:a="http://schemas.openxmlformats.org/drawingml/2006/main" noGrp="1"/>
          </p:cNvSpPr>
          <p:nvPr/>
        </p:nvSpPr>
        <p:spPr>
          <a:xfrm xmlns:a="http://schemas.openxmlformats.org/drawingml/2006/main">
            <a:off x="8412480" y="322783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Đo lường</a:t>
            </a:r>
            <a:endParaRPr sz="950"/>
          </a:p>
        </p:txBody>
      </p:sp>
      <p:sp>
        <p:nvSpPr>
          <p:cNvPr id="28" name="Shape 26">
            <a:extLst xmlns:a="http://schemas.openxmlformats.org/drawingml/2006/main">
              <a:ext uri="{FF2B5EF4-FFF2-40B4-BE49-F238E27FC236}">
                <a16:creationId xmlns:a16="http://schemas.microsoft.com/office/drawing/2014/main" id="{29A89E8A-5800-4DEB-8665-440ADC9C10D1}"/>
              </a:ext>
            </a:extLst>
          </p:cNvPr>
          <p:cNvSpPr>
            <a:spLocks xmlns:a="http://schemas.openxmlformats.org/drawingml/2006/main" noGrp="1"/>
          </p:cNvSpPr>
          <p:nvPr/>
        </p:nvSpPr>
        <p:spPr>
          <a:xfrm xmlns:a="http://schemas.openxmlformats.org/drawingml/2006/main">
            <a:off x="640080" y="361188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29" name="Text 27">
            <a:extLst xmlns:a="http://schemas.openxmlformats.org/drawingml/2006/main">
              <a:ext uri="{FF2B5EF4-FFF2-40B4-BE49-F238E27FC236}">
                <a16:creationId xmlns:a16="http://schemas.microsoft.com/office/drawing/2014/main" id="{7F6EB6DF-6FCF-4364-A811-180FF6AC7FA0}"/>
              </a:ext>
            </a:extLst>
          </p:cNvPr>
          <p:cNvSpPr>
            <a:spLocks xmlns:a="http://schemas.openxmlformats.org/drawingml/2006/main" noGrp="1"/>
          </p:cNvSpPr>
          <p:nvPr/>
        </p:nvSpPr>
        <p:spPr>
          <a:xfrm xmlns:a="http://schemas.openxmlformats.org/drawingml/2006/main">
            <a:off x="822960" y="366674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Giá trị cùng kỳ (tỷ đồng)</a:t>
            </a:r>
            <a:endParaRPr sz="1300"/>
          </a:p>
        </p:txBody>
      </p:sp>
      <p:sp>
        <p:nvSpPr>
          <p:cNvPr id="30" name="Text 28">
            <a:extLst xmlns:a="http://schemas.openxmlformats.org/drawingml/2006/main">
              <a:ext uri="{FF2B5EF4-FFF2-40B4-BE49-F238E27FC236}">
                <a16:creationId xmlns:a16="http://schemas.microsoft.com/office/drawing/2014/main" id="{BF32B303-61D6-465B-81B3-D52E32E2A376}"/>
              </a:ext>
            </a:extLst>
          </p:cNvPr>
          <p:cNvSpPr>
            <a:spLocks xmlns:a="http://schemas.openxmlformats.org/drawingml/2006/main" noGrp="1"/>
          </p:cNvSpPr>
          <p:nvPr/>
        </p:nvSpPr>
        <p:spPr>
          <a:xfrm xmlns:a="http://schemas.openxmlformats.org/drawingml/2006/main">
            <a:off x="822960" y="395935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Giá trị cùng kỳ năm trước</a:t>
            </a:r>
            <a:endParaRPr sz="1050"/>
          </a:p>
        </p:txBody>
      </p:sp>
      <p:sp>
        <p:nvSpPr>
          <p:cNvPr id="31" name="Text 29">
            <a:extLst xmlns:a="http://schemas.openxmlformats.org/drawingml/2006/main">
              <a:ext uri="{FF2B5EF4-FFF2-40B4-BE49-F238E27FC236}">
                <a16:creationId xmlns:a16="http://schemas.microsoft.com/office/drawing/2014/main" id="{9A62416E-822B-4D21-BE11-855DD1F76C0D}"/>
              </a:ext>
            </a:extLst>
          </p:cNvPr>
          <p:cNvSpPr>
            <a:spLocks xmlns:a="http://schemas.openxmlformats.org/drawingml/2006/main" noGrp="1"/>
          </p:cNvSpPr>
          <p:nvPr/>
        </p:nvSpPr>
        <p:spPr>
          <a:xfrm xmlns:a="http://schemas.openxmlformats.org/drawingml/2006/main">
            <a:off x="822960" y="418795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Đo lường</a:t>
            </a:r>
            <a:endParaRPr sz="950"/>
          </a:p>
        </p:txBody>
      </p:sp>
      <p:sp>
        <p:nvSpPr>
          <p:cNvPr id="32" name="Shape 30">
            <a:extLst xmlns:a="http://schemas.openxmlformats.org/drawingml/2006/main">
              <a:ext uri="{FF2B5EF4-FFF2-40B4-BE49-F238E27FC236}">
                <a16:creationId xmlns:a16="http://schemas.microsoft.com/office/drawing/2014/main" id="{8C23BEB0-A3EA-49BC-8F83-FA24CD3ACEE3}"/>
              </a:ext>
            </a:extLst>
          </p:cNvPr>
          <p:cNvSpPr>
            <a:spLocks xmlns:a="http://schemas.openxmlformats.org/drawingml/2006/main" noGrp="1"/>
          </p:cNvSpPr>
          <p:nvPr/>
        </p:nvSpPr>
        <p:spPr>
          <a:xfrm xmlns:a="http://schemas.openxmlformats.org/drawingml/2006/main">
            <a:off x="4434840" y="361188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33" name="Text 31">
            <a:extLst xmlns:a="http://schemas.openxmlformats.org/drawingml/2006/main">
              <a:ext uri="{FF2B5EF4-FFF2-40B4-BE49-F238E27FC236}">
                <a16:creationId xmlns:a16="http://schemas.microsoft.com/office/drawing/2014/main" id="{EEFCF584-3245-4BE8-8246-B7179C90885E}"/>
              </a:ext>
            </a:extLst>
          </p:cNvPr>
          <p:cNvSpPr>
            <a:spLocks xmlns:a="http://schemas.openxmlformats.org/drawingml/2006/main" noGrp="1"/>
          </p:cNvSpPr>
          <p:nvPr/>
        </p:nvSpPr>
        <p:spPr>
          <a:xfrm xmlns:a="http://schemas.openxmlformats.org/drawingml/2006/main">
            <a:off x="4617720" y="366674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Tốc độ tăng (%)</a:t>
            </a:r>
            <a:endParaRPr sz="1300"/>
          </a:p>
        </p:txBody>
      </p:sp>
      <p:sp>
        <p:nvSpPr>
          <p:cNvPr id="34" name="Text 32">
            <a:extLst xmlns:a="http://schemas.openxmlformats.org/drawingml/2006/main">
              <a:ext uri="{FF2B5EF4-FFF2-40B4-BE49-F238E27FC236}">
                <a16:creationId xmlns:a16="http://schemas.microsoft.com/office/drawing/2014/main" id="{9687C760-486F-43F2-9D6C-3924358D623C}"/>
              </a:ext>
            </a:extLst>
          </p:cNvPr>
          <p:cNvSpPr>
            <a:spLocks xmlns:a="http://schemas.openxmlformats.org/drawingml/2006/main" noGrp="1"/>
          </p:cNvSpPr>
          <p:nvPr/>
        </p:nvSpPr>
        <p:spPr>
          <a:xfrm xmlns:a="http://schemas.openxmlformats.org/drawingml/2006/main">
            <a:off x="4617720" y="395935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Chỉ có ở dòng giá so sánh</a:t>
            </a:r>
            <a:endParaRPr sz="1050"/>
          </a:p>
        </p:txBody>
      </p:sp>
      <p:sp>
        <p:nvSpPr>
          <p:cNvPr id="35" name="Text 33">
            <a:extLst xmlns:a="http://schemas.openxmlformats.org/drawingml/2006/main">
              <a:ext uri="{FF2B5EF4-FFF2-40B4-BE49-F238E27FC236}">
                <a16:creationId xmlns:a16="http://schemas.microsoft.com/office/drawing/2014/main" id="{80E127B4-65E2-4B6A-860E-6A65AE9C45BE}"/>
              </a:ext>
            </a:extLst>
          </p:cNvPr>
          <p:cNvSpPr>
            <a:spLocks xmlns:a="http://schemas.openxmlformats.org/drawingml/2006/main" noGrp="1"/>
          </p:cNvSpPr>
          <p:nvPr/>
        </p:nvSpPr>
        <p:spPr>
          <a:xfrm xmlns:a="http://schemas.openxmlformats.org/drawingml/2006/main">
            <a:off x="4617720" y="418795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Đo lường dẫn xuất</a:t>
            </a:r>
            <a:endParaRPr sz="950"/>
          </a:p>
        </p:txBody>
      </p:sp>
      <p:sp>
        <p:nvSpPr>
          <p:cNvPr id="36" name="Shape 34">
            <a:extLst xmlns:a="http://schemas.openxmlformats.org/drawingml/2006/main">
              <a:ext uri="{FF2B5EF4-FFF2-40B4-BE49-F238E27FC236}">
                <a16:creationId xmlns:a16="http://schemas.microsoft.com/office/drawing/2014/main" id="{DDFF88ED-3552-41B5-973F-3934EDA42045}"/>
              </a:ext>
            </a:extLst>
          </p:cNvPr>
          <p:cNvSpPr>
            <a:spLocks xmlns:a="http://schemas.openxmlformats.org/drawingml/2006/main" noGrp="1"/>
          </p:cNvSpPr>
          <p:nvPr/>
        </p:nvSpPr>
        <p:spPr>
          <a:xfrm xmlns:a="http://schemas.openxmlformats.org/drawingml/2006/main">
            <a:off x="8229600" y="3611880"/>
            <a:ext cx="36118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E1E7F2"/>
            </a:solidFill>
            <a:prstDash val="solid"/>
          </a:ln>
        </p:spPr>
      </p:sp>
      <p:sp>
        <p:nvSpPr>
          <p:cNvPr id="37" name="Text 35">
            <a:extLst xmlns:a="http://schemas.openxmlformats.org/drawingml/2006/main">
              <a:ext uri="{FF2B5EF4-FFF2-40B4-BE49-F238E27FC236}">
                <a16:creationId xmlns:a16="http://schemas.microsoft.com/office/drawing/2014/main" id="{95BCB18A-1981-4EB3-B6FE-CD7BD549198A}"/>
              </a:ext>
            </a:extLst>
          </p:cNvPr>
          <p:cNvSpPr>
            <a:spLocks xmlns:a="http://schemas.openxmlformats.org/drawingml/2006/main" noGrp="1"/>
          </p:cNvSpPr>
          <p:nvPr/>
        </p:nvSpPr>
        <p:spPr>
          <a:xfrm xmlns:a="http://schemas.openxmlformats.org/drawingml/2006/main">
            <a:off x="8412480" y="3666744"/>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Cơ cấu (%)</a:t>
            </a:r>
            <a:endParaRPr sz="1300"/>
          </a:p>
        </p:txBody>
      </p:sp>
      <p:sp>
        <p:nvSpPr>
          <p:cNvPr id="38" name="Text 36">
            <a:extLst xmlns:a="http://schemas.openxmlformats.org/drawingml/2006/main">
              <a:ext uri="{FF2B5EF4-FFF2-40B4-BE49-F238E27FC236}">
                <a16:creationId xmlns:a16="http://schemas.microsoft.com/office/drawing/2014/main" id="{29B8B0F0-5EB0-464C-AFCE-207D440B7B76}"/>
              </a:ext>
            </a:extLst>
          </p:cNvPr>
          <p:cNvSpPr>
            <a:spLocks xmlns:a="http://schemas.openxmlformats.org/drawingml/2006/main" noGrp="1"/>
          </p:cNvSpPr>
          <p:nvPr/>
        </p:nvSpPr>
        <p:spPr>
          <a:xfrm xmlns:a="http://schemas.openxmlformats.org/drawingml/2006/main">
            <a:off x="8412480" y="3959352"/>
            <a:ext cx="3291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Chỉ có ở dòng giá hiện hành</a:t>
            </a:r>
            <a:endParaRPr sz="1050"/>
          </a:p>
        </p:txBody>
      </p:sp>
      <p:sp>
        <p:nvSpPr>
          <p:cNvPr id="39" name="Text 37">
            <a:extLst xmlns:a="http://schemas.openxmlformats.org/drawingml/2006/main">
              <a:ext uri="{FF2B5EF4-FFF2-40B4-BE49-F238E27FC236}">
                <a16:creationId xmlns:a16="http://schemas.microsoft.com/office/drawing/2014/main" id="{5639A86A-2815-4762-BA8D-F59E931D47F0}"/>
              </a:ext>
            </a:extLst>
          </p:cNvPr>
          <p:cNvSpPr>
            <a:spLocks xmlns:a="http://schemas.openxmlformats.org/drawingml/2006/main" noGrp="1"/>
          </p:cNvSpPr>
          <p:nvPr/>
        </p:nvSpPr>
        <p:spPr>
          <a:xfrm xmlns:a="http://schemas.openxmlformats.org/drawingml/2006/main">
            <a:off x="8412480" y="4187952"/>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9A227"/>
                </a:solidFill>
                <a:latin typeface="Calibri"/>
                <a:ea typeface="Calibri"/>
                <a:cs typeface="Calibri"/>
              </a:rPr>
              <a:t>Đo lường dẫn xuất</a:t>
            </a:r>
            <a:endParaRPr sz="950"/>
          </a:p>
        </p:txBody>
      </p:sp>
      <p:sp>
        <p:nvSpPr>
          <p:cNvPr id="40" name="Shape 38">
            <a:extLst xmlns:a="http://schemas.openxmlformats.org/drawingml/2006/main">
              <a:ext uri="{FF2B5EF4-FFF2-40B4-BE49-F238E27FC236}">
                <a16:creationId xmlns:a16="http://schemas.microsoft.com/office/drawing/2014/main" id="{04D1F653-5579-49E5-AA7F-FE9C0EE09887}"/>
              </a:ext>
            </a:extLst>
          </p:cNvPr>
          <p:cNvSpPr>
            <a:spLocks xmlns:a="http://schemas.openxmlformats.org/drawingml/2006/main" noGrp="1"/>
          </p:cNvSpPr>
          <p:nvPr/>
        </p:nvSpPr>
        <p:spPr>
          <a:xfrm xmlns:a="http://schemas.openxmlformats.org/drawingml/2006/main">
            <a:off x="640080" y="4709160"/>
            <a:ext cx="11155680" cy="1463040"/>
          </a:xfrm>
          <a:prstGeom xmlns:a="http://schemas.openxmlformats.org/drawingml/2006/main" prst="roundRect">
            <a:avLst>
              <a:gd name="adj" fmla="val 5000"/>
            </a:avLst>
          </a:prstGeom>
          <a:solidFill xmlns:a="http://schemas.openxmlformats.org/drawingml/2006/main">
            <a:srgbClr val="FFF6DC"/>
          </a:solidFill>
          <a:ln xmlns:a="http://schemas.openxmlformats.org/drawingml/2006/main" w="9525">
            <a:solidFill>
              <a:srgbClr val="E1E7F2"/>
            </a:solidFill>
            <a:prstDash val="solid"/>
          </a:ln>
        </p:spPr>
      </p:sp>
      <p:sp>
        <p:nvSpPr>
          <p:cNvPr id="41" name="Text 39">
            <a:extLst xmlns:a="http://schemas.openxmlformats.org/drawingml/2006/main">
              <a:ext uri="{FF2B5EF4-FFF2-40B4-BE49-F238E27FC236}">
                <a16:creationId xmlns:a16="http://schemas.microsoft.com/office/drawing/2014/main" id="{4CCA815B-43A1-48DF-ABDD-4B497595B3D5}"/>
              </a:ext>
            </a:extLst>
          </p:cNvPr>
          <p:cNvSpPr>
            <a:spLocks xmlns:a="http://schemas.openxmlformats.org/drawingml/2006/main" noGrp="1"/>
          </p:cNvSpPr>
          <p:nvPr/>
        </p:nvSpPr>
        <p:spPr>
          <a:xfrm xmlns:a="http://schemas.openxmlformats.org/drawingml/2006/main">
            <a:off x="914400" y="4828032"/>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8A6D00"/>
                </a:solidFill>
                <a:latin typeface="Calibri"/>
                <a:ea typeface="Calibri"/>
                <a:cs typeface="Calibri"/>
              </a:rPr>
              <a:t>Ba lỗi cấu trúc phát hiện khi kiểm tra</a:t>
            </a:r>
            <a:endParaRPr sz="1400"/>
          </a:p>
        </p:txBody>
      </p:sp>
      <p:sp>
        <p:nvSpPr>
          <p:cNvPr id="42" name="Text 40">
            <a:extLst xmlns:a="http://schemas.openxmlformats.org/drawingml/2006/main">
              <a:ext uri="{FF2B5EF4-FFF2-40B4-BE49-F238E27FC236}">
                <a16:creationId xmlns:a16="http://schemas.microsoft.com/office/drawing/2014/main" id="{122EC736-3A59-4D81-B2E8-BA60A8E48F1B}"/>
              </a:ext>
            </a:extLst>
          </p:cNvPr>
          <p:cNvSpPr>
            <a:spLocks xmlns:a="http://schemas.openxmlformats.org/drawingml/2006/main" noGrp="1"/>
          </p:cNvSpPr>
          <p:nvPr/>
        </p:nvSpPr>
        <p:spPr>
          <a:xfrm xmlns:a="http://schemas.openxmlformats.org/drawingml/2006/main">
            <a:off x="914400" y="5138928"/>
            <a:ext cx="10607040" cy="960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500"/>
              </a:spcAft>
              <a:buSzPct val="100000"/>
              <a:buChar char="•"/>
            </a:pPr>
            <a:r>
              <a:rPr sz="1150">
                <a:solidFill>
                  <a:srgbClr val="202536"/>
                </a:solidFill>
                <a:latin typeface="Calibri"/>
                <a:ea typeface="Calibri"/>
                <a:cs typeface="Calibri"/>
              </a:rPr>
              <a:t>"Dịch vụ" đang đánh mã 1.2.3 (nằm trong Công nghiệp và xây dựng) nhưng thực chất là ngành ngang cấp với 1.2 — kiểm tra cộng dồn xác nhận 1.1 + 1.2 + 1.2.3 = 1.0. Mã đúng phải là 1.3, và Thuế sản phẩm là 1.4.</a:t>
            </a:r>
            <a:endParaRPr sz="1150"/>
          </a:p>
          <a:p xmlns:a="http://schemas.openxmlformats.org/drawingml/2006/main">
            <a:pPr marL="342900" indent="-342900">
              <a:spcAft>
                <a:spcPts val="500"/>
              </a:spcAft>
              <a:buSzPct val="100000"/>
              <a:buChar char="•"/>
            </a:pPr>
            <a:r>
              <a:rPr sz="1150">
                <a:solidFill>
                  <a:srgbClr val="202536"/>
                </a:solidFill>
                <a:latin typeface="Calibri"/>
                <a:ea typeface="Calibri"/>
                <a:cs typeface="Calibri"/>
              </a:rPr>
              <a:t>Toàn bộ giá trị đang lưu dạng chuỗi ký tự (text), không phải số — phải ép kiểu trước khi tính toán.</a:t>
            </a:r>
            <a:endParaRPr sz="1150"/>
          </a:p>
          <a:p xmlns:a="http://schemas.openxmlformats.org/drawingml/2006/main">
            <a:pPr marL="342900" indent="-342900">
              <a:buSzPct val="100000"/>
              <a:buChar char="•"/>
            </a:pPr>
            <a:r>
              <a:rPr sz="1150">
                <a:solidFill>
                  <a:srgbClr val="202536"/>
                </a:solidFill>
                <a:latin typeface="Calibri"/>
                <a:ea typeface="Calibri"/>
                <a:cs typeface="Calibri"/>
              </a:rPr>
              <a:t>Quý III–IV/2026 để trống toàn bộ và sai nhãn năm gốc.</a:t>
            </a:r>
            <a:endParaRPr sz="1150"/>
          </a:p>
        </p:txBody>
      </p:sp>
    </p:spTree>
    <p:extLst>
      <p:ext uri="{BB962C8B-B14F-4D97-AF65-F5344CB8AC3E}">
        <p14:creationId xmlns:p14="http://schemas.microsoft.com/office/powerpoint/2010/main" val="188912231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0205FF-74F9-4257-9C9D-E93951A2CE8F}"/>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E2761"/>
                </a:solidFill>
                <a:latin typeface="Cambria"/>
                <a:ea typeface="Cambria"/>
                <a:cs typeface="Cambria"/>
              </a:rPr>
              <a:t>Kiểm chứng: cùng một kỳ, file cho hai giá trị khác nhau</a:t>
            </a:r>
            <a:endParaRPr sz="2600"/>
          </a:p>
        </p:txBody>
      </p:sp>
      <p:sp>
        <p:nvSpPr>
          <p:cNvPr id="3" name="Text 1">
            <a:extLst xmlns:a="http://schemas.openxmlformats.org/drawingml/2006/main">
              <a:ext uri="{FF2B5EF4-FFF2-40B4-BE49-F238E27FC236}">
                <a16:creationId xmlns:a16="http://schemas.microsoft.com/office/drawing/2014/main" id="{60038172-B4A4-4029-B2A8-C285B2C39231}"/>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Đối chiếu cột "Giá trị kỳ báo cáo" của năm 2025 với cột "Giá trị cùng kỳ" của năm 2026 (giá hiện hành, tỷ đồng)</a:t>
            </a:r>
            <a:endParaRPr sz="1400"/>
          </a:p>
        </p:txBody>
      </p:sp>
      <p:sp>
        <p:nvSpPr>
          <p:cNvPr id="4" name="Shape 2">
            <a:extLst xmlns:a="http://schemas.openxmlformats.org/drawingml/2006/main">
              <a:ext uri="{FF2B5EF4-FFF2-40B4-BE49-F238E27FC236}">
                <a16:creationId xmlns:a16="http://schemas.microsoft.com/office/drawing/2014/main" id="{8C2F3343-45B4-4BFD-BB9F-147CFAA7C2E1}"/>
              </a:ext>
            </a:extLst>
          </p:cNvPr>
          <p:cNvSpPr>
            <a:spLocks xmlns:a="http://schemas.openxmlformats.org/drawingml/2006/main" noGrp="1"/>
          </p:cNvSpPr>
          <p:nvPr/>
        </p:nvSpPr>
        <p:spPr>
          <a:xfrm xmlns:a="http://schemas.openxmlformats.org/drawingml/2006/main">
            <a:off x="640080" y="1645920"/>
            <a:ext cx="11155680" cy="457200"/>
          </a:xfrm>
          <a:prstGeom xmlns:a="http://schemas.openxmlformats.org/drawingml/2006/main" prst="roundRect">
            <a:avLst>
              <a:gd name="adj" fmla="val 10000"/>
            </a:avLst>
          </a:prstGeom>
          <a:solidFill xmlns:a="http://schemas.openxmlformats.org/drawingml/2006/main">
            <a:srgbClr val="1E2761"/>
          </a:solidFill>
        </p:spPr>
      </p:sp>
      <p:sp>
        <p:nvSpPr>
          <p:cNvPr id="5" name="Text 3">
            <a:extLst xmlns:a="http://schemas.openxmlformats.org/drawingml/2006/main">
              <a:ext uri="{FF2B5EF4-FFF2-40B4-BE49-F238E27FC236}">
                <a16:creationId xmlns:a16="http://schemas.microsoft.com/office/drawing/2014/main" id="{035DC0E9-B5DE-4CAD-892D-DF98DCE8D028}"/>
              </a:ext>
            </a:extLst>
          </p:cNvPr>
          <p:cNvSpPr>
            <a:spLocks xmlns:a="http://schemas.openxmlformats.org/drawingml/2006/main" noGrp="1"/>
          </p:cNvSpPr>
          <p:nvPr/>
        </p:nvSpPr>
        <p:spPr>
          <a:xfrm xmlns:a="http://schemas.openxmlformats.org/drawingml/2006/main">
            <a:off x="822960" y="1645920"/>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50" b="1">
                <a:solidFill>
                  <a:srgbClr val="FFFFFF"/>
                </a:solidFill>
                <a:latin typeface="Calibri"/>
                <a:ea typeface="Calibri"/>
                <a:cs typeface="Calibri"/>
              </a:rPr>
              <a:t>Chỉ tiêu</a:t>
            </a:r>
            <a:endParaRPr sz="1150"/>
          </a:p>
        </p:txBody>
      </p:sp>
      <p:sp>
        <p:nvSpPr>
          <p:cNvPr id="6" name="Text 4">
            <a:extLst xmlns:a="http://schemas.openxmlformats.org/drawingml/2006/main">
              <a:ext uri="{FF2B5EF4-FFF2-40B4-BE49-F238E27FC236}">
                <a16:creationId xmlns:a16="http://schemas.microsoft.com/office/drawing/2014/main" id="{17E0E0FC-E103-4AF6-BC54-45AF4DE26F64}"/>
              </a:ext>
            </a:extLst>
          </p:cNvPr>
          <p:cNvSpPr>
            <a:spLocks xmlns:a="http://schemas.openxmlformats.org/drawingml/2006/main" noGrp="1"/>
          </p:cNvSpPr>
          <p:nvPr/>
        </p:nvSpPr>
        <p:spPr>
          <a:xfrm xmlns:a="http://schemas.openxmlformats.org/drawingml/2006/main">
            <a:off x="4297680" y="1645920"/>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FFFFFF"/>
                </a:solidFill>
                <a:latin typeface="Calibri"/>
                <a:ea typeface="Calibri"/>
                <a:cs typeface="Calibri"/>
              </a:rPr>
              <a:t>Số công bố cho 2025</a:t>
            </a:r>
            <a:endParaRPr sz="1150"/>
          </a:p>
        </p:txBody>
      </p:sp>
      <p:sp>
        <p:nvSpPr>
          <p:cNvPr id="7" name="Text 5">
            <a:extLst xmlns:a="http://schemas.openxmlformats.org/drawingml/2006/main">
              <a:ext uri="{FF2B5EF4-FFF2-40B4-BE49-F238E27FC236}">
                <a16:creationId xmlns:a16="http://schemas.microsoft.com/office/drawing/2014/main" id="{270A6BE7-1BD6-404D-84BB-4F52D4439053}"/>
              </a:ext>
            </a:extLst>
          </p:cNvPr>
          <p:cNvSpPr>
            <a:spLocks xmlns:a="http://schemas.openxmlformats.org/drawingml/2006/main" noGrp="1"/>
          </p:cNvSpPr>
          <p:nvPr/>
        </p:nvSpPr>
        <p:spPr>
          <a:xfrm xmlns:a="http://schemas.openxmlformats.org/drawingml/2006/main">
            <a:off x="6949440" y="164592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FFFFFF"/>
                </a:solidFill>
                <a:latin typeface="Calibri"/>
                <a:ea typeface="Calibri"/>
                <a:cs typeface="Calibri"/>
              </a:rPr>
              <a:t>Số "cùng kỳ" ghi ở dòng 2026</a:t>
            </a:r>
            <a:endParaRPr sz="1150"/>
          </a:p>
        </p:txBody>
      </p:sp>
      <p:sp>
        <p:nvSpPr>
          <p:cNvPr id="8" name="Text 6">
            <a:extLst xmlns:a="http://schemas.openxmlformats.org/drawingml/2006/main">
              <a:ext uri="{FF2B5EF4-FFF2-40B4-BE49-F238E27FC236}">
                <a16:creationId xmlns:a16="http://schemas.microsoft.com/office/drawing/2014/main" id="{23D7F0CA-4B3A-4AFC-9CE4-5F7369F5AE03}"/>
              </a:ext>
            </a:extLst>
          </p:cNvPr>
          <p:cNvSpPr>
            <a:spLocks xmlns:a="http://schemas.openxmlformats.org/drawingml/2006/main" noGrp="1"/>
          </p:cNvSpPr>
          <p:nvPr/>
        </p:nvSpPr>
        <p:spPr>
          <a:xfrm xmlns:a="http://schemas.openxmlformats.org/drawingml/2006/main">
            <a:off x="9875520" y="164592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b="1">
                <a:solidFill>
                  <a:srgbClr val="FFFFFF"/>
                </a:solidFill>
                <a:latin typeface="Calibri"/>
                <a:ea typeface="Calibri"/>
                <a:cs typeface="Calibri"/>
              </a:rPr>
              <a:t>Chênh lệch</a:t>
            </a:r>
            <a:endParaRPr sz="1150"/>
          </a:p>
        </p:txBody>
      </p:sp>
      <p:sp>
        <p:nvSpPr>
          <p:cNvPr id="9" name="Shape 7">
            <a:extLst xmlns:a="http://schemas.openxmlformats.org/drawingml/2006/main">
              <a:ext uri="{FF2B5EF4-FFF2-40B4-BE49-F238E27FC236}">
                <a16:creationId xmlns:a16="http://schemas.microsoft.com/office/drawing/2014/main" id="{ACE05D96-CC44-4E66-86F9-BFA86B569FD0}"/>
              </a:ext>
            </a:extLst>
          </p:cNvPr>
          <p:cNvSpPr>
            <a:spLocks xmlns:a="http://schemas.openxmlformats.org/drawingml/2006/main" noGrp="1"/>
          </p:cNvSpPr>
          <p:nvPr/>
        </p:nvSpPr>
        <p:spPr>
          <a:xfrm xmlns:a="http://schemas.openxmlformats.org/drawingml/2006/main">
            <a:off x="640080" y="2148840"/>
            <a:ext cx="11155680" cy="457200"/>
          </a:xfrm>
          <a:prstGeom xmlns:a="http://schemas.openxmlformats.org/drawingml/2006/main" prst="rect">
            <a:avLst/>
          </a:prstGeom>
          <a:solidFill xmlns:a="http://schemas.openxmlformats.org/drawingml/2006/main">
            <a:srgbClr val="F2F5FB"/>
          </a:solidFill>
          <a:ln xmlns:a="http://schemas.openxmlformats.org/drawingml/2006/main" w="6350">
            <a:solidFill>
              <a:srgbClr val="E1E7F2"/>
            </a:solidFill>
            <a:prstDash val="solid"/>
          </a:ln>
        </p:spPr>
      </p:sp>
      <p:sp>
        <p:nvSpPr>
          <p:cNvPr id="10" name="Text 8">
            <a:extLst xmlns:a="http://schemas.openxmlformats.org/drawingml/2006/main">
              <a:ext uri="{FF2B5EF4-FFF2-40B4-BE49-F238E27FC236}">
                <a16:creationId xmlns:a16="http://schemas.microsoft.com/office/drawing/2014/main" id="{57305399-0C05-4271-840E-05C862F238B7}"/>
              </a:ext>
            </a:extLst>
          </p:cNvPr>
          <p:cNvSpPr>
            <a:spLocks xmlns:a="http://schemas.openxmlformats.org/drawingml/2006/main" noGrp="1"/>
          </p:cNvSpPr>
          <p:nvPr/>
        </p:nvSpPr>
        <p:spPr>
          <a:xfrm xmlns:a="http://schemas.openxmlformats.org/drawingml/2006/main">
            <a:off x="822960" y="2148840"/>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02536"/>
                </a:solidFill>
                <a:latin typeface="Calibri"/>
                <a:ea typeface="Calibri"/>
                <a:cs typeface="Calibri"/>
              </a:rPr>
              <a:t>GRDP Quý I</a:t>
            </a:r>
            <a:endParaRPr sz="1100"/>
          </a:p>
        </p:txBody>
      </p:sp>
      <p:sp>
        <p:nvSpPr>
          <p:cNvPr id="11" name="Text 9">
            <a:extLst xmlns:a="http://schemas.openxmlformats.org/drawingml/2006/main">
              <a:ext uri="{FF2B5EF4-FFF2-40B4-BE49-F238E27FC236}">
                <a16:creationId xmlns:a16="http://schemas.microsoft.com/office/drawing/2014/main" id="{FBF8BB7F-88E0-467E-9B5D-4A09F0FB53AE}"/>
              </a:ext>
            </a:extLst>
          </p:cNvPr>
          <p:cNvSpPr>
            <a:spLocks xmlns:a="http://schemas.openxmlformats.org/drawingml/2006/main" noGrp="1"/>
          </p:cNvSpPr>
          <p:nvPr/>
        </p:nvSpPr>
        <p:spPr>
          <a:xfrm xmlns:a="http://schemas.openxmlformats.org/drawingml/2006/main">
            <a:off x="4297680" y="2148840"/>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46.568,22</a:t>
            </a:r>
            <a:endParaRPr sz="1100"/>
          </a:p>
        </p:txBody>
      </p:sp>
      <p:sp>
        <p:nvSpPr>
          <p:cNvPr id="12" name="Text 10">
            <a:extLst xmlns:a="http://schemas.openxmlformats.org/drawingml/2006/main">
              <a:ext uri="{FF2B5EF4-FFF2-40B4-BE49-F238E27FC236}">
                <a16:creationId xmlns:a16="http://schemas.microsoft.com/office/drawing/2014/main" id="{2578C368-DEA6-4C07-B60D-1FDDBE71F159}"/>
              </a:ext>
            </a:extLst>
          </p:cNvPr>
          <p:cNvSpPr>
            <a:spLocks xmlns:a="http://schemas.openxmlformats.org/drawingml/2006/main" noGrp="1"/>
          </p:cNvSpPr>
          <p:nvPr/>
        </p:nvSpPr>
        <p:spPr>
          <a:xfrm xmlns:a="http://schemas.openxmlformats.org/drawingml/2006/main">
            <a:off x="6949440" y="214884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44.668,34</a:t>
            </a:r>
            <a:endParaRPr sz="1100"/>
          </a:p>
        </p:txBody>
      </p:sp>
      <p:sp>
        <p:nvSpPr>
          <p:cNvPr id="13" name="Text 11">
            <a:extLst xmlns:a="http://schemas.openxmlformats.org/drawingml/2006/main">
              <a:ext uri="{FF2B5EF4-FFF2-40B4-BE49-F238E27FC236}">
                <a16:creationId xmlns:a16="http://schemas.microsoft.com/office/drawing/2014/main" id="{BA96A9E2-FDF1-49B0-9638-13D6588B1184}"/>
              </a:ext>
            </a:extLst>
          </p:cNvPr>
          <p:cNvSpPr>
            <a:spLocks xmlns:a="http://schemas.openxmlformats.org/drawingml/2006/main" noGrp="1"/>
          </p:cNvSpPr>
          <p:nvPr/>
        </p:nvSpPr>
        <p:spPr>
          <a:xfrm xmlns:a="http://schemas.openxmlformats.org/drawingml/2006/main">
            <a:off x="9875520" y="214884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B03A2E"/>
                </a:solidFill>
                <a:latin typeface="Calibri"/>
                <a:ea typeface="Calibri"/>
                <a:cs typeface="Calibri"/>
              </a:rPr>
              <a:t>−1.899,88</a:t>
            </a:r>
            <a:endParaRPr sz="1100"/>
          </a:p>
        </p:txBody>
      </p:sp>
      <p:sp>
        <p:nvSpPr>
          <p:cNvPr id="14" name="Shape 12">
            <a:extLst xmlns:a="http://schemas.openxmlformats.org/drawingml/2006/main">
              <a:ext uri="{FF2B5EF4-FFF2-40B4-BE49-F238E27FC236}">
                <a16:creationId xmlns:a16="http://schemas.microsoft.com/office/drawing/2014/main" id="{9C75EA4B-E8A9-4217-8E5D-8F0861CEFDF5}"/>
              </a:ext>
            </a:extLst>
          </p:cNvPr>
          <p:cNvSpPr>
            <a:spLocks xmlns:a="http://schemas.openxmlformats.org/drawingml/2006/main" noGrp="1"/>
          </p:cNvSpPr>
          <p:nvPr/>
        </p:nvSpPr>
        <p:spPr>
          <a:xfrm xmlns:a="http://schemas.openxmlformats.org/drawingml/2006/main">
            <a:off x="640080" y="2624328"/>
            <a:ext cx="11155680"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1E7F2"/>
            </a:solidFill>
            <a:prstDash val="solid"/>
          </a:ln>
        </p:spPr>
      </p:sp>
      <p:sp>
        <p:nvSpPr>
          <p:cNvPr id="15" name="Text 13">
            <a:extLst xmlns:a="http://schemas.openxmlformats.org/drawingml/2006/main">
              <a:ext uri="{FF2B5EF4-FFF2-40B4-BE49-F238E27FC236}">
                <a16:creationId xmlns:a16="http://schemas.microsoft.com/office/drawing/2014/main" id="{86F96368-233A-4315-AFEC-C2E1CF797F8F}"/>
              </a:ext>
            </a:extLst>
          </p:cNvPr>
          <p:cNvSpPr>
            <a:spLocks xmlns:a="http://schemas.openxmlformats.org/drawingml/2006/main" noGrp="1"/>
          </p:cNvSpPr>
          <p:nvPr/>
        </p:nvSpPr>
        <p:spPr>
          <a:xfrm xmlns:a="http://schemas.openxmlformats.org/drawingml/2006/main">
            <a:off x="822960" y="2624328"/>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02536"/>
                </a:solidFill>
                <a:latin typeface="Calibri"/>
                <a:ea typeface="Calibri"/>
                <a:cs typeface="Calibri"/>
              </a:rPr>
              <a:t>Nông, lâm, thuỷ sản Quý I</a:t>
            </a:r>
            <a:endParaRPr sz="1100"/>
          </a:p>
        </p:txBody>
      </p:sp>
      <p:sp>
        <p:nvSpPr>
          <p:cNvPr id="16" name="Text 14">
            <a:extLst xmlns:a="http://schemas.openxmlformats.org/drawingml/2006/main">
              <a:ext uri="{FF2B5EF4-FFF2-40B4-BE49-F238E27FC236}">
                <a16:creationId xmlns:a16="http://schemas.microsoft.com/office/drawing/2014/main" id="{3C6CC755-A561-4589-894A-0AEC556B1AB7}"/>
              </a:ext>
            </a:extLst>
          </p:cNvPr>
          <p:cNvSpPr>
            <a:spLocks xmlns:a="http://schemas.openxmlformats.org/drawingml/2006/main" noGrp="1"/>
          </p:cNvSpPr>
          <p:nvPr/>
        </p:nvSpPr>
        <p:spPr>
          <a:xfrm xmlns:a="http://schemas.openxmlformats.org/drawingml/2006/main">
            <a:off x="4297680" y="2624328"/>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5.652,25</a:t>
            </a:r>
            <a:endParaRPr sz="1100"/>
          </a:p>
        </p:txBody>
      </p:sp>
      <p:sp>
        <p:nvSpPr>
          <p:cNvPr id="17" name="Text 15">
            <a:extLst xmlns:a="http://schemas.openxmlformats.org/drawingml/2006/main">
              <a:ext uri="{FF2B5EF4-FFF2-40B4-BE49-F238E27FC236}">
                <a16:creationId xmlns:a16="http://schemas.microsoft.com/office/drawing/2014/main" id="{B2FECD91-6514-4918-973F-2CC4BD90D355}"/>
              </a:ext>
            </a:extLst>
          </p:cNvPr>
          <p:cNvSpPr>
            <a:spLocks xmlns:a="http://schemas.openxmlformats.org/drawingml/2006/main" noGrp="1"/>
          </p:cNvSpPr>
          <p:nvPr/>
        </p:nvSpPr>
        <p:spPr>
          <a:xfrm xmlns:a="http://schemas.openxmlformats.org/drawingml/2006/main">
            <a:off x="6949440" y="2624328"/>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4.114,76</a:t>
            </a:r>
            <a:endParaRPr sz="1100"/>
          </a:p>
        </p:txBody>
      </p:sp>
      <p:sp>
        <p:nvSpPr>
          <p:cNvPr id="18" name="Text 16">
            <a:extLst xmlns:a="http://schemas.openxmlformats.org/drawingml/2006/main">
              <a:ext uri="{FF2B5EF4-FFF2-40B4-BE49-F238E27FC236}">
                <a16:creationId xmlns:a16="http://schemas.microsoft.com/office/drawing/2014/main" id="{3E28C210-AD0C-4DA1-BC6E-BDD0D908E6CC}"/>
              </a:ext>
            </a:extLst>
          </p:cNvPr>
          <p:cNvSpPr>
            <a:spLocks xmlns:a="http://schemas.openxmlformats.org/drawingml/2006/main" noGrp="1"/>
          </p:cNvSpPr>
          <p:nvPr/>
        </p:nvSpPr>
        <p:spPr>
          <a:xfrm xmlns:a="http://schemas.openxmlformats.org/drawingml/2006/main">
            <a:off x="9875520" y="2624328"/>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B03A2E"/>
                </a:solidFill>
                <a:latin typeface="Calibri"/>
                <a:ea typeface="Calibri"/>
                <a:cs typeface="Calibri"/>
              </a:rPr>
              <a:t>−1.537,49</a:t>
            </a:r>
            <a:endParaRPr sz="1100"/>
          </a:p>
        </p:txBody>
      </p:sp>
      <p:sp>
        <p:nvSpPr>
          <p:cNvPr id="19" name="Shape 17">
            <a:extLst xmlns:a="http://schemas.openxmlformats.org/drawingml/2006/main">
              <a:ext uri="{FF2B5EF4-FFF2-40B4-BE49-F238E27FC236}">
                <a16:creationId xmlns:a16="http://schemas.microsoft.com/office/drawing/2014/main" id="{8DB6C024-F585-4D20-B6C3-DBBB7EB4F2C4}"/>
              </a:ext>
            </a:extLst>
          </p:cNvPr>
          <p:cNvSpPr>
            <a:spLocks xmlns:a="http://schemas.openxmlformats.org/drawingml/2006/main" noGrp="1"/>
          </p:cNvSpPr>
          <p:nvPr/>
        </p:nvSpPr>
        <p:spPr>
          <a:xfrm xmlns:a="http://schemas.openxmlformats.org/drawingml/2006/main">
            <a:off x="640080" y="3099816"/>
            <a:ext cx="11155680" cy="457200"/>
          </a:xfrm>
          <a:prstGeom xmlns:a="http://schemas.openxmlformats.org/drawingml/2006/main" prst="rect">
            <a:avLst/>
          </a:prstGeom>
          <a:solidFill xmlns:a="http://schemas.openxmlformats.org/drawingml/2006/main">
            <a:srgbClr val="F2F5FB"/>
          </a:solidFill>
          <a:ln xmlns:a="http://schemas.openxmlformats.org/drawingml/2006/main" w="6350">
            <a:solidFill>
              <a:srgbClr val="E1E7F2"/>
            </a:solidFill>
            <a:prstDash val="solid"/>
          </a:ln>
        </p:spPr>
      </p:sp>
      <p:sp>
        <p:nvSpPr>
          <p:cNvPr id="20" name="Text 18">
            <a:extLst xmlns:a="http://schemas.openxmlformats.org/drawingml/2006/main">
              <a:ext uri="{FF2B5EF4-FFF2-40B4-BE49-F238E27FC236}">
                <a16:creationId xmlns:a16="http://schemas.microsoft.com/office/drawing/2014/main" id="{E9EE5FB1-C994-483C-A8A9-B9B52596E6BA}"/>
              </a:ext>
            </a:extLst>
          </p:cNvPr>
          <p:cNvSpPr>
            <a:spLocks xmlns:a="http://schemas.openxmlformats.org/drawingml/2006/main" noGrp="1"/>
          </p:cNvSpPr>
          <p:nvPr/>
        </p:nvSpPr>
        <p:spPr>
          <a:xfrm xmlns:a="http://schemas.openxmlformats.org/drawingml/2006/main">
            <a:off x="822960" y="3099816"/>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02536"/>
                </a:solidFill>
                <a:latin typeface="Calibri"/>
                <a:ea typeface="Calibri"/>
                <a:cs typeface="Calibri"/>
              </a:rPr>
              <a:t>Công nghiệp – xây dựng Quý I</a:t>
            </a:r>
            <a:endParaRPr sz="1100"/>
          </a:p>
        </p:txBody>
      </p:sp>
      <p:sp>
        <p:nvSpPr>
          <p:cNvPr id="21" name="Text 19">
            <a:extLst xmlns:a="http://schemas.openxmlformats.org/drawingml/2006/main">
              <a:ext uri="{FF2B5EF4-FFF2-40B4-BE49-F238E27FC236}">
                <a16:creationId xmlns:a16="http://schemas.microsoft.com/office/drawing/2014/main" id="{BA98DCBB-C8B4-410B-A80F-E82832A98B89}"/>
              </a:ext>
            </a:extLst>
          </p:cNvPr>
          <p:cNvSpPr>
            <a:spLocks xmlns:a="http://schemas.openxmlformats.org/drawingml/2006/main" noGrp="1"/>
          </p:cNvSpPr>
          <p:nvPr/>
        </p:nvSpPr>
        <p:spPr>
          <a:xfrm xmlns:a="http://schemas.openxmlformats.org/drawingml/2006/main">
            <a:off x="4297680" y="3099816"/>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18.572,85</a:t>
            </a:r>
            <a:endParaRPr sz="1100"/>
          </a:p>
        </p:txBody>
      </p:sp>
      <p:sp>
        <p:nvSpPr>
          <p:cNvPr id="22" name="Text 20">
            <a:extLst xmlns:a="http://schemas.openxmlformats.org/drawingml/2006/main">
              <a:ext uri="{FF2B5EF4-FFF2-40B4-BE49-F238E27FC236}">
                <a16:creationId xmlns:a16="http://schemas.microsoft.com/office/drawing/2014/main" id="{4AF82989-3E91-4960-8455-72772795A47C}"/>
              </a:ext>
            </a:extLst>
          </p:cNvPr>
          <p:cNvSpPr>
            <a:spLocks xmlns:a="http://schemas.openxmlformats.org/drawingml/2006/main" noGrp="1"/>
          </p:cNvSpPr>
          <p:nvPr/>
        </p:nvSpPr>
        <p:spPr>
          <a:xfrm xmlns:a="http://schemas.openxmlformats.org/drawingml/2006/main">
            <a:off x="6949440" y="3099816"/>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18.220,12</a:t>
            </a:r>
            <a:endParaRPr sz="1100"/>
          </a:p>
        </p:txBody>
      </p:sp>
      <p:sp>
        <p:nvSpPr>
          <p:cNvPr id="23" name="Text 21">
            <a:extLst xmlns:a="http://schemas.openxmlformats.org/drawingml/2006/main">
              <a:ext uri="{FF2B5EF4-FFF2-40B4-BE49-F238E27FC236}">
                <a16:creationId xmlns:a16="http://schemas.microsoft.com/office/drawing/2014/main" id="{5D3C87F7-995E-4777-BE66-66C60F310B19}"/>
              </a:ext>
            </a:extLst>
          </p:cNvPr>
          <p:cNvSpPr>
            <a:spLocks xmlns:a="http://schemas.openxmlformats.org/drawingml/2006/main" noGrp="1"/>
          </p:cNvSpPr>
          <p:nvPr/>
        </p:nvSpPr>
        <p:spPr>
          <a:xfrm xmlns:a="http://schemas.openxmlformats.org/drawingml/2006/main">
            <a:off x="9875520" y="3099816"/>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B03A2E"/>
                </a:solidFill>
                <a:latin typeface="Calibri"/>
                <a:ea typeface="Calibri"/>
                <a:cs typeface="Calibri"/>
              </a:rPr>
              <a:t>−352,74</a:t>
            </a:r>
            <a:endParaRPr sz="1100"/>
          </a:p>
        </p:txBody>
      </p:sp>
      <p:sp>
        <p:nvSpPr>
          <p:cNvPr id="24" name="Shape 22">
            <a:extLst xmlns:a="http://schemas.openxmlformats.org/drawingml/2006/main">
              <a:ext uri="{FF2B5EF4-FFF2-40B4-BE49-F238E27FC236}">
                <a16:creationId xmlns:a16="http://schemas.microsoft.com/office/drawing/2014/main" id="{4B64F1A7-E7CE-4F38-85CA-4EB53198A7DE}"/>
              </a:ext>
            </a:extLst>
          </p:cNvPr>
          <p:cNvSpPr>
            <a:spLocks xmlns:a="http://schemas.openxmlformats.org/drawingml/2006/main" noGrp="1"/>
          </p:cNvSpPr>
          <p:nvPr/>
        </p:nvSpPr>
        <p:spPr>
          <a:xfrm xmlns:a="http://schemas.openxmlformats.org/drawingml/2006/main">
            <a:off x="640080" y="3575304"/>
            <a:ext cx="11155680"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1E7F2"/>
            </a:solidFill>
            <a:prstDash val="solid"/>
          </a:ln>
        </p:spPr>
      </p:sp>
      <p:sp>
        <p:nvSpPr>
          <p:cNvPr id="25" name="Text 23">
            <a:extLst xmlns:a="http://schemas.openxmlformats.org/drawingml/2006/main">
              <a:ext uri="{FF2B5EF4-FFF2-40B4-BE49-F238E27FC236}">
                <a16:creationId xmlns:a16="http://schemas.microsoft.com/office/drawing/2014/main" id="{A492EA4C-FE10-4A78-A199-D1C1957BBC2A}"/>
              </a:ext>
            </a:extLst>
          </p:cNvPr>
          <p:cNvSpPr>
            <a:spLocks xmlns:a="http://schemas.openxmlformats.org/drawingml/2006/main" noGrp="1"/>
          </p:cNvSpPr>
          <p:nvPr/>
        </p:nvSpPr>
        <p:spPr>
          <a:xfrm xmlns:a="http://schemas.openxmlformats.org/drawingml/2006/main">
            <a:off x="822960" y="3575304"/>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02536"/>
                </a:solidFill>
                <a:latin typeface="Calibri"/>
                <a:ea typeface="Calibri"/>
                <a:cs typeface="Calibri"/>
              </a:rPr>
              <a:t>GRDP Quý II</a:t>
            </a:r>
            <a:endParaRPr sz="1100"/>
          </a:p>
        </p:txBody>
      </p:sp>
      <p:sp>
        <p:nvSpPr>
          <p:cNvPr id="26" name="Text 24">
            <a:extLst xmlns:a="http://schemas.openxmlformats.org/drawingml/2006/main">
              <a:ext uri="{FF2B5EF4-FFF2-40B4-BE49-F238E27FC236}">
                <a16:creationId xmlns:a16="http://schemas.microsoft.com/office/drawing/2014/main" id="{691D0134-B0E4-4891-9E3D-8A4F23085BFE}"/>
              </a:ext>
            </a:extLst>
          </p:cNvPr>
          <p:cNvSpPr>
            <a:spLocks xmlns:a="http://schemas.openxmlformats.org/drawingml/2006/main" noGrp="1"/>
          </p:cNvSpPr>
          <p:nvPr/>
        </p:nvSpPr>
        <p:spPr>
          <a:xfrm xmlns:a="http://schemas.openxmlformats.org/drawingml/2006/main">
            <a:off x="4297680" y="3575304"/>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52.335,08</a:t>
            </a:r>
            <a:endParaRPr sz="1100"/>
          </a:p>
        </p:txBody>
      </p:sp>
      <p:sp>
        <p:nvSpPr>
          <p:cNvPr id="27" name="Text 25">
            <a:extLst xmlns:a="http://schemas.openxmlformats.org/drawingml/2006/main">
              <a:ext uri="{FF2B5EF4-FFF2-40B4-BE49-F238E27FC236}">
                <a16:creationId xmlns:a16="http://schemas.microsoft.com/office/drawing/2014/main" id="{68A38F0B-2D48-488E-98DF-B68A13C50CC8}"/>
              </a:ext>
            </a:extLst>
          </p:cNvPr>
          <p:cNvSpPr>
            <a:spLocks xmlns:a="http://schemas.openxmlformats.org/drawingml/2006/main" noGrp="1"/>
          </p:cNvSpPr>
          <p:nvPr/>
        </p:nvSpPr>
        <p:spPr>
          <a:xfrm xmlns:a="http://schemas.openxmlformats.org/drawingml/2006/main">
            <a:off x="6949440" y="3575304"/>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49.437,35</a:t>
            </a:r>
            <a:endParaRPr sz="1100"/>
          </a:p>
        </p:txBody>
      </p:sp>
      <p:sp>
        <p:nvSpPr>
          <p:cNvPr id="28" name="Text 26">
            <a:extLst xmlns:a="http://schemas.openxmlformats.org/drawingml/2006/main">
              <a:ext uri="{FF2B5EF4-FFF2-40B4-BE49-F238E27FC236}">
                <a16:creationId xmlns:a16="http://schemas.microsoft.com/office/drawing/2014/main" id="{6FA995B1-67B7-4C0B-BAC1-6B0221D27B3A}"/>
              </a:ext>
            </a:extLst>
          </p:cNvPr>
          <p:cNvSpPr>
            <a:spLocks xmlns:a="http://schemas.openxmlformats.org/drawingml/2006/main" noGrp="1"/>
          </p:cNvSpPr>
          <p:nvPr/>
        </p:nvSpPr>
        <p:spPr>
          <a:xfrm xmlns:a="http://schemas.openxmlformats.org/drawingml/2006/main">
            <a:off x="9875520" y="3575304"/>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B03A2E"/>
                </a:solidFill>
                <a:latin typeface="Calibri"/>
                <a:ea typeface="Calibri"/>
                <a:cs typeface="Calibri"/>
              </a:rPr>
              <a:t>−2.897,73</a:t>
            </a:r>
            <a:endParaRPr sz="1100"/>
          </a:p>
        </p:txBody>
      </p:sp>
      <p:sp>
        <p:nvSpPr>
          <p:cNvPr id="29" name="Shape 27">
            <a:extLst xmlns:a="http://schemas.openxmlformats.org/drawingml/2006/main">
              <a:ext uri="{FF2B5EF4-FFF2-40B4-BE49-F238E27FC236}">
                <a16:creationId xmlns:a16="http://schemas.microsoft.com/office/drawing/2014/main" id="{90628BAA-EB0F-4006-AEA2-8F0C6BE8BA26}"/>
              </a:ext>
            </a:extLst>
          </p:cNvPr>
          <p:cNvSpPr>
            <a:spLocks xmlns:a="http://schemas.openxmlformats.org/drawingml/2006/main" noGrp="1"/>
          </p:cNvSpPr>
          <p:nvPr/>
        </p:nvSpPr>
        <p:spPr>
          <a:xfrm xmlns:a="http://schemas.openxmlformats.org/drawingml/2006/main">
            <a:off x="640080" y="4050792"/>
            <a:ext cx="11155680" cy="457200"/>
          </a:xfrm>
          <a:prstGeom xmlns:a="http://schemas.openxmlformats.org/drawingml/2006/main" prst="rect">
            <a:avLst/>
          </a:prstGeom>
          <a:solidFill xmlns:a="http://schemas.openxmlformats.org/drawingml/2006/main">
            <a:srgbClr val="F2F5FB"/>
          </a:solidFill>
          <a:ln xmlns:a="http://schemas.openxmlformats.org/drawingml/2006/main" w="6350">
            <a:solidFill>
              <a:srgbClr val="E1E7F2"/>
            </a:solidFill>
            <a:prstDash val="solid"/>
          </a:ln>
        </p:spPr>
      </p:sp>
      <p:sp>
        <p:nvSpPr>
          <p:cNvPr id="30" name="Text 28">
            <a:extLst xmlns:a="http://schemas.openxmlformats.org/drawingml/2006/main">
              <a:ext uri="{FF2B5EF4-FFF2-40B4-BE49-F238E27FC236}">
                <a16:creationId xmlns:a16="http://schemas.microsoft.com/office/drawing/2014/main" id="{7EBFCFDC-8FAC-4098-9038-E45C5003C74D}"/>
              </a:ext>
            </a:extLst>
          </p:cNvPr>
          <p:cNvSpPr>
            <a:spLocks xmlns:a="http://schemas.openxmlformats.org/drawingml/2006/main" noGrp="1"/>
          </p:cNvSpPr>
          <p:nvPr/>
        </p:nvSpPr>
        <p:spPr>
          <a:xfrm xmlns:a="http://schemas.openxmlformats.org/drawingml/2006/main">
            <a:off x="822960" y="4050792"/>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02536"/>
                </a:solidFill>
                <a:latin typeface="Calibri"/>
                <a:ea typeface="Calibri"/>
                <a:cs typeface="Calibri"/>
              </a:rPr>
              <a:t>Nông, lâm, thuỷ sản Quý II</a:t>
            </a:r>
            <a:endParaRPr sz="1100"/>
          </a:p>
        </p:txBody>
      </p:sp>
      <p:sp>
        <p:nvSpPr>
          <p:cNvPr id="31" name="Text 29">
            <a:extLst xmlns:a="http://schemas.openxmlformats.org/drawingml/2006/main">
              <a:ext uri="{FF2B5EF4-FFF2-40B4-BE49-F238E27FC236}">
                <a16:creationId xmlns:a16="http://schemas.microsoft.com/office/drawing/2014/main" id="{F28AFDFF-F506-4EC1-A909-06739C0D0546}"/>
              </a:ext>
            </a:extLst>
          </p:cNvPr>
          <p:cNvSpPr>
            <a:spLocks xmlns:a="http://schemas.openxmlformats.org/drawingml/2006/main" noGrp="1"/>
          </p:cNvSpPr>
          <p:nvPr/>
        </p:nvSpPr>
        <p:spPr>
          <a:xfrm xmlns:a="http://schemas.openxmlformats.org/drawingml/2006/main">
            <a:off x="4297680" y="4050792"/>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8.949,52</a:t>
            </a:r>
            <a:endParaRPr sz="1100"/>
          </a:p>
        </p:txBody>
      </p:sp>
      <p:sp>
        <p:nvSpPr>
          <p:cNvPr id="32" name="Text 30">
            <a:extLst xmlns:a="http://schemas.openxmlformats.org/drawingml/2006/main">
              <a:ext uri="{FF2B5EF4-FFF2-40B4-BE49-F238E27FC236}">
                <a16:creationId xmlns:a16="http://schemas.microsoft.com/office/drawing/2014/main" id="{EB9B27E9-1274-4267-A206-DF6211D47713}"/>
              </a:ext>
            </a:extLst>
          </p:cNvPr>
          <p:cNvSpPr>
            <a:spLocks xmlns:a="http://schemas.openxmlformats.org/drawingml/2006/main" noGrp="1"/>
          </p:cNvSpPr>
          <p:nvPr/>
        </p:nvSpPr>
        <p:spPr>
          <a:xfrm xmlns:a="http://schemas.openxmlformats.org/drawingml/2006/main">
            <a:off x="6949440" y="4050792"/>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6.944,17</a:t>
            </a:r>
            <a:endParaRPr sz="1100"/>
          </a:p>
        </p:txBody>
      </p:sp>
      <p:sp>
        <p:nvSpPr>
          <p:cNvPr id="33" name="Text 31">
            <a:extLst xmlns:a="http://schemas.openxmlformats.org/drawingml/2006/main">
              <a:ext uri="{FF2B5EF4-FFF2-40B4-BE49-F238E27FC236}">
                <a16:creationId xmlns:a16="http://schemas.microsoft.com/office/drawing/2014/main" id="{E4BCF93E-C15A-48D1-BBCC-4380DDB225A8}"/>
              </a:ext>
            </a:extLst>
          </p:cNvPr>
          <p:cNvSpPr>
            <a:spLocks xmlns:a="http://schemas.openxmlformats.org/drawingml/2006/main" noGrp="1"/>
          </p:cNvSpPr>
          <p:nvPr/>
        </p:nvSpPr>
        <p:spPr>
          <a:xfrm xmlns:a="http://schemas.openxmlformats.org/drawingml/2006/main">
            <a:off x="9875520" y="4050792"/>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B03A2E"/>
                </a:solidFill>
                <a:latin typeface="Calibri"/>
                <a:ea typeface="Calibri"/>
                <a:cs typeface="Calibri"/>
              </a:rPr>
              <a:t>−2.005,36</a:t>
            </a:r>
            <a:endParaRPr sz="1100"/>
          </a:p>
        </p:txBody>
      </p:sp>
      <p:sp>
        <p:nvSpPr>
          <p:cNvPr id="34" name="Shape 32">
            <a:extLst xmlns:a="http://schemas.openxmlformats.org/drawingml/2006/main">
              <a:ext uri="{FF2B5EF4-FFF2-40B4-BE49-F238E27FC236}">
                <a16:creationId xmlns:a16="http://schemas.microsoft.com/office/drawing/2014/main" id="{BEEFCCD8-7027-42FF-AF3C-31C5329E26AA}"/>
              </a:ext>
            </a:extLst>
          </p:cNvPr>
          <p:cNvSpPr>
            <a:spLocks xmlns:a="http://schemas.openxmlformats.org/drawingml/2006/main" noGrp="1"/>
          </p:cNvSpPr>
          <p:nvPr/>
        </p:nvSpPr>
        <p:spPr>
          <a:xfrm xmlns:a="http://schemas.openxmlformats.org/drawingml/2006/main">
            <a:off x="640080" y="4526280"/>
            <a:ext cx="11155680"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1E7F2"/>
            </a:solidFill>
            <a:prstDash val="solid"/>
          </a:ln>
        </p:spPr>
      </p:sp>
      <p:sp>
        <p:nvSpPr>
          <p:cNvPr id="35" name="Text 33">
            <a:extLst xmlns:a="http://schemas.openxmlformats.org/drawingml/2006/main">
              <a:ext uri="{FF2B5EF4-FFF2-40B4-BE49-F238E27FC236}">
                <a16:creationId xmlns:a16="http://schemas.microsoft.com/office/drawing/2014/main" id="{63C0B721-6046-4280-89CE-FD6B161CC817}"/>
              </a:ext>
            </a:extLst>
          </p:cNvPr>
          <p:cNvSpPr>
            <a:spLocks xmlns:a="http://schemas.openxmlformats.org/drawingml/2006/main" noGrp="1"/>
          </p:cNvSpPr>
          <p:nvPr/>
        </p:nvSpPr>
        <p:spPr>
          <a:xfrm xmlns:a="http://schemas.openxmlformats.org/drawingml/2006/main">
            <a:off x="822960" y="4526280"/>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02536"/>
                </a:solidFill>
                <a:latin typeface="Calibri"/>
                <a:ea typeface="Calibri"/>
                <a:cs typeface="Calibri"/>
              </a:rPr>
              <a:t>Thuế sản phẩm Quý I và Quý II</a:t>
            </a:r>
            <a:endParaRPr sz="1100"/>
          </a:p>
        </p:txBody>
      </p:sp>
      <p:sp>
        <p:nvSpPr>
          <p:cNvPr id="36" name="Text 34">
            <a:extLst xmlns:a="http://schemas.openxmlformats.org/drawingml/2006/main">
              <a:ext uri="{FF2B5EF4-FFF2-40B4-BE49-F238E27FC236}">
                <a16:creationId xmlns:a16="http://schemas.microsoft.com/office/drawing/2014/main" id="{720315EA-C92E-451C-B763-ACC6CD065A92}"/>
              </a:ext>
            </a:extLst>
          </p:cNvPr>
          <p:cNvSpPr>
            <a:spLocks xmlns:a="http://schemas.openxmlformats.org/drawingml/2006/main" noGrp="1"/>
          </p:cNvSpPr>
          <p:nvPr/>
        </p:nvSpPr>
        <p:spPr>
          <a:xfrm xmlns:a="http://schemas.openxmlformats.org/drawingml/2006/main">
            <a:off x="4297680" y="4526280"/>
            <a:ext cx="24688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3.620,30 / 3.679,81</a:t>
            </a:r>
            <a:endParaRPr sz="1100"/>
          </a:p>
        </p:txBody>
      </p:sp>
      <p:sp>
        <p:nvSpPr>
          <p:cNvPr id="37" name="Text 35">
            <a:extLst xmlns:a="http://schemas.openxmlformats.org/drawingml/2006/main">
              <a:ext uri="{FF2B5EF4-FFF2-40B4-BE49-F238E27FC236}">
                <a16:creationId xmlns:a16="http://schemas.microsoft.com/office/drawing/2014/main" id="{BAC0EF92-3D24-4CDF-9C96-71E62F750899}"/>
              </a:ext>
            </a:extLst>
          </p:cNvPr>
          <p:cNvSpPr>
            <a:spLocks xmlns:a="http://schemas.openxmlformats.org/drawingml/2006/main" noGrp="1"/>
          </p:cNvSpPr>
          <p:nvPr/>
        </p:nvSpPr>
        <p:spPr>
          <a:xfrm xmlns:a="http://schemas.openxmlformats.org/drawingml/2006/main">
            <a:off x="6949440" y="452628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202536"/>
                </a:solidFill>
                <a:latin typeface="Calibri"/>
                <a:ea typeface="Calibri"/>
                <a:cs typeface="Calibri"/>
              </a:rPr>
              <a:t>3.620,30 / 3.679,81</a:t>
            </a:r>
            <a:endParaRPr sz="1100"/>
          </a:p>
        </p:txBody>
      </p:sp>
      <p:sp>
        <p:nvSpPr>
          <p:cNvPr id="38" name="Text 36">
            <a:extLst xmlns:a="http://schemas.openxmlformats.org/drawingml/2006/main">
              <a:ext uri="{FF2B5EF4-FFF2-40B4-BE49-F238E27FC236}">
                <a16:creationId xmlns:a16="http://schemas.microsoft.com/office/drawing/2014/main" id="{B451CEA3-CC9B-49CE-8C85-1C039FA81B3F}"/>
              </a:ext>
            </a:extLst>
          </p:cNvPr>
          <p:cNvSpPr>
            <a:spLocks xmlns:a="http://schemas.openxmlformats.org/drawingml/2006/main" noGrp="1"/>
          </p:cNvSpPr>
          <p:nvPr/>
        </p:nvSpPr>
        <p:spPr>
          <a:xfrm xmlns:a="http://schemas.openxmlformats.org/drawingml/2006/main">
            <a:off x="9875520" y="452628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1C7293"/>
                </a:solidFill>
                <a:latin typeface="Calibri"/>
                <a:ea typeface="Calibri"/>
                <a:cs typeface="Calibri"/>
              </a:rPr>
              <a:t>0,00</a:t>
            </a:r>
            <a:endParaRPr sz="1100"/>
          </a:p>
        </p:txBody>
      </p:sp>
      <p:sp>
        <p:nvSpPr>
          <p:cNvPr id="39" name="Shape 37">
            <a:extLst xmlns:a="http://schemas.openxmlformats.org/drawingml/2006/main">
              <a:ext uri="{FF2B5EF4-FFF2-40B4-BE49-F238E27FC236}">
                <a16:creationId xmlns:a16="http://schemas.microsoft.com/office/drawing/2014/main" id="{1A10D6B5-FD09-40C9-A066-F22201AA1B81}"/>
              </a:ext>
            </a:extLst>
          </p:cNvPr>
          <p:cNvSpPr>
            <a:spLocks xmlns:a="http://schemas.openxmlformats.org/drawingml/2006/main" noGrp="1"/>
          </p:cNvSpPr>
          <p:nvPr/>
        </p:nvSpPr>
        <p:spPr>
          <a:xfrm xmlns:a="http://schemas.openxmlformats.org/drawingml/2006/main">
            <a:off x="640080" y="5074920"/>
            <a:ext cx="11155680" cy="1188720"/>
          </a:xfrm>
          <a:prstGeom xmlns:a="http://schemas.openxmlformats.org/drawingml/2006/main" prst="roundRect">
            <a:avLst>
              <a:gd name="adj" fmla="val 6154"/>
            </a:avLst>
          </a:prstGeom>
          <a:solidFill xmlns:a="http://schemas.openxmlformats.org/drawingml/2006/main">
            <a:srgbClr val="FFF6DC"/>
          </a:solidFill>
          <a:ln xmlns:a="http://schemas.openxmlformats.org/drawingml/2006/main" w="9525">
            <a:solidFill>
              <a:srgbClr val="E1E7F2"/>
            </a:solidFill>
            <a:prstDash val="solid"/>
          </a:ln>
        </p:spPr>
      </p:sp>
      <p:sp>
        <p:nvSpPr>
          <p:cNvPr id="40" name="Text 38">
            <a:extLst xmlns:a="http://schemas.openxmlformats.org/drawingml/2006/main">
              <a:ext uri="{FF2B5EF4-FFF2-40B4-BE49-F238E27FC236}">
                <a16:creationId xmlns:a16="http://schemas.microsoft.com/office/drawing/2014/main" id="{D57344F1-CDC0-47C1-9291-4FC56C9E4098}"/>
              </a:ext>
            </a:extLst>
          </p:cNvPr>
          <p:cNvSpPr>
            <a:spLocks xmlns:a="http://schemas.openxmlformats.org/drawingml/2006/main" noGrp="1"/>
          </p:cNvSpPr>
          <p:nvPr/>
        </p:nvSpPr>
        <p:spPr>
          <a:xfrm xmlns:a="http://schemas.openxmlformats.org/drawingml/2006/main">
            <a:off x="914400" y="5175504"/>
            <a:ext cx="7315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A6D00"/>
                </a:solidFill>
                <a:latin typeface="Calibri"/>
                <a:ea typeface="Calibri"/>
                <a:cs typeface="Calibri"/>
              </a:rPr>
              <a:t>Ý nghĩa đối với kho dữ liệu IOC</a:t>
            </a:r>
            <a:endParaRPr sz="1300"/>
          </a:p>
        </p:txBody>
      </p:sp>
      <p:sp>
        <p:nvSpPr>
          <p:cNvPr id="41" name="Text 39">
            <a:extLst xmlns:a="http://schemas.openxmlformats.org/drawingml/2006/main">
              <a:ext uri="{FF2B5EF4-FFF2-40B4-BE49-F238E27FC236}">
                <a16:creationId xmlns:a16="http://schemas.microsoft.com/office/drawing/2014/main" id="{2797D580-DAEE-44CC-A80D-6FAF15B696DB}"/>
              </a:ext>
            </a:extLst>
          </p:cNvPr>
          <p:cNvSpPr>
            <a:spLocks xmlns:a="http://schemas.openxmlformats.org/drawingml/2006/main" noGrp="1"/>
          </p:cNvSpPr>
          <p:nvPr/>
        </p:nvSpPr>
        <p:spPr>
          <a:xfrm xmlns:a="http://schemas.openxmlformats.org/drawingml/2006/main">
            <a:off x="914400" y="5486400"/>
            <a:ext cx="1060704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500"/>
              </a:spcAft>
              <a:buSzPct val="100000"/>
              <a:buChar char="•"/>
            </a:pPr>
            <a:r>
              <a:rPr sz="1100">
                <a:solidFill>
                  <a:srgbClr val="202536"/>
                </a:solidFill>
                <a:latin typeface="Calibri"/>
                <a:ea typeface="Calibri"/>
                <a:cs typeface="Calibri"/>
              </a:rPr>
              <a:t>Số liệu GRDP có 3 phiên bản (ước tính – sơ bộ – chính thức, Điều 5 NĐ 94) và đã thay đổi sau khi hợp nhất địa giới từ 01/7/2025; riêng thuế sản phẩm giữ nguyên nên chênh lệch nằm ở phần giá trị tăng thêm.</a:t>
            </a:r>
            <a:endParaRPr sz="1100"/>
          </a:p>
          <a:p xmlns:a="http://schemas.openxmlformats.org/drawingml/2006/main">
            <a:pPr marL="342900" indent="-342900">
              <a:buSzPct val="100000"/>
              <a:buChar char="•"/>
            </a:pPr>
            <a:r>
              <a:rPr sz="1100">
                <a:solidFill>
                  <a:srgbClr val="202536"/>
                </a:solidFill>
                <a:latin typeface="Calibri"/>
                <a:ea typeface="Calibri"/>
                <a:cs typeface="Calibri"/>
              </a:rPr>
              <a:t>Kho dữ liệu bắt buộc phải có trường phiên bản số liệu và trường địa giới hành chính, nếu không dashboard sẽ hiển thị hai con số mâu thuẫn cho cùng một quý.</a:t>
            </a:r>
            <a:endParaRPr sz="1100"/>
          </a:p>
        </p:txBody>
      </p:sp>
    </p:spTree>
    <p:extLst>
      <p:ext uri="{BB962C8B-B14F-4D97-AF65-F5344CB8AC3E}">
        <p14:creationId xmlns:p14="http://schemas.microsoft.com/office/powerpoint/2010/main" val="1099417448"/>
      </p:ext>
    </p:extLst>
  </p:cSld>
</p:sld>
</file>

<file path=ppt/slides/slide12.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142249-EA74-4922-8690-12D5C6F52DEC}"/>
              </a:ext>
            </a:extLst>
          </p:cNvPr>
          <p:cNvSpPr>
            <a:spLocks xmlns:a="http://schemas.openxmlformats.org/drawingml/2006/main" noGrp="1"/>
          </p:cNvSpPr>
          <p:nvPr/>
        </p:nvSpPr>
        <p:spPr>
          <a:xfrm xmlns:a="http://schemas.openxmlformats.org/drawingml/2006/main">
            <a:off x="640080" y="640080"/>
            <a:ext cx="1097280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Khoảng trống dữ liệu</a:t>
            </a:r>
            <a:endParaRPr sz="3400"/>
          </a:p>
        </p:txBody>
      </p:sp>
      <p:sp>
        <p:nvSpPr>
          <p:cNvPr id="3" name="Text 1">
            <a:extLst xmlns:a="http://schemas.openxmlformats.org/drawingml/2006/main">
              <a:ext uri="{FF2B5EF4-FFF2-40B4-BE49-F238E27FC236}">
                <a16:creationId xmlns:a16="http://schemas.microsoft.com/office/drawing/2014/main" id="{4A63FDFD-C1CE-4D71-8255-00B2A5931BB6}"/>
              </a:ext>
            </a:extLst>
          </p:cNvPr>
          <p:cNvSpPr>
            <a:spLocks xmlns:a="http://schemas.openxmlformats.org/drawingml/2006/main" noGrp="1"/>
          </p:cNvSpPr>
          <p:nvPr/>
        </p:nvSpPr>
        <p:spPr>
          <a:xfrm xmlns:a="http://schemas.openxmlformats.org/drawingml/2006/main">
            <a:off x="640080" y="1371600"/>
            <a:ext cx="109728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i="1">
                <a:solidFill>
                  <a:srgbClr val="CADCFC"/>
                </a:solidFill>
                <a:latin typeface="Calibri"/>
                <a:ea typeface="Calibri"/>
                <a:cs typeface="Calibri"/>
              </a:rPr>
              <a:t>Từ 1 bảng kết quả 9 trường → tới bộ dữ liệu đầu vào đủ để tự tính GRDP</a:t>
            </a:r>
            <a:endParaRPr sz="1500"/>
          </a:p>
        </p:txBody>
      </p:sp>
      <p:sp>
        <p:nvSpPr>
          <p:cNvPr id="4" name="Shape 2">
            <a:extLst xmlns:a="http://schemas.openxmlformats.org/drawingml/2006/main">
              <a:ext uri="{FF2B5EF4-FFF2-40B4-BE49-F238E27FC236}">
                <a16:creationId xmlns:a16="http://schemas.microsoft.com/office/drawing/2014/main" id="{76BD7EE6-0FA9-46EC-B2FA-5F0E0781ACCF}"/>
              </a:ext>
            </a:extLst>
          </p:cNvPr>
          <p:cNvSpPr>
            <a:spLocks xmlns:a="http://schemas.openxmlformats.org/drawingml/2006/main" noGrp="1"/>
          </p:cNvSpPr>
          <p:nvPr/>
        </p:nvSpPr>
        <p:spPr>
          <a:xfrm xmlns:a="http://schemas.openxmlformats.org/drawingml/2006/main">
            <a:off x="822960" y="2057400"/>
            <a:ext cx="5029200" cy="3108960"/>
          </a:xfrm>
          <a:prstGeom xmlns:a="http://schemas.openxmlformats.org/drawingml/2006/main" prst="roundRect">
            <a:avLst>
              <a:gd name="adj" fmla="val 2941"/>
            </a:avLst>
          </a:prstGeom>
          <a:solidFill xmlns:a="http://schemas.openxmlformats.org/drawingml/2006/main">
            <a:srgbClr val="2C3B7A"/>
          </a:solidFill>
        </p:spPr>
      </p:sp>
      <p:sp>
        <p:nvSpPr>
          <p:cNvPr id="5" name="Text 3">
            <a:extLst xmlns:a="http://schemas.openxmlformats.org/drawingml/2006/main">
              <a:ext uri="{FF2B5EF4-FFF2-40B4-BE49-F238E27FC236}">
                <a16:creationId xmlns:a16="http://schemas.microsoft.com/office/drawing/2014/main" id="{61867AA6-4448-4440-A553-74D4F33D1A9E}"/>
              </a:ext>
            </a:extLst>
          </p:cNvPr>
          <p:cNvSpPr>
            <a:spLocks xmlns:a="http://schemas.openxmlformats.org/drawingml/2006/main" noGrp="1"/>
          </p:cNvSpPr>
          <p:nvPr/>
        </p:nvSpPr>
        <p:spPr>
          <a:xfrm xmlns:a="http://schemas.openxmlformats.org/drawingml/2006/main">
            <a:off x="1143000" y="2194560"/>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CADCFC"/>
                </a:solidFill>
                <a:latin typeface="Cambria"/>
                <a:ea typeface="Cambria"/>
                <a:cs typeface="Cambria"/>
              </a:rPr>
              <a:t>ĐANG CÓ</a:t>
            </a:r>
            <a:endParaRPr sz="2000"/>
          </a:p>
        </p:txBody>
      </p:sp>
      <p:sp>
        <p:nvSpPr>
          <p:cNvPr id="6" name="Text 4">
            <a:extLst xmlns:a="http://schemas.openxmlformats.org/drawingml/2006/main">
              <a:ext uri="{FF2B5EF4-FFF2-40B4-BE49-F238E27FC236}">
                <a16:creationId xmlns:a16="http://schemas.microsoft.com/office/drawing/2014/main" id="{C18F7DE7-AAA7-4A46-993D-EB2760D3D37E}"/>
              </a:ext>
            </a:extLst>
          </p:cNvPr>
          <p:cNvSpPr>
            <a:spLocks xmlns:a="http://schemas.openxmlformats.org/drawingml/2006/main" noGrp="1"/>
          </p:cNvSpPr>
          <p:nvPr/>
        </p:nvSpPr>
        <p:spPr>
          <a:xfrm xmlns:a="http://schemas.openxmlformats.org/drawingml/2006/main">
            <a:off x="1188720" y="2743200"/>
            <a:ext cx="429768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1200"/>
              </a:spcAft>
              <a:buSzPct val="100000"/>
              <a:buChar char="•"/>
            </a:pPr>
            <a:r>
              <a:rPr sz="1350">
                <a:solidFill>
                  <a:srgbClr val="FFFFFF"/>
                </a:solidFill>
                <a:latin typeface="Calibri"/>
                <a:ea typeface="Calibri"/>
                <a:cs typeface="Calibri"/>
              </a:rPr>
              <a:t>1 bảng kết quả GRDP theo quý</a:t>
            </a:r>
            <a:endParaRPr sz="1350"/>
          </a:p>
          <a:p xmlns:a="http://schemas.openxmlformats.org/drawingml/2006/main">
            <a:pPr marL="342900" indent="-342900">
              <a:spcAft>
                <a:spcPts val="1200"/>
              </a:spcAft>
              <a:buSzPct val="100000"/>
              <a:buChar char="•"/>
            </a:pPr>
            <a:r>
              <a:rPr sz="1350">
                <a:solidFill>
                  <a:srgbClr val="FFFFFF"/>
                </a:solidFill>
                <a:latin typeface="Calibri"/>
                <a:ea typeface="Calibri"/>
                <a:cs typeface="Calibri"/>
              </a:rPr>
              <a:t>9 trường dữ liệu</a:t>
            </a:r>
            <a:endParaRPr sz="1350"/>
          </a:p>
          <a:p xmlns:a="http://schemas.openxmlformats.org/drawingml/2006/main">
            <a:pPr marL="342900" indent="-342900">
              <a:spcAft>
                <a:spcPts val="1200"/>
              </a:spcAft>
              <a:buSzPct val="100000"/>
              <a:buChar char="•"/>
            </a:pPr>
            <a:r>
              <a:rPr sz="1350">
                <a:solidFill>
                  <a:srgbClr val="FFFFFF"/>
                </a:solidFill>
                <a:latin typeface="Calibri"/>
                <a:ea typeface="Calibri"/>
                <a:cs typeface="Calibri"/>
              </a:rPr>
              <a:t>2 loại giá, 1 phương pháp</a:t>
            </a:r>
            <a:endParaRPr sz="1350"/>
          </a:p>
          <a:p xmlns:a="http://schemas.openxmlformats.org/drawingml/2006/main">
            <a:pPr marL="342900" indent="-342900">
              <a:spcAft>
                <a:spcPts val="1200"/>
              </a:spcAft>
              <a:buSzPct val="100000"/>
              <a:buChar char="•"/>
            </a:pPr>
            <a:r>
              <a:rPr sz="1350">
                <a:solidFill>
                  <a:srgbClr val="FFFFFF"/>
                </a:solidFill>
                <a:latin typeface="Calibri"/>
                <a:ea typeface="Calibri"/>
                <a:cs typeface="Calibri"/>
              </a:rPr>
              <a:t>Tần suất: quý, sau công bố</a:t>
            </a:r>
            <a:endParaRPr sz="1350"/>
          </a:p>
        </p:txBody>
      </p:sp>
      <p:sp>
        <p:nvSpPr>
          <p:cNvPr id="7" name="Shape 5">
            <a:extLst xmlns:a="http://schemas.openxmlformats.org/drawingml/2006/main">
              <a:ext uri="{FF2B5EF4-FFF2-40B4-BE49-F238E27FC236}">
                <a16:creationId xmlns:a16="http://schemas.microsoft.com/office/drawing/2014/main" id="{EF312A60-BE71-411E-9DD4-0A12F79157A8}"/>
              </a:ext>
            </a:extLst>
          </p:cNvPr>
          <p:cNvSpPr>
            <a:spLocks xmlns:a="http://schemas.openxmlformats.org/drawingml/2006/main" noGrp="1"/>
          </p:cNvSpPr>
          <p:nvPr/>
        </p:nvSpPr>
        <p:spPr>
          <a:xfrm xmlns:a="http://schemas.openxmlformats.org/drawingml/2006/main">
            <a:off x="6309360" y="2057400"/>
            <a:ext cx="5029200" cy="3108960"/>
          </a:xfrm>
          <a:prstGeom xmlns:a="http://schemas.openxmlformats.org/drawingml/2006/main" prst="roundRect">
            <a:avLst>
              <a:gd name="adj" fmla="val 2941"/>
            </a:avLst>
          </a:prstGeom>
          <a:solidFill xmlns:a="http://schemas.openxmlformats.org/drawingml/2006/main">
            <a:srgbClr val="C9A227"/>
          </a:solidFill>
        </p:spPr>
      </p:sp>
      <p:sp>
        <p:nvSpPr>
          <p:cNvPr id="8" name="Text 6">
            <a:extLst xmlns:a="http://schemas.openxmlformats.org/drawingml/2006/main">
              <a:ext uri="{FF2B5EF4-FFF2-40B4-BE49-F238E27FC236}">
                <a16:creationId xmlns:a16="http://schemas.microsoft.com/office/drawing/2014/main" id="{E4E5C241-BD06-49F0-8FFA-D67ACE9E6CEE}"/>
              </a:ext>
            </a:extLst>
          </p:cNvPr>
          <p:cNvSpPr>
            <a:spLocks xmlns:a="http://schemas.openxmlformats.org/drawingml/2006/main" noGrp="1"/>
          </p:cNvSpPr>
          <p:nvPr/>
        </p:nvSpPr>
        <p:spPr>
          <a:xfrm xmlns:a="http://schemas.openxmlformats.org/drawingml/2006/main">
            <a:off x="6629400" y="2194560"/>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2761"/>
                </a:solidFill>
                <a:latin typeface="Cambria"/>
                <a:ea typeface="Cambria"/>
                <a:cs typeface="Cambria"/>
              </a:rPr>
              <a:t>CẦN CÓ</a:t>
            </a:r>
            <a:endParaRPr sz="2000"/>
          </a:p>
        </p:txBody>
      </p:sp>
      <p:sp>
        <p:nvSpPr>
          <p:cNvPr id="9" name="Text 7">
            <a:extLst xmlns:a="http://schemas.openxmlformats.org/drawingml/2006/main">
              <a:ext uri="{FF2B5EF4-FFF2-40B4-BE49-F238E27FC236}">
                <a16:creationId xmlns:a16="http://schemas.microsoft.com/office/drawing/2014/main" id="{FAFD6A61-82F9-4791-A607-D2B7947F309B}"/>
              </a:ext>
            </a:extLst>
          </p:cNvPr>
          <p:cNvSpPr>
            <a:spLocks xmlns:a="http://schemas.openxmlformats.org/drawingml/2006/main" noGrp="1"/>
          </p:cNvSpPr>
          <p:nvPr/>
        </p:nvSpPr>
        <p:spPr>
          <a:xfrm xmlns:a="http://schemas.openxmlformats.org/drawingml/2006/main">
            <a:off x="6675120" y="2743200"/>
            <a:ext cx="4297680" cy="22860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1200"/>
              </a:spcAft>
              <a:buSzPct val="100000"/>
              <a:buChar char="•"/>
            </a:pPr>
            <a:r>
              <a:rPr sz="1350">
                <a:solidFill>
                  <a:srgbClr val="202536"/>
                </a:solidFill>
                <a:latin typeface="Calibri"/>
                <a:ea typeface="Calibri"/>
                <a:cs typeface="Calibri"/>
              </a:rPr>
              <a:t>Khoảng 12–15 bảng dữ liệu nguồn</a:t>
            </a:r>
            <a:endParaRPr sz="1350"/>
          </a:p>
          <a:p xmlns:a="http://schemas.openxmlformats.org/drawingml/2006/main">
            <a:pPr marL="342900" indent="-342900">
              <a:spcAft>
                <a:spcPts val="1200"/>
              </a:spcAft>
              <a:buSzPct val="100000"/>
              <a:buChar char="•"/>
            </a:pPr>
            <a:r>
              <a:rPr sz="1350">
                <a:solidFill>
                  <a:srgbClr val="202536"/>
                </a:solidFill>
                <a:latin typeface="Calibri"/>
                <a:ea typeface="Calibri"/>
                <a:cs typeface="Calibri"/>
              </a:rPr>
              <a:t>Trên 60 trường dữ liệu</a:t>
            </a:r>
            <a:endParaRPr sz="1350"/>
          </a:p>
          <a:p xmlns:a="http://schemas.openxmlformats.org/drawingml/2006/main">
            <a:pPr marL="342900" indent="-342900">
              <a:spcAft>
                <a:spcPts val="1200"/>
              </a:spcAft>
              <a:buSzPct val="100000"/>
              <a:buChar char="•"/>
            </a:pPr>
            <a:r>
              <a:rPr sz="1350">
                <a:solidFill>
                  <a:srgbClr val="202536"/>
                </a:solidFill>
                <a:latin typeface="Calibri"/>
                <a:ea typeface="Calibri"/>
                <a:cs typeface="Calibri"/>
              </a:rPr>
              <a:t>3 phương pháp để đối chiếu chéo</a:t>
            </a:r>
            <a:endParaRPr sz="1350"/>
          </a:p>
          <a:p xmlns:a="http://schemas.openxmlformats.org/drawingml/2006/main">
            <a:pPr marL="342900" indent="-342900">
              <a:spcAft>
                <a:spcPts val="1200"/>
              </a:spcAft>
              <a:buSzPct val="100000"/>
              <a:buChar char="•"/>
            </a:pPr>
            <a:r>
              <a:rPr sz="1350">
                <a:solidFill>
                  <a:srgbClr val="202536"/>
                </a:solidFill>
                <a:latin typeface="Calibri"/>
                <a:ea typeface="Calibri"/>
                <a:cs typeface="Calibri"/>
              </a:rPr>
              <a:t>Tần suất: tháng/quý, cập nhật liên tục</a:t>
            </a:r>
            <a:endParaRPr sz="1350"/>
          </a:p>
        </p:txBody>
      </p:sp>
      <p:sp>
        <p:nvSpPr>
          <p:cNvPr id="10" name="Shape 8">
            <a:extLst xmlns:a="http://schemas.openxmlformats.org/drawingml/2006/main">
              <a:ext uri="{FF2B5EF4-FFF2-40B4-BE49-F238E27FC236}">
                <a16:creationId xmlns:a16="http://schemas.microsoft.com/office/drawing/2014/main" id="{0348AC63-B591-4247-9033-996C41F210BF}"/>
              </a:ext>
            </a:extLst>
          </p:cNvPr>
          <p:cNvSpPr>
            <a:spLocks xmlns:a="http://schemas.openxmlformats.org/drawingml/2006/main" noGrp="1"/>
          </p:cNvSpPr>
          <p:nvPr/>
        </p:nvSpPr>
        <p:spPr>
          <a:xfrm xmlns:a="http://schemas.openxmlformats.org/drawingml/2006/main">
            <a:off x="5943600" y="3291840"/>
            <a:ext cx="777240" cy="548640"/>
          </a:xfrm>
          <a:prstGeom xmlns:a="http://schemas.openxmlformats.org/drawingml/2006/main" prst="rightArrow">
            <a:avLst/>
          </a:prstGeom>
          <a:solidFill xmlns:a="http://schemas.openxmlformats.org/drawingml/2006/main">
            <a:srgbClr val="FFFFFF"/>
          </a:solidFill>
        </p:spPr>
      </p:sp>
      <p:sp>
        <p:nvSpPr>
          <p:cNvPr id="11" name="Text 9">
            <a:extLst xmlns:a="http://schemas.openxmlformats.org/drawingml/2006/main">
              <a:ext uri="{FF2B5EF4-FFF2-40B4-BE49-F238E27FC236}">
                <a16:creationId xmlns:a16="http://schemas.microsoft.com/office/drawing/2014/main" id="{2A8A6A4B-0925-4C9C-AC59-14F4EC06F062}"/>
              </a:ext>
            </a:extLst>
          </p:cNvPr>
          <p:cNvSpPr>
            <a:spLocks xmlns:a="http://schemas.openxmlformats.org/drawingml/2006/main" noGrp="1"/>
          </p:cNvSpPr>
          <p:nvPr/>
        </p:nvSpPr>
        <p:spPr>
          <a:xfrm xmlns:a="http://schemas.openxmlformats.org/drawingml/2006/main">
            <a:off x="822960" y="5440680"/>
            <a:ext cx="106070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CADCFC"/>
                </a:solidFill>
                <a:latin typeface="Calibri"/>
                <a:ea typeface="Calibri"/>
                <a:cs typeface="Calibri"/>
              </a:rPr>
              <a:t>Không có bộ dữ liệu đầu vào này, IOC chỉ hiển thị lại con số của Thống kê — không kiểm chứng, không dự báo, không phân tích nguyên nhân tăng/giảm được.</a:t>
            </a:r>
            <a:endParaRPr sz="1300"/>
          </a:p>
        </p:txBody>
      </p:sp>
    </p:spTree>
    <p:extLst>
      <p:ext uri="{BB962C8B-B14F-4D97-AF65-F5344CB8AC3E}">
        <p14:creationId xmlns:p14="http://schemas.microsoft.com/office/powerpoint/2010/main" val="17394093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DAF829-FBD0-4140-940D-9FB09B42C0CF}"/>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E2761"/>
                </a:solidFill>
                <a:latin typeface="Cambria"/>
                <a:ea typeface="Cambria"/>
                <a:cs typeface="Cambria"/>
              </a:rPr>
              <a:t>Danh mục nguồn cấp dữ liệu cần kết nối vào Kho dữ liệu IOC</a:t>
            </a:r>
            <a:endParaRPr sz="2600"/>
          </a:p>
        </p:txBody>
      </p:sp>
      <p:sp>
        <p:nvSpPr>
          <p:cNvPr id="3" name="Text 1">
            <a:extLst xmlns:a="http://schemas.openxmlformats.org/drawingml/2006/main">
              <a:ext uri="{FF2B5EF4-FFF2-40B4-BE49-F238E27FC236}">
                <a16:creationId xmlns:a16="http://schemas.microsoft.com/office/drawing/2014/main" id="{68401422-B950-4783-B533-15F34172CDF3}"/>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Mỗi nguồn gắn với đầu mối, tần suất và phương thức kết nối cụ thể</a:t>
            </a:r>
            <a:endParaRPr sz="1400"/>
          </a:p>
        </p:txBody>
      </p:sp>
      <p:sp>
        <p:nvSpPr>
          <p:cNvPr id="4" name="Shape 2">
            <a:extLst xmlns:a="http://schemas.openxmlformats.org/drawingml/2006/main">
              <a:ext uri="{FF2B5EF4-FFF2-40B4-BE49-F238E27FC236}">
                <a16:creationId xmlns:a16="http://schemas.microsoft.com/office/drawing/2014/main" id="{21BD9A7B-0D23-4C11-B22A-FBE60628B0D6}"/>
              </a:ext>
            </a:extLst>
          </p:cNvPr>
          <p:cNvSpPr>
            <a:spLocks xmlns:a="http://schemas.openxmlformats.org/drawingml/2006/main" noGrp="1"/>
          </p:cNvSpPr>
          <p:nvPr/>
        </p:nvSpPr>
        <p:spPr>
          <a:xfrm xmlns:a="http://schemas.openxmlformats.org/drawingml/2006/main">
            <a:off x="640080" y="169164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5" name="Shape 3">
            <a:extLst xmlns:a="http://schemas.openxmlformats.org/drawingml/2006/main">
              <a:ext uri="{FF2B5EF4-FFF2-40B4-BE49-F238E27FC236}">
                <a16:creationId xmlns:a16="http://schemas.microsoft.com/office/drawing/2014/main" id="{E3455976-B058-498A-9B9B-3196653BC9F1}"/>
              </a:ext>
            </a:extLst>
          </p:cNvPr>
          <p:cNvSpPr>
            <a:spLocks xmlns:a="http://schemas.openxmlformats.org/drawingml/2006/main" noGrp="1"/>
          </p:cNvSpPr>
          <p:nvPr/>
        </p:nvSpPr>
        <p:spPr>
          <a:xfrm xmlns:a="http://schemas.openxmlformats.org/drawingml/2006/main">
            <a:off x="841248" y="1874520"/>
            <a:ext cx="310896" cy="310896"/>
          </a:xfrm>
          <a:prstGeom xmlns:a="http://schemas.openxmlformats.org/drawingml/2006/main" prst="ellipse">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026FF4EC-DD9D-4AFC-8EEE-AF129EF691AD}"/>
              </a:ext>
            </a:extLst>
          </p:cNvPr>
          <p:cNvSpPr>
            <a:spLocks xmlns:a="http://schemas.openxmlformats.org/drawingml/2006/main" noGrp="1"/>
          </p:cNvSpPr>
          <p:nvPr/>
        </p:nvSpPr>
        <p:spPr>
          <a:xfrm xmlns:a="http://schemas.openxmlformats.org/drawingml/2006/main">
            <a:off x="1261872" y="183794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Chi cục Thống kê tỉnh</a:t>
            </a:r>
            <a:endParaRPr sz="1250"/>
          </a:p>
        </p:txBody>
      </p:sp>
      <p:sp>
        <p:nvSpPr>
          <p:cNvPr id="7" name="Text 5">
            <a:extLst xmlns:a="http://schemas.openxmlformats.org/drawingml/2006/main">
              <a:ext uri="{FF2B5EF4-FFF2-40B4-BE49-F238E27FC236}">
                <a16:creationId xmlns:a16="http://schemas.microsoft.com/office/drawing/2014/main" id="{A8DC7B99-CE1F-41D3-993F-4ABB879E4050}"/>
              </a:ext>
            </a:extLst>
          </p:cNvPr>
          <p:cNvSpPr>
            <a:spLocks xmlns:a="http://schemas.openxmlformats.org/drawingml/2006/main" noGrp="1"/>
          </p:cNvSpPr>
          <p:nvPr/>
        </p:nvSpPr>
        <p:spPr>
          <a:xfrm xmlns:a="http://schemas.openxmlformats.org/drawingml/2006/main">
            <a:off x="868680" y="228600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GO, IC, hệ số IC, kết quả điều tra DN &amp; hộ cá thể, chỉ số giá</a:t>
            </a:r>
            <a:endParaRPr sz="1050"/>
          </a:p>
        </p:txBody>
      </p:sp>
      <p:sp>
        <p:nvSpPr>
          <p:cNvPr id="8" name="Text 6">
            <a:extLst xmlns:a="http://schemas.openxmlformats.org/drawingml/2006/main">
              <a:ext uri="{FF2B5EF4-FFF2-40B4-BE49-F238E27FC236}">
                <a16:creationId xmlns:a16="http://schemas.microsoft.com/office/drawing/2014/main" id="{977FAD92-7834-4B93-ACD9-5CFEB5F88FCE}"/>
              </a:ext>
            </a:extLst>
          </p:cNvPr>
          <p:cNvSpPr>
            <a:spLocks xmlns:a="http://schemas.openxmlformats.org/drawingml/2006/main" noGrp="1"/>
          </p:cNvSpPr>
          <p:nvPr/>
        </p:nvSpPr>
        <p:spPr>
          <a:xfrm xmlns:a="http://schemas.openxmlformats.org/drawingml/2006/main">
            <a:off x="868680" y="271576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Tháng / Quý</a:t>
            </a:r>
            <a:endParaRPr sz="1000"/>
          </a:p>
        </p:txBody>
      </p:sp>
      <p:sp>
        <p:nvSpPr>
          <p:cNvPr id="9" name="Shape 7">
            <a:extLst xmlns:a="http://schemas.openxmlformats.org/drawingml/2006/main">
              <a:ext uri="{FF2B5EF4-FFF2-40B4-BE49-F238E27FC236}">
                <a16:creationId xmlns:a16="http://schemas.microsoft.com/office/drawing/2014/main" id="{8010A463-85D3-486A-AFC9-17699F458969}"/>
              </a:ext>
            </a:extLst>
          </p:cNvPr>
          <p:cNvSpPr>
            <a:spLocks xmlns:a="http://schemas.openxmlformats.org/drawingml/2006/main" noGrp="1"/>
          </p:cNvSpPr>
          <p:nvPr/>
        </p:nvSpPr>
        <p:spPr>
          <a:xfrm xmlns:a="http://schemas.openxmlformats.org/drawingml/2006/main">
            <a:off x="4434840" y="169164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10" name="Shape 8">
            <a:extLst xmlns:a="http://schemas.openxmlformats.org/drawingml/2006/main">
              <a:ext uri="{FF2B5EF4-FFF2-40B4-BE49-F238E27FC236}">
                <a16:creationId xmlns:a16="http://schemas.microsoft.com/office/drawing/2014/main" id="{5826FAC5-261C-4FB0-85C9-B9EA6FE32905}"/>
              </a:ext>
            </a:extLst>
          </p:cNvPr>
          <p:cNvSpPr>
            <a:spLocks xmlns:a="http://schemas.openxmlformats.org/drawingml/2006/main" noGrp="1"/>
          </p:cNvSpPr>
          <p:nvPr/>
        </p:nvSpPr>
        <p:spPr>
          <a:xfrm xmlns:a="http://schemas.openxmlformats.org/drawingml/2006/main">
            <a:off x="4636008" y="1874520"/>
            <a:ext cx="310896" cy="310896"/>
          </a:xfrm>
          <a:prstGeom xmlns:a="http://schemas.openxmlformats.org/drawingml/2006/main" prst="ellipse">
            <a:avLst/>
          </a:prstGeom>
          <a:solidFill xmlns:a="http://schemas.openxmlformats.org/drawingml/2006/main">
            <a:srgbClr val="1E2761"/>
          </a:solidFill>
        </p:spPr>
      </p:sp>
      <p:sp>
        <p:nvSpPr>
          <p:cNvPr id="11" name="Text 9">
            <a:extLst xmlns:a="http://schemas.openxmlformats.org/drawingml/2006/main">
              <a:ext uri="{FF2B5EF4-FFF2-40B4-BE49-F238E27FC236}">
                <a16:creationId xmlns:a16="http://schemas.microsoft.com/office/drawing/2014/main" id="{003A0402-15DC-4F90-9597-42B78ADA1079}"/>
              </a:ext>
            </a:extLst>
          </p:cNvPr>
          <p:cNvSpPr>
            <a:spLocks xmlns:a="http://schemas.openxmlformats.org/drawingml/2006/main" noGrp="1"/>
          </p:cNvSpPr>
          <p:nvPr/>
        </p:nvSpPr>
        <p:spPr>
          <a:xfrm xmlns:a="http://schemas.openxmlformats.org/drawingml/2006/main">
            <a:off x="5056632" y="183794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Thuế – Hải quan</a:t>
            </a:r>
            <a:endParaRPr sz="1250"/>
          </a:p>
        </p:txBody>
      </p:sp>
      <p:sp>
        <p:nvSpPr>
          <p:cNvPr id="12" name="Text 10">
            <a:extLst xmlns:a="http://schemas.openxmlformats.org/drawingml/2006/main">
              <a:ext uri="{FF2B5EF4-FFF2-40B4-BE49-F238E27FC236}">
                <a16:creationId xmlns:a16="http://schemas.microsoft.com/office/drawing/2014/main" id="{CA614D14-E417-4E98-8AA4-A5BD14C5461F}"/>
              </a:ext>
            </a:extLst>
          </p:cNvPr>
          <p:cNvSpPr>
            <a:spLocks xmlns:a="http://schemas.openxmlformats.org/drawingml/2006/main" noGrp="1"/>
          </p:cNvSpPr>
          <p:nvPr/>
        </p:nvSpPr>
        <p:spPr>
          <a:xfrm xmlns:a="http://schemas.openxmlformats.org/drawingml/2006/main">
            <a:off x="4663440" y="228600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Thuế sản phẩm, thuế sản xuất, kim ngạch xuất nhập khẩu</a:t>
            </a:r>
            <a:endParaRPr sz="1050"/>
          </a:p>
        </p:txBody>
      </p:sp>
      <p:sp>
        <p:nvSpPr>
          <p:cNvPr id="13" name="Text 11">
            <a:extLst xmlns:a="http://schemas.openxmlformats.org/drawingml/2006/main">
              <a:ext uri="{FF2B5EF4-FFF2-40B4-BE49-F238E27FC236}">
                <a16:creationId xmlns:a16="http://schemas.microsoft.com/office/drawing/2014/main" id="{4E1C7711-E368-4C8E-8946-B76517BA9DDD}"/>
              </a:ext>
            </a:extLst>
          </p:cNvPr>
          <p:cNvSpPr>
            <a:spLocks xmlns:a="http://schemas.openxmlformats.org/drawingml/2006/main" noGrp="1"/>
          </p:cNvSpPr>
          <p:nvPr/>
        </p:nvSpPr>
        <p:spPr>
          <a:xfrm xmlns:a="http://schemas.openxmlformats.org/drawingml/2006/main">
            <a:off x="4663440" y="271576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Tháng</a:t>
            </a:r>
            <a:endParaRPr sz="1000"/>
          </a:p>
        </p:txBody>
      </p:sp>
      <p:sp>
        <p:nvSpPr>
          <p:cNvPr id="14" name="Shape 12">
            <a:extLst xmlns:a="http://schemas.openxmlformats.org/drawingml/2006/main">
              <a:ext uri="{FF2B5EF4-FFF2-40B4-BE49-F238E27FC236}">
                <a16:creationId xmlns:a16="http://schemas.microsoft.com/office/drawing/2014/main" id="{E3F59D3B-D885-4778-9392-069813AD9E9F}"/>
              </a:ext>
            </a:extLst>
          </p:cNvPr>
          <p:cNvSpPr>
            <a:spLocks xmlns:a="http://schemas.openxmlformats.org/drawingml/2006/main" noGrp="1"/>
          </p:cNvSpPr>
          <p:nvPr/>
        </p:nvSpPr>
        <p:spPr>
          <a:xfrm xmlns:a="http://schemas.openxmlformats.org/drawingml/2006/main">
            <a:off x="8229600" y="169164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15" name="Shape 13">
            <a:extLst xmlns:a="http://schemas.openxmlformats.org/drawingml/2006/main">
              <a:ext uri="{FF2B5EF4-FFF2-40B4-BE49-F238E27FC236}">
                <a16:creationId xmlns:a16="http://schemas.microsoft.com/office/drawing/2014/main" id="{65D786D5-28B4-4641-A7BE-C5F038CA94E5}"/>
              </a:ext>
            </a:extLst>
          </p:cNvPr>
          <p:cNvSpPr>
            <a:spLocks xmlns:a="http://schemas.openxmlformats.org/drawingml/2006/main" noGrp="1"/>
          </p:cNvSpPr>
          <p:nvPr/>
        </p:nvSpPr>
        <p:spPr>
          <a:xfrm xmlns:a="http://schemas.openxmlformats.org/drawingml/2006/main">
            <a:off x="8430768" y="1874520"/>
            <a:ext cx="310896" cy="310896"/>
          </a:xfrm>
          <a:prstGeom xmlns:a="http://schemas.openxmlformats.org/drawingml/2006/main" prst="ellipse">
            <a:avLst/>
          </a:prstGeom>
          <a:solidFill xmlns:a="http://schemas.openxmlformats.org/drawingml/2006/main">
            <a:srgbClr val="1E2761"/>
          </a:solidFill>
        </p:spPr>
      </p:sp>
      <p:sp>
        <p:nvSpPr>
          <p:cNvPr id="16" name="Text 14">
            <a:extLst xmlns:a="http://schemas.openxmlformats.org/drawingml/2006/main">
              <a:ext uri="{FF2B5EF4-FFF2-40B4-BE49-F238E27FC236}">
                <a16:creationId xmlns:a16="http://schemas.microsoft.com/office/drawing/2014/main" id="{2D65A0DE-3A2A-401C-84FB-A8ADE804F652}"/>
              </a:ext>
            </a:extLst>
          </p:cNvPr>
          <p:cNvSpPr>
            <a:spLocks xmlns:a="http://schemas.openxmlformats.org/drawingml/2006/main" noGrp="1"/>
          </p:cNvSpPr>
          <p:nvPr/>
        </p:nvSpPr>
        <p:spPr>
          <a:xfrm xmlns:a="http://schemas.openxmlformats.org/drawingml/2006/main">
            <a:off x="8851392" y="183794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Tài chính – Kho bạc</a:t>
            </a:r>
            <a:endParaRPr sz="1250"/>
          </a:p>
        </p:txBody>
      </p:sp>
      <p:sp>
        <p:nvSpPr>
          <p:cNvPr id="17" name="Text 15">
            <a:extLst xmlns:a="http://schemas.openxmlformats.org/drawingml/2006/main">
              <a:ext uri="{FF2B5EF4-FFF2-40B4-BE49-F238E27FC236}">
                <a16:creationId xmlns:a16="http://schemas.microsoft.com/office/drawing/2014/main" id="{DDEFE6DA-DBE9-4356-BC9A-0DF08A2C0EAD}"/>
              </a:ext>
            </a:extLst>
          </p:cNvPr>
          <p:cNvSpPr>
            <a:spLocks xmlns:a="http://schemas.openxmlformats.org/drawingml/2006/main" noGrp="1"/>
          </p:cNvSpPr>
          <p:nvPr/>
        </p:nvSpPr>
        <p:spPr>
          <a:xfrm xmlns:a="http://schemas.openxmlformats.org/drawingml/2006/main">
            <a:off x="8458200" y="228600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Chi ngân sách, trợ cấp sản phẩm, chi thường xuyên</a:t>
            </a:r>
            <a:endParaRPr sz="1050"/>
          </a:p>
        </p:txBody>
      </p:sp>
      <p:sp>
        <p:nvSpPr>
          <p:cNvPr id="18" name="Text 16">
            <a:extLst xmlns:a="http://schemas.openxmlformats.org/drawingml/2006/main">
              <a:ext uri="{FF2B5EF4-FFF2-40B4-BE49-F238E27FC236}">
                <a16:creationId xmlns:a16="http://schemas.microsoft.com/office/drawing/2014/main" id="{DBD905C5-E02D-429E-8AAA-F3B312278D11}"/>
              </a:ext>
            </a:extLst>
          </p:cNvPr>
          <p:cNvSpPr>
            <a:spLocks xmlns:a="http://schemas.openxmlformats.org/drawingml/2006/main" noGrp="1"/>
          </p:cNvSpPr>
          <p:nvPr/>
        </p:nvSpPr>
        <p:spPr>
          <a:xfrm xmlns:a="http://schemas.openxmlformats.org/drawingml/2006/main">
            <a:off x="8458200" y="271576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Tháng</a:t>
            </a:r>
            <a:endParaRPr sz="1000"/>
          </a:p>
        </p:txBody>
      </p:sp>
      <p:sp>
        <p:nvSpPr>
          <p:cNvPr id="19" name="Shape 17">
            <a:extLst xmlns:a="http://schemas.openxmlformats.org/drawingml/2006/main">
              <a:ext uri="{FF2B5EF4-FFF2-40B4-BE49-F238E27FC236}">
                <a16:creationId xmlns:a16="http://schemas.microsoft.com/office/drawing/2014/main" id="{82E2B0A8-5CD6-457E-B93C-EFBD8E61E8AE}"/>
              </a:ext>
            </a:extLst>
          </p:cNvPr>
          <p:cNvSpPr>
            <a:spLocks xmlns:a="http://schemas.openxmlformats.org/drawingml/2006/main" noGrp="1"/>
          </p:cNvSpPr>
          <p:nvPr/>
        </p:nvSpPr>
        <p:spPr>
          <a:xfrm xmlns:a="http://schemas.openxmlformats.org/drawingml/2006/main">
            <a:off x="640080" y="310896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20" name="Shape 18">
            <a:extLst xmlns:a="http://schemas.openxmlformats.org/drawingml/2006/main">
              <a:ext uri="{FF2B5EF4-FFF2-40B4-BE49-F238E27FC236}">
                <a16:creationId xmlns:a16="http://schemas.microsoft.com/office/drawing/2014/main" id="{C944E945-C635-4696-907F-D5C37DDD0A00}"/>
              </a:ext>
            </a:extLst>
          </p:cNvPr>
          <p:cNvSpPr>
            <a:spLocks xmlns:a="http://schemas.openxmlformats.org/drawingml/2006/main" noGrp="1"/>
          </p:cNvSpPr>
          <p:nvPr/>
        </p:nvSpPr>
        <p:spPr>
          <a:xfrm xmlns:a="http://schemas.openxmlformats.org/drawingml/2006/main">
            <a:off x="841248" y="3291840"/>
            <a:ext cx="310896" cy="310896"/>
          </a:xfrm>
          <a:prstGeom xmlns:a="http://schemas.openxmlformats.org/drawingml/2006/main" prst="ellipse">
            <a:avLst/>
          </a:prstGeom>
          <a:solidFill xmlns:a="http://schemas.openxmlformats.org/drawingml/2006/main">
            <a:srgbClr val="1E2761"/>
          </a:solidFill>
        </p:spPr>
      </p:sp>
      <p:sp>
        <p:nvSpPr>
          <p:cNvPr id="21" name="Text 19">
            <a:extLst xmlns:a="http://schemas.openxmlformats.org/drawingml/2006/main">
              <a:ext uri="{FF2B5EF4-FFF2-40B4-BE49-F238E27FC236}">
                <a16:creationId xmlns:a16="http://schemas.microsoft.com/office/drawing/2014/main" id="{9B222D13-BE29-46E3-8742-8167BA7F7198}"/>
              </a:ext>
            </a:extLst>
          </p:cNvPr>
          <p:cNvSpPr>
            <a:spLocks xmlns:a="http://schemas.openxmlformats.org/drawingml/2006/main" noGrp="1"/>
          </p:cNvSpPr>
          <p:nvPr/>
        </p:nvSpPr>
        <p:spPr>
          <a:xfrm xmlns:a="http://schemas.openxmlformats.org/drawingml/2006/main">
            <a:off x="1261872" y="325526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Kế hoạch – Đầu tư</a:t>
            </a:r>
            <a:endParaRPr sz="1250"/>
          </a:p>
        </p:txBody>
      </p:sp>
      <p:sp>
        <p:nvSpPr>
          <p:cNvPr id="22" name="Text 20">
            <a:extLst xmlns:a="http://schemas.openxmlformats.org/drawingml/2006/main">
              <a:ext uri="{FF2B5EF4-FFF2-40B4-BE49-F238E27FC236}">
                <a16:creationId xmlns:a16="http://schemas.microsoft.com/office/drawing/2014/main" id="{2D0D7486-EF81-46DC-BCA2-6D7D6D0493E5}"/>
              </a:ext>
            </a:extLst>
          </p:cNvPr>
          <p:cNvSpPr>
            <a:spLocks xmlns:a="http://schemas.openxmlformats.org/drawingml/2006/main" noGrp="1"/>
          </p:cNvSpPr>
          <p:nvPr/>
        </p:nvSpPr>
        <p:spPr>
          <a:xfrm xmlns:a="http://schemas.openxmlformats.org/drawingml/2006/main">
            <a:off x="868680" y="370332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Vốn đầu tư thực hiện, đăng ký doanh nghiệp, dự án FDI</a:t>
            </a:r>
            <a:endParaRPr sz="1050"/>
          </a:p>
        </p:txBody>
      </p:sp>
      <p:sp>
        <p:nvSpPr>
          <p:cNvPr id="23" name="Text 21">
            <a:extLst xmlns:a="http://schemas.openxmlformats.org/drawingml/2006/main">
              <a:ext uri="{FF2B5EF4-FFF2-40B4-BE49-F238E27FC236}">
                <a16:creationId xmlns:a16="http://schemas.microsoft.com/office/drawing/2014/main" id="{A92801BC-4DEB-4AB4-8A5C-E0E1E37E6805}"/>
              </a:ext>
            </a:extLst>
          </p:cNvPr>
          <p:cNvSpPr>
            <a:spLocks xmlns:a="http://schemas.openxmlformats.org/drawingml/2006/main" noGrp="1"/>
          </p:cNvSpPr>
          <p:nvPr/>
        </p:nvSpPr>
        <p:spPr>
          <a:xfrm xmlns:a="http://schemas.openxmlformats.org/drawingml/2006/main">
            <a:off x="868680" y="413308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Tháng / Quý</a:t>
            </a:r>
            <a:endParaRPr sz="1000"/>
          </a:p>
        </p:txBody>
      </p:sp>
      <p:sp>
        <p:nvSpPr>
          <p:cNvPr id="24" name="Shape 22">
            <a:extLst xmlns:a="http://schemas.openxmlformats.org/drawingml/2006/main">
              <a:ext uri="{FF2B5EF4-FFF2-40B4-BE49-F238E27FC236}">
                <a16:creationId xmlns:a16="http://schemas.microsoft.com/office/drawing/2014/main" id="{1DF4B5C0-EF43-4655-86B5-962938513044}"/>
              </a:ext>
            </a:extLst>
          </p:cNvPr>
          <p:cNvSpPr>
            <a:spLocks xmlns:a="http://schemas.openxmlformats.org/drawingml/2006/main" noGrp="1"/>
          </p:cNvSpPr>
          <p:nvPr/>
        </p:nvSpPr>
        <p:spPr>
          <a:xfrm xmlns:a="http://schemas.openxmlformats.org/drawingml/2006/main">
            <a:off x="4434840" y="310896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25" name="Shape 23">
            <a:extLst xmlns:a="http://schemas.openxmlformats.org/drawingml/2006/main">
              <a:ext uri="{FF2B5EF4-FFF2-40B4-BE49-F238E27FC236}">
                <a16:creationId xmlns:a16="http://schemas.microsoft.com/office/drawing/2014/main" id="{7DAC1166-7F43-4357-80E2-52E789CCDE8C}"/>
              </a:ext>
            </a:extLst>
          </p:cNvPr>
          <p:cNvSpPr>
            <a:spLocks xmlns:a="http://schemas.openxmlformats.org/drawingml/2006/main" noGrp="1"/>
          </p:cNvSpPr>
          <p:nvPr/>
        </p:nvSpPr>
        <p:spPr>
          <a:xfrm xmlns:a="http://schemas.openxmlformats.org/drawingml/2006/main">
            <a:off x="4636008" y="3291840"/>
            <a:ext cx="310896" cy="310896"/>
          </a:xfrm>
          <a:prstGeom xmlns:a="http://schemas.openxmlformats.org/drawingml/2006/main" prst="ellipse">
            <a:avLst/>
          </a:prstGeom>
          <a:solidFill xmlns:a="http://schemas.openxmlformats.org/drawingml/2006/main">
            <a:srgbClr val="1E2761"/>
          </a:solidFill>
        </p:spPr>
      </p:sp>
      <p:sp>
        <p:nvSpPr>
          <p:cNvPr id="26" name="Text 24">
            <a:extLst xmlns:a="http://schemas.openxmlformats.org/drawingml/2006/main">
              <a:ext uri="{FF2B5EF4-FFF2-40B4-BE49-F238E27FC236}">
                <a16:creationId xmlns:a16="http://schemas.microsoft.com/office/drawing/2014/main" id="{DFCB31E6-4D28-4E9F-BBCE-C3BE1BDA710C}"/>
              </a:ext>
            </a:extLst>
          </p:cNvPr>
          <p:cNvSpPr>
            <a:spLocks xmlns:a="http://schemas.openxmlformats.org/drawingml/2006/main" noGrp="1"/>
          </p:cNvSpPr>
          <p:nvPr/>
        </p:nvSpPr>
        <p:spPr>
          <a:xfrm xmlns:a="http://schemas.openxmlformats.org/drawingml/2006/main">
            <a:off x="5056632" y="325526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Công Thương</a:t>
            </a:r>
            <a:endParaRPr sz="1250"/>
          </a:p>
        </p:txBody>
      </p:sp>
      <p:sp>
        <p:nvSpPr>
          <p:cNvPr id="27" name="Text 25">
            <a:extLst xmlns:a="http://schemas.openxmlformats.org/drawingml/2006/main">
              <a:ext uri="{FF2B5EF4-FFF2-40B4-BE49-F238E27FC236}">
                <a16:creationId xmlns:a16="http://schemas.microsoft.com/office/drawing/2014/main" id="{2C3D281C-3F88-4D7D-B80E-C7AE8321DF9C}"/>
              </a:ext>
            </a:extLst>
          </p:cNvPr>
          <p:cNvSpPr>
            <a:spLocks xmlns:a="http://schemas.openxmlformats.org/drawingml/2006/main" noGrp="1"/>
          </p:cNvSpPr>
          <p:nvPr/>
        </p:nvSpPr>
        <p:spPr>
          <a:xfrm xmlns:a="http://schemas.openxmlformats.org/drawingml/2006/main">
            <a:off x="4663440" y="370332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Sản lượng công nghiệp, tổng mức bán lẻ, điện năng tiêu thụ</a:t>
            </a:r>
            <a:endParaRPr sz="1050"/>
          </a:p>
        </p:txBody>
      </p:sp>
      <p:sp>
        <p:nvSpPr>
          <p:cNvPr id="28" name="Text 26">
            <a:extLst xmlns:a="http://schemas.openxmlformats.org/drawingml/2006/main">
              <a:ext uri="{FF2B5EF4-FFF2-40B4-BE49-F238E27FC236}">
                <a16:creationId xmlns:a16="http://schemas.microsoft.com/office/drawing/2014/main" id="{68FDAEAF-B90F-42BC-B933-6EF5495AE748}"/>
              </a:ext>
            </a:extLst>
          </p:cNvPr>
          <p:cNvSpPr>
            <a:spLocks xmlns:a="http://schemas.openxmlformats.org/drawingml/2006/main" noGrp="1"/>
          </p:cNvSpPr>
          <p:nvPr/>
        </p:nvSpPr>
        <p:spPr>
          <a:xfrm xmlns:a="http://schemas.openxmlformats.org/drawingml/2006/main">
            <a:off x="4663440" y="413308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Tháng</a:t>
            </a:r>
            <a:endParaRPr sz="1000"/>
          </a:p>
        </p:txBody>
      </p:sp>
      <p:sp>
        <p:nvSpPr>
          <p:cNvPr id="29" name="Shape 27">
            <a:extLst xmlns:a="http://schemas.openxmlformats.org/drawingml/2006/main">
              <a:ext uri="{FF2B5EF4-FFF2-40B4-BE49-F238E27FC236}">
                <a16:creationId xmlns:a16="http://schemas.microsoft.com/office/drawing/2014/main" id="{35EA0E74-A41F-4D94-BA66-843CB97039DC}"/>
              </a:ext>
            </a:extLst>
          </p:cNvPr>
          <p:cNvSpPr>
            <a:spLocks xmlns:a="http://schemas.openxmlformats.org/drawingml/2006/main" noGrp="1"/>
          </p:cNvSpPr>
          <p:nvPr/>
        </p:nvSpPr>
        <p:spPr>
          <a:xfrm xmlns:a="http://schemas.openxmlformats.org/drawingml/2006/main">
            <a:off x="8229600" y="310896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30" name="Shape 28">
            <a:extLst xmlns:a="http://schemas.openxmlformats.org/drawingml/2006/main">
              <a:ext uri="{FF2B5EF4-FFF2-40B4-BE49-F238E27FC236}">
                <a16:creationId xmlns:a16="http://schemas.microsoft.com/office/drawing/2014/main" id="{621943E7-2D9D-42CD-A024-FE2EDC797D94}"/>
              </a:ext>
            </a:extLst>
          </p:cNvPr>
          <p:cNvSpPr>
            <a:spLocks xmlns:a="http://schemas.openxmlformats.org/drawingml/2006/main" noGrp="1"/>
          </p:cNvSpPr>
          <p:nvPr/>
        </p:nvSpPr>
        <p:spPr>
          <a:xfrm xmlns:a="http://schemas.openxmlformats.org/drawingml/2006/main">
            <a:off x="8430768" y="3291840"/>
            <a:ext cx="310896" cy="310896"/>
          </a:xfrm>
          <a:prstGeom xmlns:a="http://schemas.openxmlformats.org/drawingml/2006/main" prst="ellipse">
            <a:avLst/>
          </a:prstGeom>
          <a:solidFill xmlns:a="http://schemas.openxmlformats.org/drawingml/2006/main">
            <a:srgbClr val="1E2761"/>
          </a:solidFill>
        </p:spPr>
      </p:sp>
      <p:sp>
        <p:nvSpPr>
          <p:cNvPr id="31" name="Text 29">
            <a:extLst xmlns:a="http://schemas.openxmlformats.org/drawingml/2006/main">
              <a:ext uri="{FF2B5EF4-FFF2-40B4-BE49-F238E27FC236}">
                <a16:creationId xmlns:a16="http://schemas.microsoft.com/office/drawing/2014/main" id="{6DCF080D-2A39-4D1D-9176-6FBA45C1F396}"/>
              </a:ext>
            </a:extLst>
          </p:cNvPr>
          <p:cNvSpPr>
            <a:spLocks xmlns:a="http://schemas.openxmlformats.org/drawingml/2006/main" noGrp="1"/>
          </p:cNvSpPr>
          <p:nvPr/>
        </p:nvSpPr>
        <p:spPr>
          <a:xfrm xmlns:a="http://schemas.openxmlformats.org/drawingml/2006/main">
            <a:off x="8851392" y="325526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Nông nghiệp &amp; Môi trường</a:t>
            </a:r>
            <a:endParaRPr sz="1250"/>
          </a:p>
        </p:txBody>
      </p:sp>
      <p:sp>
        <p:nvSpPr>
          <p:cNvPr id="32" name="Text 30">
            <a:extLst xmlns:a="http://schemas.openxmlformats.org/drawingml/2006/main">
              <a:ext uri="{FF2B5EF4-FFF2-40B4-BE49-F238E27FC236}">
                <a16:creationId xmlns:a16="http://schemas.microsoft.com/office/drawing/2014/main" id="{B1478146-F83D-49F9-8343-D3E3FE2B836D}"/>
              </a:ext>
            </a:extLst>
          </p:cNvPr>
          <p:cNvSpPr>
            <a:spLocks xmlns:a="http://schemas.openxmlformats.org/drawingml/2006/main" noGrp="1"/>
          </p:cNvSpPr>
          <p:nvPr/>
        </p:nvSpPr>
        <p:spPr>
          <a:xfrm xmlns:a="http://schemas.openxmlformats.org/drawingml/2006/main">
            <a:off x="8458200" y="370332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Sản lượng trồng trọt, chăn nuôi, lâm nghiệp, thuỷ sản</a:t>
            </a:r>
            <a:endParaRPr sz="1050"/>
          </a:p>
        </p:txBody>
      </p:sp>
      <p:sp>
        <p:nvSpPr>
          <p:cNvPr id="33" name="Text 31">
            <a:extLst xmlns:a="http://schemas.openxmlformats.org/drawingml/2006/main">
              <a:ext uri="{FF2B5EF4-FFF2-40B4-BE49-F238E27FC236}">
                <a16:creationId xmlns:a16="http://schemas.microsoft.com/office/drawing/2014/main" id="{5BA8FB45-74B0-4725-B1E8-BA7A37802842}"/>
              </a:ext>
            </a:extLst>
          </p:cNvPr>
          <p:cNvSpPr>
            <a:spLocks xmlns:a="http://schemas.openxmlformats.org/drawingml/2006/main" noGrp="1"/>
          </p:cNvSpPr>
          <p:nvPr/>
        </p:nvSpPr>
        <p:spPr>
          <a:xfrm xmlns:a="http://schemas.openxmlformats.org/drawingml/2006/main">
            <a:off x="8458200" y="413308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Vụ / Quý</a:t>
            </a:r>
            <a:endParaRPr sz="1000"/>
          </a:p>
        </p:txBody>
      </p:sp>
      <p:sp>
        <p:nvSpPr>
          <p:cNvPr id="34" name="Shape 32">
            <a:extLst xmlns:a="http://schemas.openxmlformats.org/drawingml/2006/main">
              <a:ext uri="{FF2B5EF4-FFF2-40B4-BE49-F238E27FC236}">
                <a16:creationId xmlns:a16="http://schemas.microsoft.com/office/drawing/2014/main" id="{14F994AA-6FF8-4F4A-9942-EE3DE2FC9768}"/>
              </a:ext>
            </a:extLst>
          </p:cNvPr>
          <p:cNvSpPr>
            <a:spLocks xmlns:a="http://schemas.openxmlformats.org/drawingml/2006/main" noGrp="1"/>
          </p:cNvSpPr>
          <p:nvPr/>
        </p:nvSpPr>
        <p:spPr>
          <a:xfrm xmlns:a="http://schemas.openxmlformats.org/drawingml/2006/main">
            <a:off x="640080" y="452628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35" name="Shape 33">
            <a:extLst xmlns:a="http://schemas.openxmlformats.org/drawingml/2006/main">
              <a:ext uri="{FF2B5EF4-FFF2-40B4-BE49-F238E27FC236}">
                <a16:creationId xmlns:a16="http://schemas.microsoft.com/office/drawing/2014/main" id="{76727023-D7C5-4D9D-A6CB-7DAE17774643}"/>
              </a:ext>
            </a:extLst>
          </p:cNvPr>
          <p:cNvSpPr>
            <a:spLocks xmlns:a="http://schemas.openxmlformats.org/drawingml/2006/main" noGrp="1"/>
          </p:cNvSpPr>
          <p:nvPr/>
        </p:nvSpPr>
        <p:spPr>
          <a:xfrm xmlns:a="http://schemas.openxmlformats.org/drawingml/2006/main">
            <a:off x="841248" y="4709160"/>
            <a:ext cx="310896" cy="310896"/>
          </a:xfrm>
          <a:prstGeom xmlns:a="http://schemas.openxmlformats.org/drawingml/2006/main" prst="ellipse">
            <a:avLst/>
          </a:prstGeom>
          <a:solidFill xmlns:a="http://schemas.openxmlformats.org/drawingml/2006/main">
            <a:srgbClr val="1E2761"/>
          </a:solidFill>
        </p:spPr>
      </p:sp>
      <p:sp>
        <p:nvSpPr>
          <p:cNvPr id="36" name="Text 34">
            <a:extLst xmlns:a="http://schemas.openxmlformats.org/drawingml/2006/main">
              <a:ext uri="{FF2B5EF4-FFF2-40B4-BE49-F238E27FC236}">
                <a16:creationId xmlns:a16="http://schemas.microsoft.com/office/drawing/2014/main" id="{A69E6B97-079F-42E8-8BD8-98594D2EFDAF}"/>
              </a:ext>
            </a:extLst>
          </p:cNvPr>
          <p:cNvSpPr>
            <a:spLocks xmlns:a="http://schemas.openxmlformats.org/drawingml/2006/main" noGrp="1"/>
          </p:cNvSpPr>
          <p:nvPr/>
        </p:nvSpPr>
        <p:spPr>
          <a:xfrm xmlns:a="http://schemas.openxmlformats.org/drawingml/2006/main">
            <a:off x="1261872" y="467258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Xây dựng</a:t>
            </a:r>
            <a:endParaRPr sz="1250"/>
          </a:p>
        </p:txBody>
      </p:sp>
      <p:sp>
        <p:nvSpPr>
          <p:cNvPr id="37" name="Text 35">
            <a:extLst xmlns:a="http://schemas.openxmlformats.org/drawingml/2006/main">
              <a:ext uri="{FF2B5EF4-FFF2-40B4-BE49-F238E27FC236}">
                <a16:creationId xmlns:a16="http://schemas.microsoft.com/office/drawing/2014/main" id="{47EE99AF-2EDE-4D31-A5B4-F89C142E5802}"/>
              </a:ext>
            </a:extLst>
          </p:cNvPr>
          <p:cNvSpPr>
            <a:spLocks xmlns:a="http://schemas.openxmlformats.org/drawingml/2006/main" noGrp="1"/>
          </p:cNvSpPr>
          <p:nvPr/>
        </p:nvSpPr>
        <p:spPr>
          <a:xfrm xmlns:a="http://schemas.openxmlformats.org/drawingml/2006/main">
            <a:off x="868680" y="512064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Giá trị sản xuất xây dựng, chỉ số giá xây dựng</a:t>
            </a:r>
            <a:endParaRPr sz="1050"/>
          </a:p>
        </p:txBody>
      </p:sp>
      <p:sp>
        <p:nvSpPr>
          <p:cNvPr id="38" name="Text 36">
            <a:extLst xmlns:a="http://schemas.openxmlformats.org/drawingml/2006/main">
              <a:ext uri="{FF2B5EF4-FFF2-40B4-BE49-F238E27FC236}">
                <a16:creationId xmlns:a16="http://schemas.microsoft.com/office/drawing/2014/main" id="{CF74AC5E-99AB-4D57-802C-BF84D1571493}"/>
              </a:ext>
            </a:extLst>
          </p:cNvPr>
          <p:cNvSpPr>
            <a:spLocks xmlns:a="http://schemas.openxmlformats.org/drawingml/2006/main" noGrp="1"/>
          </p:cNvSpPr>
          <p:nvPr/>
        </p:nvSpPr>
        <p:spPr>
          <a:xfrm xmlns:a="http://schemas.openxmlformats.org/drawingml/2006/main">
            <a:off x="868680" y="555040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Quý</a:t>
            </a:r>
            <a:endParaRPr sz="1000"/>
          </a:p>
        </p:txBody>
      </p:sp>
      <p:sp>
        <p:nvSpPr>
          <p:cNvPr id="39" name="Shape 37">
            <a:extLst xmlns:a="http://schemas.openxmlformats.org/drawingml/2006/main">
              <a:ext uri="{FF2B5EF4-FFF2-40B4-BE49-F238E27FC236}">
                <a16:creationId xmlns:a16="http://schemas.microsoft.com/office/drawing/2014/main" id="{B6B5DD70-9022-4531-ABB5-DD061E111A0E}"/>
              </a:ext>
            </a:extLst>
          </p:cNvPr>
          <p:cNvSpPr>
            <a:spLocks xmlns:a="http://schemas.openxmlformats.org/drawingml/2006/main" noGrp="1"/>
          </p:cNvSpPr>
          <p:nvPr/>
        </p:nvSpPr>
        <p:spPr>
          <a:xfrm xmlns:a="http://schemas.openxmlformats.org/drawingml/2006/main">
            <a:off x="4434840" y="452628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40" name="Shape 38">
            <a:extLst xmlns:a="http://schemas.openxmlformats.org/drawingml/2006/main">
              <a:ext uri="{FF2B5EF4-FFF2-40B4-BE49-F238E27FC236}">
                <a16:creationId xmlns:a16="http://schemas.microsoft.com/office/drawing/2014/main" id="{586C406E-2B3A-427A-84F7-E61E38AEAEC8}"/>
              </a:ext>
            </a:extLst>
          </p:cNvPr>
          <p:cNvSpPr>
            <a:spLocks xmlns:a="http://schemas.openxmlformats.org/drawingml/2006/main" noGrp="1"/>
          </p:cNvSpPr>
          <p:nvPr/>
        </p:nvSpPr>
        <p:spPr>
          <a:xfrm xmlns:a="http://schemas.openxmlformats.org/drawingml/2006/main">
            <a:off x="4636008" y="4709160"/>
            <a:ext cx="310896" cy="310896"/>
          </a:xfrm>
          <a:prstGeom xmlns:a="http://schemas.openxmlformats.org/drawingml/2006/main" prst="ellipse">
            <a:avLst/>
          </a:prstGeom>
          <a:solidFill xmlns:a="http://schemas.openxmlformats.org/drawingml/2006/main">
            <a:srgbClr val="1E2761"/>
          </a:solidFill>
        </p:spPr>
      </p:sp>
      <p:sp>
        <p:nvSpPr>
          <p:cNvPr id="41" name="Text 39">
            <a:extLst xmlns:a="http://schemas.openxmlformats.org/drawingml/2006/main">
              <a:ext uri="{FF2B5EF4-FFF2-40B4-BE49-F238E27FC236}">
                <a16:creationId xmlns:a16="http://schemas.microsoft.com/office/drawing/2014/main" id="{74C69901-FC15-49F3-820E-D2BDF1186667}"/>
              </a:ext>
            </a:extLst>
          </p:cNvPr>
          <p:cNvSpPr>
            <a:spLocks xmlns:a="http://schemas.openxmlformats.org/drawingml/2006/main" noGrp="1"/>
          </p:cNvSpPr>
          <p:nvPr/>
        </p:nvSpPr>
        <p:spPr>
          <a:xfrm xmlns:a="http://schemas.openxmlformats.org/drawingml/2006/main">
            <a:off x="5056632" y="467258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VH-TT-DL</a:t>
            </a:r>
            <a:endParaRPr sz="1250"/>
          </a:p>
        </p:txBody>
      </p:sp>
      <p:sp>
        <p:nvSpPr>
          <p:cNvPr id="42" name="Text 40">
            <a:extLst xmlns:a="http://schemas.openxmlformats.org/drawingml/2006/main">
              <a:ext uri="{FF2B5EF4-FFF2-40B4-BE49-F238E27FC236}">
                <a16:creationId xmlns:a16="http://schemas.microsoft.com/office/drawing/2014/main" id="{B8E6198A-8BA2-4931-9006-71F65940F1D9}"/>
              </a:ext>
            </a:extLst>
          </p:cNvPr>
          <p:cNvSpPr>
            <a:spLocks xmlns:a="http://schemas.openxmlformats.org/drawingml/2006/main" noGrp="1"/>
          </p:cNvSpPr>
          <p:nvPr/>
        </p:nvSpPr>
        <p:spPr>
          <a:xfrm xmlns:a="http://schemas.openxmlformats.org/drawingml/2006/main">
            <a:off x="4663440" y="512064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Lượt khách, doanh thu lưu trú – lữ hành – dịch vụ du lịch</a:t>
            </a:r>
            <a:endParaRPr sz="1050"/>
          </a:p>
        </p:txBody>
      </p:sp>
      <p:sp>
        <p:nvSpPr>
          <p:cNvPr id="43" name="Text 41">
            <a:extLst xmlns:a="http://schemas.openxmlformats.org/drawingml/2006/main">
              <a:ext uri="{FF2B5EF4-FFF2-40B4-BE49-F238E27FC236}">
                <a16:creationId xmlns:a16="http://schemas.microsoft.com/office/drawing/2014/main" id="{F7E7DA5C-CC44-4EA2-8B58-3BE1D9250411}"/>
              </a:ext>
            </a:extLst>
          </p:cNvPr>
          <p:cNvSpPr>
            <a:spLocks xmlns:a="http://schemas.openxmlformats.org/drawingml/2006/main" noGrp="1"/>
          </p:cNvSpPr>
          <p:nvPr/>
        </p:nvSpPr>
        <p:spPr>
          <a:xfrm xmlns:a="http://schemas.openxmlformats.org/drawingml/2006/main">
            <a:off x="4663440" y="555040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Tháng</a:t>
            </a:r>
            <a:endParaRPr sz="1000"/>
          </a:p>
        </p:txBody>
      </p:sp>
      <p:sp>
        <p:nvSpPr>
          <p:cNvPr id="44" name="Shape 42">
            <a:extLst xmlns:a="http://schemas.openxmlformats.org/drawingml/2006/main">
              <a:ext uri="{FF2B5EF4-FFF2-40B4-BE49-F238E27FC236}">
                <a16:creationId xmlns:a16="http://schemas.microsoft.com/office/drawing/2014/main" id="{3E305850-2E5F-42E3-BBDD-FB23E4B33A0A}"/>
              </a:ext>
            </a:extLst>
          </p:cNvPr>
          <p:cNvSpPr>
            <a:spLocks xmlns:a="http://schemas.openxmlformats.org/drawingml/2006/main" noGrp="1"/>
          </p:cNvSpPr>
          <p:nvPr/>
        </p:nvSpPr>
        <p:spPr>
          <a:xfrm xmlns:a="http://schemas.openxmlformats.org/drawingml/2006/main">
            <a:off x="8229600" y="4526280"/>
            <a:ext cx="3611880" cy="128016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E1E7F2"/>
            </a:solidFill>
            <a:prstDash val="solid"/>
          </a:ln>
        </p:spPr>
      </p:sp>
      <p:sp>
        <p:nvSpPr>
          <p:cNvPr id="45" name="Shape 43">
            <a:extLst xmlns:a="http://schemas.openxmlformats.org/drawingml/2006/main">
              <a:ext uri="{FF2B5EF4-FFF2-40B4-BE49-F238E27FC236}">
                <a16:creationId xmlns:a16="http://schemas.microsoft.com/office/drawing/2014/main" id="{FE16AA32-ED76-4F83-80DE-F77149A62E0E}"/>
              </a:ext>
            </a:extLst>
          </p:cNvPr>
          <p:cNvSpPr>
            <a:spLocks xmlns:a="http://schemas.openxmlformats.org/drawingml/2006/main" noGrp="1"/>
          </p:cNvSpPr>
          <p:nvPr/>
        </p:nvSpPr>
        <p:spPr>
          <a:xfrm xmlns:a="http://schemas.openxmlformats.org/drawingml/2006/main">
            <a:off x="8430768" y="4709160"/>
            <a:ext cx="310896" cy="310896"/>
          </a:xfrm>
          <a:prstGeom xmlns:a="http://schemas.openxmlformats.org/drawingml/2006/main" prst="ellipse">
            <a:avLst/>
          </a:prstGeom>
          <a:solidFill xmlns:a="http://schemas.openxmlformats.org/drawingml/2006/main">
            <a:srgbClr val="1E2761"/>
          </a:solidFill>
        </p:spPr>
      </p:sp>
      <p:sp>
        <p:nvSpPr>
          <p:cNvPr id="46" name="Text 44">
            <a:extLst xmlns:a="http://schemas.openxmlformats.org/drawingml/2006/main">
              <a:ext uri="{FF2B5EF4-FFF2-40B4-BE49-F238E27FC236}">
                <a16:creationId xmlns:a16="http://schemas.microsoft.com/office/drawing/2014/main" id="{8999352B-1450-489A-98F0-D8C1436F99E3}"/>
              </a:ext>
            </a:extLst>
          </p:cNvPr>
          <p:cNvSpPr>
            <a:spLocks xmlns:a="http://schemas.openxmlformats.org/drawingml/2006/main" noGrp="1"/>
          </p:cNvSpPr>
          <p:nvPr/>
        </p:nvSpPr>
        <p:spPr>
          <a:xfrm xmlns:a="http://schemas.openxmlformats.org/drawingml/2006/main">
            <a:off x="8851392" y="4672584"/>
            <a:ext cx="2834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BHXH – Lao động</a:t>
            </a:r>
            <a:endParaRPr sz="1250"/>
          </a:p>
        </p:txBody>
      </p:sp>
      <p:sp>
        <p:nvSpPr>
          <p:cNvPr id="47" name="Text 45">
            <a:extLst xmlns:a="http://schemas.openxmlformats.org/drawingml/2006/main">
              <a:ext uri="{FF2B5EF4-FFF2-40B4-BE49-F238E27FC236}">
                <a16:creationId xmlns:a16="http://schemas.microsoft.com/office/drawing/2014/main" id="{69B29B32-1A47-446D-BBED-C51A8E216C39}"/>
              </a:ext>
            </a:extLst>
          </p:cNvPr>
          <p:cNvSpPr>
            <a:spLocks xmlns:a="http://schemas.openxmlformats.org/drawingml/2006/main" noGrp="1"/>
          </p:cNvSpPr>
          <p:nvPr/>
        </p:nvSpPr>
        <p:spPr>
          <a:xfrm xmlns:a="http://schemas.openxmlformats.org/drawingml/2006/main">
            <a:off x="8458200" y="512064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02536"/>
                </a:solidFill>
                <a:latin typeface="Calibri"/>
                <a:ea typeface="Calibri"/>
                <a:cs typeface="Calibri"/>
              </a:rPr>
              <a:t>Quỹ lương, số lao động tham gia BHXH theo ngành</a:t>
            </a:r>
            <a:endParaRPr sz="1050"/>
          </a:p>
        </p:txBody>
      </p:sp>
      <p:sp>
        <p:nvSpPr>
          <p:cNvPr id="48" name="Text 46">
            <a:extLst xmlns:a="http://schemas.openxmlformats.org/drawingml/2006/main">
              <a:ext uri="{FF2B5EF4-FFF2-40B4-BE49-F238E27FC236}">
                <a16:creationId xmlns:a16="http://schemas.microsoft.com/office/drawing/2014/main" id="{D50E9C3B-777E-471A-AB62-FC4761ADFBDF}"/>
              </a:ext>
            </a:extLst>
          </p:cNvPr>
          <p:cNvSpPr>
            <a:spLocks xmlns:a="http://schemas.openxmlformats.org/drawingml/2006/main" noGrp="1"/>
          </p:cNvSpPr>
          <p:nvPr/>
        </p:nvSpPr>
        <p:spPr>
          <a:xfrm xmlns:a="http://schemas.openxmlformats.org/drawingml/2006/main">
            <a:off x="8458200" y="5550408"/>
            <a:ext cx="3200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C9A227"/>
                </a:solidFill>
                <a:latin typeface="Calibri"/>
                <a:ea typeface="Calibri"/>
                <a:cs typeface="Calibri"/>
              </a:rPr>
              <a:t>Tháng</a:t>
            </a:r>
            <a:endParaRPr sz="1000"/>
          </a:p>
        </p:txBody>
      </p:sp>
    </p:spTree>
    <p:extLst>
      <p:ext uri="{BB962C8B-B14F-4D97-AF65-F5344CB8AC3E}">
        <p14:creationId xmlns:p14="http://schemas.microsoft.com/office/powerpoint/2010/main" val="19867086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CBB2C5A-0737-4D1B-A8EB-995782482B3F}"/>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Mô hình dữ liệu đề xuất cho Kho dữ liệu IOC</a:t>
            </a:r>
            <a:endParaRPr sz="3100"/>
          </a:p>
        </p:txBody>
      </p:sp>
      <p:sp>
        <p:nvSpPr>
          <p:cNvPr id="3" name="Text 1">
            <a:extLst xmlns:a="http://schemas.openxmlformats.org/drawingml/2006/main">
              <a:ext uri="{FF2B5EF4-FFF2-40B4-BE49-F238E27FC236}">
                <a16:creationId xmlns:a16="http://schemas.microsoft.com/office/drawing/2014/main" id="{C4534BC0-06D2-4C7F-95D9-F781CA688989}"/>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Một bảng dữ kiện trung tâm + các bảng chiều dùng chung toàn tỉnh</a:t>
            </a:r>
            <a:endParaRPr sz="1400"/>
          </a:p>
        </p:txBody>
      </p:sp>
      <p:sp>
        <p:nvSpPr>
          <p:cNvPr id="4" name="Shape 2">
            <a:extLst xmlns:a="http://schemas.openxmlformats.org/drawingml/2006/main">
              <a:ext uri="{FF2B5EF4-FFF2-40B4-BE49-F238E27FC236}">
                <a16:creationId xmlns:a16="http://schemas.microsoft.com/office/drawing/2014/main" id="{670CDBF9-1146-4780-9A02-7C9BBAC876BB}"/>
              </a:ext>
            </a:extLst>
          </p:cNvPr>
          <p:cNvSpPr>
            <a:spLocks xmlns:a="http://schemas.openxmlformats.org/drawingml/2006/main" noGrp="1"/>
          </p:cNvSpPr>
          <p:nvPr/>
        </p:nvSpPr>
        <p:spPr>
          <a:xfrm xmlns:a="http://schemas.openxmlformats.org/drawingml/2006/main">
            <a:off x="4206240" y="2148840"/>
            <a:ext cx="3840480" cy="2743200"/>
          </a:xfrm>
          <a:prstGeom xmlns:a="http://schemas.openxmlformats.org/drawingml/2006/main" prst="roundRect">
            <a:avLst>
              <a:gd name="adj" fmla="val 3333"/>
            </a:avLst>
          </a:prstGeom>
          <a:solidFill xmlns:a="http://schemas.openxmlformats.org/drawingml/2006/main">
            <a:srgbClr val="1E2761"/>
          </a:solidFill>
        </p:spPr>
      </p:sp>
      <p:sp>
        <p:nvSpPr>
          <p:cNvPr id="5" name="Text 3">
            <a:extLst xmlns:a="http://schemas.openxmlformats.org/drawingml/2006/main">
              <a:ext uri="{FF2B5EF4-FFF2-40B4-BE49-F238E27FC236}">
                <a16:creationId xmlns:a16="http://schemas.microsoft.com/office/drawing/2014/main" id="{300AD238-2E7F-4B67-8318-919BCCC0C1EF}"/>
              </a:ext>
            </a:extLst>
          </p:cNvPr>
          <p:cNvSpPr>
            <a:spLocks xmlns:a="http://schemas.openxmlformats.org/drawingml/2006/main" noGrp="1"/>
          </p:cNvSpPr>
          <p:nvPr/>
        </p:nvSpPr>
        <p:spPr>
          <a:xfrm xmlns:a="http://schemas.openxmlformats.org/drawingml/2006/main">
            <a:off x="4206240" y="2240280"/>
            <a:ext cx="3840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C9A227"/>
                </a:solidFill>
                <a:latin typeface="Calibri"/>
                <a:ea typeface="Calibri"/>
                <a:cs typeface="Calibri"/>
              </a:rPr>
              <a:t>FACT_GRDP</a:t>
            </a:r>
            <a:endParaRPr sz="1600"/>
          </a:p>
        </p:txBody>
      </p:sp>
      <p:sp>
        <p:nvSpPr>
          <p:cNvPr id="6" name="Text 4">
            <a:extLst xmlns:a="http://schemas.openxmlformats.org/drawingml/2006/main">
              <a:ext uri="{FF2B5EF4-FFF2-40B4-BE49-F238E27FC236}">
                <a16:creationId xmlns:a16="http://schemas.microsoft.com/office/drawing/2014/main" id="{02079466-3B55-4566-9EEA-08415B2C2107}"/>
              </a:ext>
            </a:extLst>
          </p:cNvPr>
          <p:cNvSpPr>
            <a:spLocks xmlns:a="http://schemas.openxmlformats.org/drawingml/2006/main" noGrp="1"/>
          </p:cNvSpPr>
          <p:nvPr/>
        </p:nvSpPr>
        <p:spPr>
          <a:xfrm xmlns:a="http://schemas.openxmlformats.org/drawingml/2006/main">
            <a:off x="4434840" y="2670048"/>
            <a:ext cx="3383280" cy="2103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a:solidFill>
                  <a:srgbClr val="FFFFFF"/>
                </a:solidFill>
                <a:latin typeface="Calibri"/>
                <a:ea typeface="Calibri"/>
                <a:cs typeface="Calibri"/>
              </a:rPr>
              <a:t>ma_chi_tieu</a:t>
            </a:r>
            <a:endParaRPr sz="1050"/>
          </a:p>
          <a:p xmlns:a="http://schemas.openxmlformats.org/drawingml/2006/main">
            <a:pPr marL="0" indent="0" algn="ctr">
              <a:buNone/>
            </a:pPr>
            <a:r>
              <a:rPr sz="1050">
                <a:solidFill>
                  <a:srgbClr val="FFFFFF"/>
                </a:solidFill>
                <a:latin typeface="Calibri"/>
                <a:ea typeface="Calibri"/>
                <a:cs typeface="Calibri"/>
              </a:rPr>
              <a:t>ma_nganh_vsic</a:t>
            </a:r>
            <a:endParaRPr sz="1050"/>
          </a:p>
          <a:p xmlns:a="http://schemas.openxmlformats.org/drawingml/2006/main">
            <a:pPr marL="0" indent="0" algn="ctr">
              <a:buNone/>
            </a:pPr>
            <a:r>
              <a:rPr sz="1050">
                <a:solidFill>
                  <a:srgbClr val="FFFFFF"/>
                </a:solidFill>
                <a:latin typeface="Calibri"/>
                <a:ea typeface="Calibri"/>
                <a:cs typeface="Calibri"/>
              </a:rPr>
              <a:t>ky_thoi_gian (nam, quy)</a:t>
            </a:r>
            <a:endParaRPr sz="1050"/>
          </a:p>
          <a:p xmlns:a="http://schemas.openxmlformats.org/drawingml/2006/main">
            <a:pPr marL="0" indent="0" algn="ctr">
              <a:buNone/>
            </a:pPr>
            <a:r>
              <a:rPr sz="1050">
                <a:solidFill>
                  <a:srgbClr val="FFFFFF"/>
                </a:solidFill>
                <a:latin typeface="Calibri"/>
                <a:ea typeface="Calibri"/>
                <a:cs typeface="Calibri"/>
              </a:rPr>
              <a:t>loai_gia (HH / SS-2020)</a:t>
            </a:r>
            <a:endParaRPr sz="1050"/>
          </a:p>
          <a:p xmlns:a="http://schemas.openxmlformats.org/drawingml/2006/main">
            <a:pPr marL="0" indent="0" algn="ctr">
              <a:buNone/>
            </a:pPr>
            <a:r>
              <a:rPr sz="1050">
                <a:solidFill>
                  <a:srgbClr val="FFFFFF"/>
                </a:solidFill>
                <a:latin typeface="Calibri"/>
                <a:ea typeface="Calibri"/>
                <a:cs typeface="Calibri"/>
              </a:rPr>
              <a:t>phuong_phap (SX / TN / SD)</a:t>
            </a:r>
            <a:endParaRPr sz="1050"/>
          </a:p>
          <a:p xmlns:a="http://schemas.openxmlformats.org/drawingml/2006/main">
            <a:pPr marL="0" indent="0" algn="ctr">
              <a:buNone/>
            </a:pPr>
            <a:r>
              <a:rPr sz="1050">
                <a:solidFill>
                  <a:srgbClr val="FFFFFF"/>
                </a:solidFill>
                <a:latin typeface="Calibri"/>
                <a:ea typeface="Calibri"/>
                <a:cs typeface="Calibri"/>
              </a:rPr>
              <a:t>go, ic, va, thue_sp, tro_cap</a:t>
            </a:r>
            <a:endParaRPr sz="1050"/>
          </a:p>
          <a:p xmlns:a="http://schemas.openxmlformats.org/drawingml/2006/main">
            <a:pPr marL="0" indent="0" algn="ctr">
              <a:buNone/>
            </a:pPr>
            <a:r>
              <a:rPr sz="1050">
                <a:solidFill>
                  <a:srgbClr val="FFFFFF"/>
                </a:solidFill>
                <a:latin typeface="Calibri"/>
                <a:ea typeface="Calibri"/>
                <a:cs typeface="Calibri"/>
              </a:rPr>
              <a:t>gia_tri, gia_tri_cung_ky</a:t>
            </a:r>
            <a:endParaRPr sz="1050"/>
          </a:p>
          <a:p xmlns:a="http://schemas.openxmlformats.org/drawingml/2006/main">
            <a:pPr marL="0" indent="0" algn="ctr">
              <a:buNone/>
            </a:pPr>
            <a:r>
              <a:rPr sz="1050">
                <a:solidFill>
                  <a:srgbClr val="FFFFFF"/>
                </a:solidFill>
                <a:latin typeface="Calibri"/>
                <a:ea typeface="Calibri"/>
                <a:cs typeface="Calibri"/>
              </a:rPr>
              <a:t>phien_ban (ước tính / sơ bộ / chính thức)</a:t>
            </a:r>
            <a:endParaRPr sz="1050"/>
          </a:p>
          <a:p xmlns:a="http://schemas.openxmlformats.org/drawingml/2006/main">
            <a:pPr marL="0" indent="0" algn="ctr">
              <a:buNone/>
            </a:pPr>
            <a:r>
              <a:rPr sz="1050">
                <a:solidFill>
                  <a:srgbClr val="FFFFFF"/>
                </a:solidFill>
                <a:latin typeface="Calibri"/>
                <a:ea typeface="Calibri"/>
                <a:cs typeface="Calibri"/>
              </a:rPr>
              <a:t>dia_gioi (trước / sau 01-7-2025)</a:t>
            </a:r>
            <a:endParaRPr sz="1050"/>
          </a:p>
          <a:p xmlns:a="http://schemas.openxmlformats.org/drawingml/2006/main">
            <a:pPr marL="0" indent="0" algn="ctr">
              <a:buNone/>
            </a:pPr>
            <a:r>
              <a:rPr sz="1050">
                <a:solidFill>
                  <a:srgbClr val="FFFFFF"/>
                </a:solidFill>
                <a:latin typeface="Calibri"/>
                <a:ea typeface="Calibri"/>
                <a:cs typeface="Calibri"/>
              </a:rPr>
              <a:t>nguon_cap, ngay_cap_nhat</a:t>
            </a:r>
            <a:endParaRPr sz="1050"/>
          </a:p>
        </p:txBody>
      </p:sp>
      <p:sp>
        <p:nvSpPr>
          <p:cNvPr id="7" name="Shape 5">
            <a:extLst xmlns:a="http://schemas.openxmlformats.org/drawingml/2006/main">
              <a:ext uri="{FF2B5EF4-FFF2-40B4-BE49-F238E27FC236}">
                <a16:creationId xmlns:a16="http://schemas.microsoft.com/office/drawing/2014/main" id="{0A4B43E1-7400-4667-9531-101579CB1113}"/>
              </a:ext>
            </a:extLst>
          </p:cNvPr>
          <p:cNvSpPr>
            <a:spLocks xmlns:a="http://schemas.openxmlformats.org/drawingml/2006/main" noGrp="1"/>
          </p:cNvSpPr>
          <p:nvPr/>
        </p:nvSpPr>
        <p:spPr>
          <a:xfrm xmlns:a="http://schemas.openxmlformats.org/drawingml/2006/main">
            <a:off x="640080" y="1783080"/>
            <a:ext cx="3291840" cy="1005840"/>
          </a:xfrm>
          <a:prstGeom xmlns:a="http://schemas.openxmlformats.org/drawingml/2006/main" prst="roundRect">
            <a:avLst>
              <a:gd name="adj" fmla="val 7273"/>
            </a:avLst>
          </a:prstGeom>
          <a:solidFill xmlns:a="http://schemas.openxmlformats.org/drawingml/2006/main">
            <a:srgbClr val="F2F5FB"/>
          </a:solidFill>
          <a:ln xmlns:a="http://schemas.openxmlformats.org/drawingml/2006/main" w="9525">
            <a:solidFill>
              <a:srgbClr val="E1E7F2"/>
            </a:solidFill>
            <a:prstDash val="solid"/>
          </a:ln>
        </p:spPr>
      </p:sp>
      <p:sp>
        <p:nvSpPr>
          <p:cNvPr id="8" name="Text 6">
            <a:extLst xmlns:a="http://schemas.openxmlformats.org/drawingml/2006/main">
              <a:ext uri="{FF2B5EF4-FFF2-40B4-BE49-F238E27FC236}">
                <a16:creationId xmlns:a16="http://schemas.microsoft.com/office/drawing/2014/main" id="{640A0313-35C7-452F-ACA7-D4528B22CE21}"/>
              </a:ext>
            </a:extLst>
          </p:cNvPr>
          <p:cNvSpPr>
            <a:spLocks xmlns:a="http://schemas.openxmlformats.org/drawingml/2006/main" noGrp="1"/>
          </p:cNvSpPr>
          <p:nvPr/>
        </p:nvSpPr>
        <p:spPr>
          <a:xfrm xmlns:a="http://schemas.openxmlformats.org/drawingml/2006/main">
            <a:off x="868680" y="1929384"/>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C7293"/>
                </a:solidFill>
                <a:latin typeface="Calibri"/>
                <a:ea typeface="Calibri"/>
                <a:cs typeface="Calibri"/>
              </a:rPr>
              <a:t>DIM_NGANH</a:t>
            </a:r>
            <a:endParaRPr sz="1250"/>
          </a:p>
        </p:txBody>
      </p:sp>
      <p:sp>
        <p:nvSpPr>
          <p:cNvPr id="9" name="Text 7">
            <a:extLst xmlns:a="http://schemas.openxmlformats.org/drawingml/2006/main">
              <a:ext uri="{FF2B5EF4-FFF2-40B4-BE49-F238E27FC236}">
                <a16:creationId xmlns:a16="http://schemas.microsoft.com/office/drawing/2014/main" id="{CEA44D7E-3158-46D8-B2DE-804DA4B5CFA7}"/>
              </a:ext>
            </a:extLst>
          </p:cNvPr>
          <p:cNvSpPr>
            <a:spLocks xmlns:a="http://schemas.openxmlformats.org/drawingml/2006/main" noGrp="1"/>
          </p:cNvSpPr>
          <p:nvPr/>
        </p:nvSpPr>
        <p:spPr>
          <a:xfrm xmlns:a="http://schemas.openxmlformats.org/drawingml/2006/main">
            <a:off x="868680" y="228600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377"/>
                </a:solidFill>
                <a:latin typeface="Calibri"/>
                <a:ea typeface="Calibri"/>
                <a:cs typeface="Calibri"/>
              </a:rPr>
              <a:t>VSIC cấp 1–3</a:t>
            </a:r>
            <a:endParaRPr sz="1050"/>
          </a:p>
        </p:txBody>
      </p:sp>
      <p:sp>
        <p:nvSpPr>
          <p:cNvPr id="10" name="Shape 8">
            <a:extLst xmlns:a="http://schemas.openxmlformats.org/drawingml/2006/main">
              <a:ext uri="{FF2B5EF4-FFF2-40B4-BE49-F238E27FC236}">
                <a16:creationId xmlns:a16="http://schemas.microsoft.com/office/drawing/2014/main" id="{A38DCEA1-7202-422E-A643-53C702EFD3E1}"/>
              </a:ext>
            </a:extLst>
          </p:cNvPr>
          <p:cNvSpPr>
            <a:spLocks xmlns:a="http://schemas.openxmlformats.org/drawingml/2006/main" noGrp="1"/>
          </p:cNvSpPr>
          <p:nvPr/>
        </p:nvSpPr>
        <p:spPr>
          <a:xfrm xmlns:a="http://schemas.openxmlformats.org/drawingml/2006/main">
            <a:off x="640080" y="3063240"/>
            <a:ext cx="3291840" cy="1005840"/>
          </a:xfrm>
          <a:prstGeom xmlns:a="http://schemas.openxmlformats.org/drawingml/2006/main" prst="roundRect">
            <a:avLst>
              <a:gd name="adj" fmla="val 7273"/>
            </a:avLst>
          </a:prstGeom>
          <a:solidFill xmlns:a="http://schemas.openxmlformats.org/drawingml/2006/main">
            <a:srgbClr val="F2F5FB"/>
          </a:solidFill>
          <a:ln xmlns:a="http://schemas.openxmlformats.org/drawingml/2006/main" w="9525">
            <a:solidFill>
              <a:srgbClr val="E1E7F2"/>
            </a:solidFill>
            <a:prstDash val="solid"/>
          </a:ln>
        </p:spPr>
      </p:sp>
      <p:sp>
        <p:nvSpPr>
          <p:cNvPr id="11" name="Text 9">
            <a:extLst xmlns:a="http://schemas.openxmlformats.org/drawingml/2006/main">
              <a:ext uri="{FF2B5EF4-FFF2-40B4-BE49-F238E27FC236}">
                <a16:creationId xmlns:a16="http://schemas.microsoft.com/office/drawing/2014/main" id="{AA59BCD9-50E1-49AD-92F2-4E1958654ADF}"/>
              </a:ext>
            </a:extLst>
          </p:cNvPr>
          <p:cNvSpPr>
            <a:spLocks xmlns:a="http://schemas.openxmlformats.org/drawingml/2006/main" noGrp="1"/>
          </p:cNvSpPr>
          <p:nvPr/>
        </p:nvSpPr>
        <p:spPr>
          <a:xfrm xmlns:a="http://schemas.openxmlformats.org/drawingml/2006/main">
            <a:off x="868680" y="3209544"/>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C7293"/>
                </a:solidFill>
                <a:latin typeface="Calibri"/>
                <a:ea typeface="Calibri"/>
                <a:cs typeface="Calibri"/>
              </a:rPr>
              <a:t>DIM_THOI_GIAN</a:t>
            </a:r>
            <a:endParaRPr sz="1250"/>
          </a:p>
        </p:txBody>
      </p:sp>
      <p:sp>
        <p:nvSpPr>
          <p:cNvPr id="12" name="Text 10">
            <a:extLst xmlns:a="http://schemas.openxmlformats.org/drawingml/2006/main">
              <a:ext uri="{FF2B5EF4-FFF2-40B4-BE49-F238E27FC236}">
                <a16:creationId xmlns:a16="http://schemas.microsoft.com/office/drawing/2014/main" id="{B94C52CF-B949-47F5-931C-88D97F365FC5}"/>
              </a:ext>
            </a:extLst>
          </p:cNvPr>
          <p:cNvSpPr>
            <a:spLocks xmlns:a="http://schemas.openxmlformats.org/drawingml/2006/main" noGrp="1"/>
          </p:cNvSpPr>
          <p:nvPr/>
        </p:nvSpPr>
        <p:spPr>
          <a:xfrm xmlns:a="http://schemas.openxmlformats.org/drawingml/2006/main">
            <a:off x="868680" y="356616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377"/>
                </a:solidFill>
                <a:latin typeface="Calibri"/>
                <a:ea typeface="Calibri"/>
                <a:cs typeface="Calibri"/>
              </a:rPr>
              <a:t>Năm – Quý – Tháng</a:t>
            </a:r>
            <a:endParaRPr sz="1050"/>
          </a:p>
        </p:txBody>
      </p:sp>
      <p:sp>
        <p:nvSpPr>
          <p:cNvPr id="13" name="Shape 11">
            <a:extLst xmlns:a="http://schemas.openxmlformats.org/drawingml/2006/main">
              <a:ext uri="{FF2B5EF4-FFF2-40B4-BE49-F238E27FC236}">
                <a16:creationId xmlns:a16="http://schemas.microsoft.com/office/drawing/2014/main" id="{06123DD5-6E9F-43DE-A5C2-CEE347C2283B}"/>
              </a:ext>
            </a:extLst>
          </p:cNvPr>
          <p:cNvSpPr>
            <a:spLocks xmlns:a="http://schemas.openxmlformats.org/drawingml/2006/main" noGrp="1"/>
          </p:cNvSpPr>
          <p:nvPr/>
        </p:nvSpPr>
        <p:spPr>
          <a:xfrm xmlns:a="http://schemas.openxmlformats.org/drawingml/2006/main">
            <a:off x="640080" y="4343400"/>
            <a:ext cx="3291840" cy="1005840"/>
          </a:xfrm>
          <a:prstGeom xmlns:a="http://schemas.openxmlformats.org/drawingml/2006/main" prst="roundRect">
            <a:avLst>
              <a:gd name="adj" fmla="val 7273"/>
            </a:avLst>
          </a:prstGeom>
          <a:solidFill xmlns:a="http://schemas.openxmlformats.org/drawingml/2006/main">
            <a:srgbClr val="F2F5FB"/>
          </a:solidFill>
          <a:ln xmlns:a="http://schemas.openxmlformats.org/drawingml/2006/main" w="9525">
            <a:solidFill>
              <a:srgbClr val="E1E7F2"/>
            </a:solidFill>
            <a:prstDash val="solid"/>
          </a:ln>
        </p:spPr>
      </p:sp>
      <p:sp>
        <p:nvSpPr>
          <p:cNvPr id="14" name="Text 12">
            <a:extLst xmlns:a="http://schemas.openxmlformats.org/drawingml/2006/main">
              <a:ext uri="{FF2B5EF4-FFF2-40B4-BE49-F238E27FC236}">
                <a16:creationId xmlns:a16="http://schemas.microsoft.com/office/drawing/2014/main" id="{D0B9D0CE-27A2-48D6-AB11-284B833CEA69}"/>
              </a:ext>
            </a:extLst>
          </p:cNvPr>
          <p:cNvSpPr>
            <a:spLocks xmlns:a="http://schemas.openxmlformats.org/drawingml/2006/main" noGrp="1"/>
          </p:cNvSpPr>
          <p:nvPr/>
        </p:nvSpPr>
        <p:spPr>
          <a:xfrm xmlns:a="http://schemas.openxmlformats.org/drawingml/2006/main">
            <a:off x="868680" y="4489704"/>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C7293"/>
                </a:solidFill>
                <a:latin typeface="Calibri"/>
                <a:ea typeface="Calibri"/>
                <a:cs typeface="Calibri"/>
              </a:rPr>
              <a:t>DIM_LOAI_GIA</a:t>
            </a:r>
            <a:endParaRPr sz="1250"/>
          </a:p>
        </p:txBody>
      </p:sp>
      <p:sp>
        <p:nvSpPr>
          <p:cNvPr id="15" name="Text 13">
            <a:extLst xmlns:a="http://schemas.openxmlformats.org/drawingml/2006/main">
              <a:ext uri="{FF2B5EF4-FFF2-40B4-BE49-F238E27FC236}">
                <a16:creationId xmlns:a16="http://schemas.microsoft.com/office/drawing/2014/main" id="{250957E1-EAB4-4F1D-9C24-49AFA38AEA5E}"/>
              </a:ext>
            </a:extLst>
          </p:cNvPr>
          <p:cNvSpPr>
            <a:spLocks xmlns:a="http://schemas.openxmlformats.org/drawingml/2006/main" noGrp="1"/>
          </p:cNvSpPr>
          <p:nvPr/>
        </p:nvSpPr>
        <p:spPr>
          <a:xfrm xmlns:a="http://schemas.openxmlformats.org/drawingml/2006/main">
            <a:off x="868680" y="484632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377"/>
                </a:solidFill>
                <a:latin typeface="Calibri"/>
                <a:ea typeface="Calibri"/>
                <a:cs typeface="Calibri"/>
              </a:rPr>
              <a:t>HH / SS theo năm gốc</a:t>
            </a:r>
            <a:endParaRPr sz="1050"/>
          </a:p>
        </p:txBody>
      </p:sp>
      <p:sp>
        <p:nvSpPr>
          <p:cNvPr id="16" name="Shape 14">
            <a:extLst xmlns:a="http://schemas.openxmlformats.org/drawingml/2006/main">
              <a:ext uri="{FF2B5EF4-FFF2-40B4-BE49-F238E27FC236}">
                <a16:creationId xmlns:a16="http://schemas.microsoft.com/office/drawing/2014/main" id="{FADC67C1-86FA-4B0D-BA03-86B34F7905B8}"/>
              </a:ext>
            </a:extLst>
          </p:cNvPr>
          <p:cNvSpPr>
            <a:spLocks xmlns:a="http://schemas.openxmlformats.org/drawingml/2006/main" noGrp="1"/>
          </p:cNvSpPr>
          <p:nvPr/>
        </p:nvSpPr>
        <p:spPr>
          <a:xfrm xmlns:a="http://schemas.openxmlformats.org/drawingml/2006/main">
            <a:off x="8229600" y="1783080"/>
            <a:ext cx="3291840" cy="1005840"/>
          </a:xfrm>
          <a:prstGeom xmlns:a="http://schemas.openxmlformats.org/drawingml/2006/main" prst="roundRect">
            <a:avLst>
              <a:gd name="adj" fmla="val 7273"/>
            </a:avLst>
          </a:prstGeom>
          <a:solidFill xmlns:a="http://schemas.openxmlformats.org/drawingml/2006/main">
            <a:srgbClr val="F2F5FB"/>
          </a:solidFill>
          <a:ln xmlns:a="http://schemas.openxmlformats.org/drawingml/2006/main" w="9525">
            <a:solidFill>
              <a:srgbClr val="E1E7F2"/>
            </a:solidFill>
            <a:prstDash val="solid"/>
          </a:ln>
        </p:spPr>
      </p:sp>
      <p:sp>
        <p:nvSpPr>
          <p:cNvPr id="17" name="Text 15">
            <a:extLst xmlns:a="http://schemas.openxmlformats.org/drawingml/2006/main">
              <a:ext uri="{FF2B5EF4-FFF2-40B4-BE49-F238E27FC236}">
                <a16:creationId xmlns:a16="http://schemas.microsoft.com/office/drawing/2014/main" id="{557DE566-2F3B-4F14-8C02-FDD963283B68}"/>
              </a:ext>
            </a:extLst>
          </p:cNvPr>
          <p:cNvSpPr>
            <a:spLocks xmlns:a="http://schemas.openxmlformats.org/drawingml/2006/main" noGrp="1"/>
          </p:cNvSpPr>
          <p:nvPr/>
        </p:nvSpPr>
        <p:spPr>
          <a:xfrm xmlns:a="http://schemas.openxmlformats.org/drawingml/2006/main">
            <a:off x="8458200" y="1929384"/>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C7293"/>
                </a:solidFill>
                <a:latin typeface="Calibri"/>
                <a:ea typeface="Calibri"/>
                <a:cs typeface="Calibri"/>
              </a:rPr>
              <a:t>DIM_DON_VI</a:t>
            </a:r>
            <a:endParaRPr sz="1250"/>
          </a:p>
        </p:txBody>
      </p:sp>
      <p:sp>
        <p:nvSpPr>
          <p:cNvPr id="18" name="Text 16">
            <a:extLst xmlns:a="http://schemas.openxmlformats.org/drawingml/2006/main">
              <a:ext uri="{FF2B5EF4-FFF2-40B4-BE49-F238E27FC236}">
                <a16:creationId xmlns:a16="http://schemas.microsoft.com/office/drawing/2014/main" id="{0FB6B5C1-4938-41BA-B3DE-892948081804}"/>
              </a:ext>
            </a:extLst>
          </p:cNvPr>
          <p:cNvSpPr>
            <a:spLocks xmlns:a="http://schemas.openxmlformats.org/drawingml/2006/main" noGrp="1"/>
          </p:cNvSpPr>
          <p:nvPr/>
        </p:nvSpPr>
        <p:spPr>
          <a:xfrm xmlns:a="http://schemas.openxmlformats.org/drawingml/2006/main">
            <a:off x="8458200" y="228600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377"/>
                </a:solidFill>
                <a:latin typeface="Calibri"/>
                <a:ea typeface="Calibri"/>
                <a:cs typeface="Calibri"/>
              </a:rPr>
              <a:t>Đầu mối cung cấp</a:t>
            </a:r>
            <a:endParaRPr sz="1050"/>
          </a:p>
        </p:txBody>
      </p:sp>
      <p:sp>
        <p:nvSpPr>
          <p:cNvPr id="19" name="Shape 17">
            <a:extLst xmlns:a="http://schemas.openxmlformats.org/drawingml/2006/main">
              <a:ext uri="{FF2B5EF4-FFF2-40B4-BE49-F238E27FC236}">
                <a16:creationId xmlns:a16="http://schemas.microsoft.com/office/drawing/2014/main" id="{08E3434C-E6A6-42AA-A72C-0CBBB03E0D06}"/>
              </a:ext>
            </a:extLst>
          </p:cNvPr>
          <p:cNvSpPr>
            <a:spLocks xmlns:a="http://schemas.openxmlformats.org/drawingml/2006/main" noGrp="1"/>
          </p:cNvSpPr>
          <p:nvPr/>
        </p:nvSpPr>
        <p:spPr>
          <a:xfrm xmlns:a="http://schemas.openxmlformats.org/drawingml/2006/main">
            <a:off x="8229600" y="3063240"/>
            <a:ext cx="3291840" cy="1005840"/>
          </a:xfrm>
          <a:prstGeom xmlns:a="http://schemas.openxmlformats.org/drawingml/2006/main" prst="roundRect">
            <a:avLst>
              <a:gd name="adj" fmla="val 7273"/>
            </a:avLst>
          </a:prstGeom>
          <a:solidFill xmlns:a="http://schemas.openxmlformats.org/drawingml/2006/main">
            <a:srgbClr val="F2F5FB"/>
          </a:solidFill>
          <a:ln xmlns:a="http://schemas.openxmlformats.org/drawingml/2006/main" w="9525">
            <a:solidFill>
              <a:srgbClr val="E1E7F2"/>
            </a:solidFill>
            <a:prstDash val="solid"/>
          </a:ln>
        </p:spPr>
      </p:sp>
      <p:sp>
        <p:nvSpPr>
          <p:cNvPr id="20" name="Text 18">
            <a:extLst xmlns:a="http://schemas.openxmlformats.org/drawingml/2006/main">
              <a:ext uri="{FF2B5EF4-FFF2-40B4-BE49-F238E27FC236}">
                <a16:creationId xmlns:a16="http://schemas.microsoft.com/office/drawing/2014/main" id="{127DF665-D9D4-4C03-852F-D8ED4D1FCACB}"/>
              </a:ext>
            </a:extLst>
          </p:cNvPr>
          <p:cNvSpPr>
            <a:spLocks xmlns:a="http://schemas.openxmlformats.org/drawingml/2006/main" noGrp="1"/>
          </p:cNvSpPr>
          <p:nvPr/>
        </p:nvSpPr>
        <p:spPr>
          <a:xfrm xmlns:a="http://schemas.openxmlformats.org/drawingml/2006/main">
            <a:off x="8458200" y="3209544"/>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C7293"/>
                </a:solidFill>
                <a:latin typeface="Calibri"/>
                <a:ea typeface="Calibri"/>
                <a:cs typeface="Calibri"/>
              </a:rPr>
              <a:t>DIM_CHI_SO_GIA</a:t>
            </a:r>
            <a:endParaRPr sz="1250"/>
          </a:p>
        </p:txBody>
      </p:sp>
      <p:sp>
        <p:nvSpPr>
          <p:cNvPr id="21" name="Text 19">
            <a:extLst xmlns:a="http://schemas.openxmlformats.org/drawingml/2006/main">
              <a:ext uri="{FF2B5EF4-FFF2-40B4-BE49-F238E27FC236}">
                <a16:creationId xmlns:a16="http://schemas.microsoft.com/office/drawing/2014/main" id="{4C78C7FE-5CB7-43A1-A44D-0E03892C4C51}"/>
              </a:ext>
            </a:extLst>
          </p:cNvPr>
          <p:cNvSpPr>
            <a:spLocks xmlns:a="http://schemas.openxmlformats.org/drawingml/2006/main" noGrp="1"/>
          </p:cNvSpPr>
          <p:nvPr/>
        </p:nvSpPr>
        <p:spPr>
          <a:xfrm xmlns:a="http://schemas.openxmlformats.org/drawingml/2006/main">
            <a:off x="8458200" y="356616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377"/>
                </a:solidFill>
                <a:latin typeface="Calibri"/>
                <a:ea typeface="Calibri"/>
                <a:cs typeface="Calibri"/>
              </a:rPr>
              <a:t>CPI, PPI, giá XD</a:t>
            </a:r>
            <a:endParaRPr sz="1050"/>
          </a:p>
        </p:txBody>
      </p:sp>
      <p:sp>
        <p:nvSpPr>
          <p:cNvPr id="22" name="Shape 20">
            <a:extLst xmlns:a="http://schemas.openxmlformats.org/drawingml/2006/main">
              <a:ext uri="{FF2B5EF4-FFF2-40B4-BE49-F238E27FC236}">
                <a16:creationId xmlns:a16="http://schemas.microsoft.com/office/drawing/2014/main" id="{B7DB797D-643D-4BF2-9052-7DC86A7C0716}"/>
              </a:ext>
            </a:extLst>
          </p:cNvPr>
          <p:cNvSpPr>
            <a:spLocks xmlns:a="http://schemas.openxmlformats.org/drawingml/2006/main" noGrp="1"/>
          </p:cNvSpPr>
          <p:nvPr/>
        </p:nvSpPr>
        <p:spPr>
          <a:xfrm xmlns:a="http://schemas.openxmlformats.org/drawingml/2006/main">
            <a:off x="8229600" y="4343400"/>
            <a:ext cx="3291840" cy="1005840"/>
          </a:xfrm>
          <a:prstGeom xmlns:a="http://schemas.openxmlformats.org/drawingml/2006/main" prst="roundRect">
            <a:avLst>
              <a:gd name="adj" fmla="val 7273"/>
            </a:avLst>
          </a:prstGeom>
          <a:solidFill xmlns:a="http://schemas.openxmlformats.org/drawingml/2006/main">
            <a:srgbClr val="F2F5FB"/>
          </a:solidFill>
          <a:ln xmlns:a="http://schemas.openxmlformats.org/drawingml/2006/main" w="9525">
            <a:solidFill>
              <a:srgbClr val="E1E7F2"/>
            </a:solidFill>
            <a:prstDash val="solid"/>
          </a:ln>
        </p:spPr>
      </p:sp>
      <p:sp>
        <p:nvSpPr>
          <p:cNvPr id="23" name="Text 21">
            <a:extLst xmlns:a="http://schemas.openxmlformats.org/drawingml/2006/main">
              <a:ext uri="{FF2B5EF4-FFF2-40B4-BE49-F238E27FC236}">
                <a16:creationId xmlns:a16="http://schemas.microsoft.com/office/drawing/2014/main" id="{0D49D0D9-F50E-4115-9B09-558146F3C35F}"/>
              </a:ext>
            </a:extLst>
          </p:cNvPr>
          <p:cNvSpPr>
            <a:spLocks xmlns:a="http://schemas.openxmlformats.org/drawingml/2006/main" noGrp="1"/>
          </p:cNvSpPr>
          <p:nvPr/>
        </p:nvSpPr>
        <p:spPr>
          <a:xfrm xmlns:a="http://schemas.openxmlformats.org/drawingml/2006/main">
            <a:off x="8458200" y="4489704"/>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C7293"/>
                </a:solidFill>
                <a:latin typeface="Calibri"/>
                <a:ea typeface="Calibri"/>
                <a:cs typeface="Calibri"/>
              </a:rPr>
              <a:t>DIM_DIA_BAN</a:t>
            </a:r>
            <a:endParaRPr sz="1250"/>
          </a:p>
        </p:txBody>
      </p:sp>
      <p:sp>
        <p:nvSpPr>
          <p:cNvPr id="24" name="Text 22">
            <a:extLst xmlns:a="http://schemas.openxmlformats.org/drawingml/2006/main">
              <a:ext uri="{FF2B5EF4-FFF2-40B4-BE49-F238E27FC236}">
                <a16:creationId xmlns:a16="http://schemas.microsoft.com/office/drawing/2014/main" id="{09AD06CC-4871-428E-B7AB-24FB0FE9D720}"/>
              </a:ext>
            </a:extLst>
          </p:cNvPr>
          <p:cNvSpPr>
            <a:spLocks xmlns:a="http://schemas.openxmlformats.org/drawingml/2006/main" noGrp="1"/>
          </p:cNvSpPr>
          <p:nvPr/>
        </p:nvSpPr>
        <p:spPr>
          <a:xfrm xmlns:a="http://schemas.openxmlformats.org/drawingml/2006/main">
            <a:off x="8458200" y="484632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377"/>
                </a:solidFill>
                <a:latin typeface="Calibri"/>
                <a:ea typeface="Calibri"/>
                <a:cs typeface="Calibri"/>
              </a:rPr>
              <a:t>Tỉnh – xã/phường</a:t>
            </a:r>
            <a:endParaRPr sz="1050"/>
          </a:p>
        </p:txBody>
      </p:sp>
      <p:sp>
        <p:nvSpPr>
          <p:cNvPr id="25" name="Shape 23">
            <a:extLst xmlns:a="http://schemas.openxmlformats.org/drawingml/2006/main">
              <a:ext uri="{FF2B5EF4-FFF2-40B4-BE49-F238E27FC236}">
                <a16:creationId xmlns:a16="http://schemas.microsoft.com/office/drawing/2014/main" id="{D3262244-8E15-4395-8339-658884F171F2}"/>
              </a:ext>
            </a:extLst>
          </p:cNvPr>
          <p:cNvSpPr>
            <a:spLocks xmlns:a="http://schemas.openxmlformats.org/drawingml/2006/main" noGrp="1"/>
          </p:cNvSpPr>
          <p:nvPr/>
        </p:nvSpPr>
        <p:spPr>
          <a:xfrm xmlns:a="http://schemas.openxmlformats.org/drawingml/2006/main">
            <a:off x="3931920" y="2286000"/>
            <a:ext cx="274320" cy="0"/>
          </a:xfrm>
          <a:prstGeom xmlns:a="http://schemas.openxmlformats.org/drawingml/2006/main" prst="line">
            <a:avLst/>
          </a:prstGeom>
          <a:noFill xmlns:a="http://schemas.openxmlformats.org/drawingml/2006/main"/>
          <a:ln xmlns:a="http://schemas.openxmlformats.org/drawingml/2006/main" w="19050">
            <a:solidFill>
              <a:srgbClr val="B9C4DA"/>
            </a:solidFill>
            <a:prstDash val="solid"/>
          </a:ln>
        </p:spPr>
      </p:sp>
      <p:sp>
        <p:nvSpPr>
          <p:cNvPr id="26" name="Shape 24">
            <a:extLst xmlns:a="http://schemas.openxmlformats.org/drawingml/2006/main">
              <a:ext uri="{FF2B5EF4-FFF2-40B4-BE49-F238E27FC236}">
                <a16:creationId xmlns:a16="http://schemas.microsoft.com/office/drawing/2014/main" id="{01F21ED6-2DD9-4686-A6FD-3C1E330252B2}"/>
              </a:ext>
            </a:extLst>
          </p:cNvPr>
          <p:cNvSpPr>
            <a:spLocks xmlns:a="http://schemas.openxmlformats.org/drawingml/2006/main" noGrp="1"/>
          </p:cNvSpPr>
          <p:nvPr/>
        </p:nvSpPr>
        <p:spPr>
          <a:xfrm xmlns:a="http://schemas.openxmlformats.org/drawingml/2006/main">
            <a:off x="3931920" y="3566160"/>
            <a:ext cx="274320" cy="0"/>
          </a:xfrm>
          <a:prstGeom xmlns:a="http://schemas.openxmlformats.org/drawingml/2006/main" prst="line">
            <a:avLst/>
          </a:prstGeom>
          <a:noFill xmlns:a="http://schemas.openxmlformats.org/drawingml/2006/main"/>
          <a:ln xmlns:a="http://schemas.openxmlformats.org/drawingml/2006/main" w="19050">
            <a:solidFill>
              <a:srgbClr val="B9C4DA"/>
            </a:solidFill>
            <a:prstDash val="solid"/>
          </a:ln>
        </p:spPr>
      </p:sp>
      <p:sp>
        <p:nvSpPr>
          <p:cNvPr id="27" name="Shape 25">
            <a:extLst xmlns:a="http://schemas.openxmlformats.org/drawingml/2006/main">
              <a:ext uri="{FF2B5EF4-FFF2-40B4-BE49-F238E27FC236}">
                <a16:creationId xmlns:a16="http://schemas.microsoft.com/office/drawing/2014/main" id="{606C3305-FE31-45CE-8375-CD466289B4AE}"/>
              </a:ext>
            </a:extLst>
          </p:cNvPr>
          <p:cNvSpPr>
            <a:spLocks xmlns:a="http://schemas.openxmlformats.org/drawingml/2006/main" noGrp="1"/>
          </p:cNvSpPr>
          <p:nvPr/>
        </p:nvSpPr>
        <p:spPr>
          <a:xfrm xmlns:a="http://schemas.openxmlformats.org/drawingml/2006/main">
            <a:off x="3931920" y="4846320"/>
            <a:ext cx="274320" cy="0"/>
          </a:xfrm>
          <a:prstGeom xmlns:a="http://schemas.openxmlformats.org/drawingml/2006/main" prst="line">
            <a:avLst/>
          </a:prstGeom>
          <a:noFill xmlns:a="http://schemas.openxmlformats.org/drawingml/2006/main"/>
          <a:ln xmlns:a="http://schemas.openxmlformats.org/drawingml/2006/main" w="19050">
            <a:solidFill>
              <a:srgbClr val="B9C4DA"/>
            </a:solidFill>
            <a:prstDash val="solid"/>
          </a:ln>
        </p:spPr>
      </p:sp>
      <p:sp>
        <p:nvSpPr>
          <p:cNvPr id="28" name="Text 26">
            <a:extLst xmlns:a="http://schemas.openxmlformats.org/drawingml/2006/main">
              <a:ext uri="{FF2B5EF4-FFF2-40B4-BE49-F238E27FC236}">
                <a16:creationId xmlns:a16="http://schemas.microsoft.com/office/drawing/2014/main" id="{EDA5BAD1-936B-4953-8C8B-2E5B91CDE590}"/>
              </a:ext>
            </a:extLst>
          </p:cNvPr>
          <p:cNvSpPr>
            <a:spLocks xmlns:a="http://schemas.openxmlformats.org/drawingml/2006/main" noGrp="1"/>
          </p:cNvSpPr>
          <p:nvPr/>
        </p:nvSpPr>
        <p:spPr>
          <a:xfrm xmlns:a="http://schemas.openxmlformats.org/drawingml/2006/main">
            <a:off x="640080" y="635508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5A6377"/>
                </a:solidFill>
                <a:latin typeface="Calibri"/>
                <a:ea typeface="Calibri"/>
                <a:cs typeface="Calibri"/>
              </a:rPr>
              <a:t>Mọi bản ghi phải mang đủ 5 chiều bắt buộc: ngành – thời gian – loại giá – phiên bản số liệu – địa giới hành chính; thiếu một chiều là không tổng hợp và không đối chiếu được.</a:t>
            </a:r>
            <a:endParaRPr sz="900"/>
          </a:p>
        </p:txBody>
      </p:sp>
    </p:spTree>
    <p:extLst>
      <p:ext uri="{BB962C8B-B14F-4D97-AF65-F5344CB8AC3E}">
        <p14:creationId xmlns:p14="http://schemas.microsoft.com/office/powerpoint/2010/main" val="120892433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B30665-3F9A-4A18-AC9A-86FF814456E7}"/>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E2761"/>
                </a:solidFill>
                <a:latin typeface="Cambria"/>
                <a:ea typeface="Cambria"/>
                <a:cs typeface="Cambria"/>
              </a:rPr>
              <a:t>Ánh xạ vào các dịch vụ nền tảng đã có trong đề án IOC</a:t>
            </a:r>
            <a:endParaRPr sz="2600"/>
          </a:p>
        </p:txBody>
      </p:sp>
      <p:sp>
        <p:nvSpPr>
          <p:cNvPr id="3" name="Text 1">
            <a:extLst xmlns:a="http://schemas.openxmlformats.org/drawingml/2006/main">
              <a:ext uri="{FF2B5EF4-FFF2-40B4-BE49-F238E27FC236}">
                <a16:creationId xmlns:a16="http://schemas.microsoft.com/office/drawing/2014/main" id="{FFF7C627-2818-43B4-A6F8-3847C79EBD02}"/>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Không phát sinh cấu phần mới — chỉ cấu hình đúng luồng dữ liệu cho bài toán GRDP</a:t>
            </a:r>
            <a:endParaRPr sz="1400"/>
          </a:p>
        </p:txBody>
      </p:sp>
      <p:sp>
        <p:nvSpPr>
          <p:cNvPr id="4" name="Shape 2">
            <a:extLst xmlns:a="http://schemas.openxmlformats.org/drawingml/2006/main">
              <a:ext uri="{FF2B5EF4-FFF2-40B4-BE49-F238E27FC236}">
                <a16:creationId xmlns:a16="http://schemas.microsoft.com/office/drawing/2014/main" id="{4ABB8F1B-E855-485E-8427-D53EE1CC0C0B}"/>
              </a:ext>
            </a:extLst>
          </p:cNvPr>
          <p:cNvSpPr>
            <a:spLocks xmlns:a="http://schemas.openxmlformats.org/drawingml/2006/main" noGrp="1"/>
          </p:cNvSpPr>
          <p:nvPr/>
        </p:nvSpPr>
        <p:spPr>
          <a:xfrm xmlns:a="http://schemas.openxmlformats.org/drawingml/2006/main">
            <a:off x="640080" y="2011680"/>
            <a:ext cx="2103120" cy="2651760"/>
          </a:xfrm>
          <a:prstGeom xmlns:a="http://schemas.openxmlformats.org/drawingml/2006/main" prst="roundRect">
            <a:avLst>
              <a:gd name="adj" fmla="val 4348"/>
            </a:avLst>
          </a:prstGeom>
          <a:solidFill xmlns:a="http://schemas.openxmlformats.org/drawingml/2006/main">
            <a:srgbClr val="F2F5FB"/>
          </a:solidFill>
          <a:ln xmlns:a="http://schemas.openxmlformats.org/drawingml/2006/main" w="12700">
            <a:solidFill>
              <a:srgbClr val="D8E0F0"/>
            </a:solidFill>
            <a:prstDash val="solid"/>
          </a:ln>
        </p:spPr>
      </p:sp>
      <p:sp>
        <p:nvSpPr>
          <p:cNvPr id="5" name="Shape 3">
            <a:extLst xmlns:a="http://schemas.openxmlformats.org/drawingml/2006/main">
              <a:ext uri="{FF2B5EF4-FFF2-40B4-BE49-F238E27FC236}">
                <a16:creationId xmlns:a16="http://schemas.microsoft.com/office/drawing/2014/main" id="{5C6DD1CA-1D74-46AC-A029-0AF656903DBC}"/>
              </a:ext>
            </a:extLst>
          </p:cNvPr>
          <p:cNvSpPr>
            <a:spLocks xmlns:a="http://schemas.openxmlformats.org/drawingml/2006/main" noGrp="1"/>
          </p:cNvSpPr>
          <p:nvPr/>
        </p:nvSpPr>
        <p:spPr>
          <a:xfrm xmlns:a="http://schemas.openxmlformats.org/drawingml/2006/main">
            <a:off x="1417320" y="2194560"/>
            <a:ext cx="548640" cy="548640"/>
          </a:xfrm>
          <a:prstGeom xmlns:a="http://schemas.openxmlformats.org/drawingml/2006/main" prst="ellipse">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0A0E6BD4-0210-4BEC-9749-DD7C27DD9FA3}"/>
              </a:ext>
            </a:extLst>
          </p:cNvPr>
          <p:cNvSpPr>
            <a:spLocks xmlns:a="http://schemas.openxmlformats.org/drawingml/2006/main" noGrp="1"/>
          </p:cNvSpPr>
          <p:nvPr/>
        </p:nvSpPr>
        <p:spPr>
          <a:xfrm xmlns:a="http://schemas.openxmlformats.org/drawingml/2006/main">
            <a:off x="1417320" y="21945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C9A227"/>
                </a:solidFill>
                <a:latin typeface="Calibri"/>
                <a:ea typeface="Calibri"/>
                <a:cs typeface="Calibri"/>
              </a:rPr>
              <a:t>1</a:t>
            </a:r>
            <a:endParaRPr sz="1700"/>
          </a:p>
        </p:txBody>
      </p:sp>
      <p:sp>
        <p:nvSpPr>
          <p:cNvPr id="7" name="Text 5">
            <a:extLst xmlns:a="http://schemas.openxmlformats.org/drawingml/2006/main">
              <a:ext uri="{FF2B5EF4-FFF2-40B4-BE49-F238E27FC236}">
                <a16:creationId xmlns:a16="http://schemas.microsoft.com/office/drawing/2014/main" id="{B31307F8-D5D7-44AE-AB3D-AEFC79F02871}"/>
              </a:ext>
            </a:extLst>
          </p:cNvPr>
          <p:cNvSpPr>
            <a:spLocks xmlns:a="http://schemas.openxmlformats.org/drawingml/2006/main" noGrp="1"/>
          </p:cNvSpPr>
          <p:nvPr/>
        </p:nvSpPr>
        <p:spPr>
          <a:xfrm xmlns:a="http://schemas.openxmlformats.org/drawingml/2006/main">
            <a:off x="804672" y="2880360"/>
            <a:ext cx="1783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E2761"/>
                </a:solidFill>
                <a:latin typeface="Calibri"/>
                <a:ea typeface="Calibri"/>
                <a:cs typeface="Calibri"/>
              </a:rPr>
              <a:t>Kết nối &amp; thu thập</a:t>
            </a:r>
            <a:endParaRPr sz="1300"/>
          </a:p>
        </p:txBody>
      </p:sp>
      <p:sp>
        <p:nvSpPr>
          <p:cNvPr id="8" name="Text 6">
            <a:extLst xmlns:a="http://schemas.openxmlformats.org/drawingml/2006/main">
              <a:ext uri="{FF2B5EF4-FFF2-40B4-BE49-F238E27FC236}">
                <a16:creationId xmlns:a16="http://schemas.microsoft.com/office/drawing/2014/main" id="{C63F7A6D-9E49-4418-B13C-72D1D44766DC}"/>
              </a:ext>
            </a:extLst>
          </p:cNvPr>
          <p:cNvSpPr>
            <a:spLocks xmlns:a="http://schemas.openxmlformats.org/drawingml/2006/main" noGrp="1"/>
          </p:cNvSpPr>
          <p:nvPr/>
        </p:nvSpPr>
        <p:spPr>
          <a:xfrm xmlns:a="http://schemas.openxmlformats.org/drawingml/2006/main">
            <a:off x="804672" y="3429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202536"/>
                </a:solidFill>
                <a:latin typeface="Calibri"/>
                <a:ea typeface="Calibri"/>
                <a:cs typeface="Calibri"/>
              </a:rPr>
              <a:t>Kết nối API/CSDL các sở ngành, nạp dữ liệu GO, IC, thuế, đầu tư, chỉ số giá</a:t>
            </a:r>
            <a:endParaRPr sz="1050"/>
          </a:p>
        </p:txBody>
      </p:sp>
      <p:sp>
        <p:nvSpPr>
          <p:cNvPr id="9" name="Shape 7">
            <a:extLst xmlns:a="http://schemas.openxmlformats.org/drawingml/2006/main">
              <a:ext uri="{FF2B5EF4-FFF2-40B4-BE49-F238E27FC236}">
                <a16:creationId xmlns:a16="http://schemas.microsoft.com/office/drawing/2014/main" id="{255E0FF0-BC9B-4641-B22E-C81884DA5F63}"/>
              </a:ext>
            </a:extLst>
          </p:cNvPr>
          <p:cNvSpPr>
            <a:spLocks xmlns:a="http://schemas.openxmlformats.org/drawingml/2006/main" noGrp="1"/>
          </p:cNvSpPr>
          <p:nvPr/>
        </p:nvSpPr>
        <p:spPr>
          <a:xfrm xmlns:a="http://schemas.openxmlformats.org/drawingml/2006/main">
            <a:off x="2770632" y="3200400"/>
            <a:ext cx="128016" cy="256032"/>
          </a:xfrm>
          <a:prstGeom xmlns:a="http://schemas.openxmlformats.org/drawingml/2006/main" prst="rightArrow">
            <a:avLst/>
          </a:prstGeom>
          <a:solidFill xmlns:a="http://schemas.openxmlformats.org/drawingml/2006/main">
            <a:srgbClr val="C9A227"/>
          </a:solidFill>
        </p:spPr>
      </p:sp>
      <p:sp>
        <p:nvSpPr>
          <p:cNvPr id="10" name="Shape 8">
            <a:extLst xmlns:a="http://schemas.openxmlformats.org/drawingml/2006/main">
              <a:ext uri="{FF2B5EF4-FFF2-40B4-BE49-F238E27FC236}">
                <a16:creationId xmlns:a16="http://schemas.microsoft.com/office/drawing/2014/main" id="{9A4E07B5-8AC5-4C98-AFEA-67FA92A207A2}"/>
              </a:ext>
            </a:extLst>
          </p:cNvPr>
          <p:cNvSpPr>
            <a:spLocks xmlns:a="http://schemas.openxmlformats.org/drawingml/2006/main" noGrp="1"/>
          </p:cNvSpPr>
          <p:nvPr/>
        </p:nvSpPr>
        <p:spPr>
          <a:xfrm xmlns:a="http://schemas.openxmlformats.org/drawingml/2006/main">
            <a:off x="2926080" y="2011680"/>
            <a:ext cx="2103120" cy="265176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12700">
            <a:solidFill>
              <a:srgbClr val="D8E0F0"/>
            </a:solidFill>
            <a:prstDash val="solid"/>
          </a:ln>
        </p:spPr>
      </p:sp>
      <p:sp>
        <p:nvSpPr>
          <p:cNvPr id="11" name="Shape 9">
            <a:extLst xmlns:a="http://schemas.openxmlformats.org/drawingml/2006/main">
              <a:ext uri="{FF2B5EF4-FFF2-40B4-BE49-F238E27FC236}">
                <a16:creationId xmlns:a16="http://schemas.microsoft.com/office/drawing/2014/main" id="{04BBC308-8A22-485D-8F2F-3D40BB6B64C8}"/>
              </a:ext>
            </a:extLst>
          </p:cNvPr>
          <p:cNvSpPr>
            <a:spLocks xmlns:a="http://schemas.openxmlformats.org/drawingml/2006/main" noGrp="1"/>
          </p:cNvSpPr>
          <p:nvPr/>
        </p:nvSpPr>
        <p:spPr>
          <a:xfrm xmlns:a="http://schemas.openxmlformats.org/drawingml/2006/main">
            <a:off x="3703320" y="2194560"/>
            <a:ext cx="548640" cy="548640"/>
          </a:xfrm>
          <a:prstGeom xmlns:a="http://schemas.openxmlformats.org/drawingml/2006/main" prst="ellipse">
            <a:avLst/>
          </a:prstGeom>
          <a:solidFill xmlns:a="http://schemas.openxmlformats.org/drawingml/2006/main">
            <a:srgbClr val="1E2761"/>
          </a:solidFill>
        </p:spPr>
      </p:sp>
      <p:sp>
        <p:nvSpPr>
          <p:cNvPr id="12" name="Text 10">
            <a:extLst xmlns:a="http://schemas.openxmlformats.org/drawingml/2006/main">
              <a:ext uri="{FF2B5EF4-FFF2-40B4-BE49-F238E27FC236}">
                <a16:creationId xmlns:a16="http://schemas.microsoft.com/office/drawing/2014/main" id="{40C31314-F0CF-4EE5-94AC-56423277839A}"/>
              </a:ext>
            </a:extLst>
          </p:cNvPr>
          <p:cNvSpPr>
            <a:spLocks xmlns:a="http://schemas.openxmlformats.org/drawingml/2006/main" noGrp="1"/>
          </p:cNvSpPr>
          <p:nvPr/>
        </p:nvSpPr>
        <p:spPr>
          <a:xfrm xmlns:a="http://schemas.openxmlformats.org/drawingml/2006/main">
            <a:off x="3703320" y="21945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C9A227"/>
                </a:solidFill>
                <a:latin typeface="Calibri"/>
                <a:ea typeface="Calibri"/>
                <a:cs typeface="Calibri"/>
              </a:rPr>
              <a:t>2</a:t>
            </a:r>
            <a:endParaRPr sz="1700"/>
          </a:p>
        </p:txBody>
      </p:sp>
      <p:sp>
        <p:nvSpPr>
          <p:cNvPr id="13" name="Text 11">
            <a:extLst xmlns:a="http://schemas.openxmlformats.org/drawingml/2006/main">
              <a:ext uri="{FF2B5EF4-FFF2-40B4-BE49-F238E27FC236}">
                <a16:creationId xmlns:a16="http://schemas.microsoft.com/office/drawing/2014/main" id="{3227D6FD-23AC-40EA-8D7F-0E380CE3CAF4}"/>
              </a:ext>
            </a:extLst>
          </p:cNvPr>
          <p:cNvSpPr>
            <a:spLocks xmlns:a="http://schemas.openxmlformats.org/drawingml/2006/main" noGrp="1"/>
          </p:cNvSpPr>
          <p:nvPr/>
        </p:nvSpPr>
        <p:spPr>
          <a:xfrm xmlns:a="http://schemas.openxmlformats.org/drawingml/2006/main">
            <a:off x="3090672" y="2880360"/>
            <a:ext cx="1783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E2761"/>
                </a:solidFill>
                <a:latin typeface="Calibri"/>
                <a:ea typeface="Calibri"/>
                <a:cs typeface="Calibri"/>
              </a:rPr>
              <a:t>Chuẩn hoá</a:t>
            </a:r>
            <a:endParaRPr sz="1300"/>
          </a:p>
        </p:txBody>
      </p:sp>
      <p:sp>
        <p:nvSpPr>
          <p:cNvPr id="14" name="Text 12">
            <a:extLst xmlns:a="http://schemas.openxmlformats.org/drawingml/2006/main">
              <a:ext uri="{FF2B5EF4-FFF2-40B4-BE49-F238E27FC236}">
                <a16:creationId xmlns:a16="http://schemas.microsoft.com/office/drawing/2014/main" id="{C1D70A3C-A85C-43CE-92A5-FA6F3F304E7D}"/>
              </a:ext>
            </a:extLst>
          </p:cNvPr>
          <p:cNvSpPr>
            <a:spLocks xmlns:a="http://schemas.openxmlformats.org/drawingml/2006/main" noGrp="1"/>
          </p:cNvSpPr>
          <p:nvPr/>
        </p:nvSpPr>
        <p:spPr>
          <a:xfrm xmlns:a="http://schemas.openxmlformats.org/drawingml/2006/main">
            <a:off x="3090672" y="3429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202536"/>
                </a:solidFill>
                <a:latin typeface="Calibri"/>
                <a:ea typeface="Calibri"/>
                <a:cs typeface="Calibri"/>
              </a:rPr>
              <a:t>Ép kiểu số, chuẩn mã ngành VSIC, thống nhất đơn vị tỷ đồng, gắn nhãn năm gốc</a:t>
            </a:r>
            <a:endParaRPr sz="1050"/>
          </a:p>
        </p:txBody>
      </p:sp>
      <p:sp>
        <p:nvSpPr>
          <p:cNvPr id="15" name="Shape 13">
            <a:extLst xmlns:a="http://schemas.openxmlformats.org/drawingml/2006/main">
              <a:ext uri="{FF2B5EF4-FFF2-40B4-BE49-F238E27FC236}">
                <a16:creationId xmlns:a16="http://schemas.microsoft.com/office/drawing/2014/main" id="{637BF78B-A556-406C-AF6E-4221B754DC88}"/>
              </a:ext>
            </a:extLst>
          </p:cNvPr>
          <p:cNvSpPr>
            <a:spLocks xmlns:a="http://schemas.openxmlformats.org/drawingml/2006/main" noGrp="1"/>
          </p:cNvSpPr>
          <p:nvPr/>
        </p:nvSpPr>
        <p:spPr>
          <a:xfrm xmlns:a="http://schemas.openxmlformats.org/drawingml/2006/main">
            <a:off x="5056632" y="3200400"/>
            <a:ext cx="128016" cy="256032"/>
          </a:xfrm>
          <a:prstGeom xmlns:a="http://schemas.openxmlformats.org/drawingml/2006/main" prst="rightArrow">
            <a:avLst/>
          </a:prstGeom>
          <a:solidFill xmlns:a="http://schemas.openxmlformats.org/drawingml/2006/main">
            <a:srgbClr val="C9A227"/>
          </a:solidFill>
        </p:spPr>
      </p:sp>
      <p:sp>
        <p:nvSpPr>
          <p:cNvPr id="16" name="Shape 14">
            <a:extLst xmlns:a="http://schemas.openxmlformats.org/drawingml/2006/main">
              <a:ext uri="{FF2B5EF4-FFF2-40B4-BE49-F238E27FC236}">
                <a16:creationId xmlns:a16="http://schemas.microsoft.com/office/drawing/2014/main" id="{1D509D7E-5276-4DF5-BA1E-85E29DDEBA77}"/>
              </a:ext>
            </a:extLst>
          </p:cNvPr>
          <p:cNvSpPr>
            <a:spLocks xmlns:a="http://schemas.openxmlformats.org/drawingml/2006/main" noGrp="1"/>
          </p:cNvSpPr>
          <p:nvPr/>
        </p:nvSpPr>
        <p:spPr>
          <a:xfrm xmlns:a="http://schemas.openxmlformats.org/drawingml/2006/main">
            <a:off x="5212080" y="2011680"/>
            <a:ext cx="2103120" cy="2651760"/>
          </a:xfrm>
          <a:prstGeom xmlns:a="http://schemas.openxmlformats.org/drawingml/2006/main" prst="roundRect">
            <a:avLst>
              <a:gd name="adj" fmla="val 4348"/>
            </a:avLst>
          </a:prstGeom>
          <a:solidFill xmlns:a="http://schemas.openxmlformats.org/drawingml/2006/main">
            <a:srgbClr val="F2F5FB"/>
          </a:solidFill>
          <a:ln xmlns:a="http://schemas.openxmlformats.org/drawingml/2006/main" w="12700">
            <a:solidFill>
              <a:srgbClr val="D8E0F0"/>
            </a:solidFill>
            <a:prstDash val="solid"/>
          </a:ln>
        </p:spPr>
      </p:sp>
      <p:sp>
        <p:nvSpPr>
          <p:cNvPr id="17" name="Shape 15">
            <a:extLst xmlns:a="http://schemas.openxmlformats.org/drawingml/2006/main">
              <a:ext uri="{FF2B5EF4-FFF2-40B4-BE49-F238E27FC236}">
                <a16:creationId xmlns:a16="http://schemas.microsoft.com/office/drawing/2014/main" id="{F1AE98C1-F634-434B-ABFA-D468B174F0CF}"/>
              </a:ext>
            </a:extLst>
          </p:cNvPr>
          <p:cNvSpPr>
            <a:spLocks xmlns:a="http://schemas.openxmlformats.org/drawingml/2006/main" noGrp="1"/>
          </p:cNvSpPr>
          <p:nvPr/>
        </p:nvSpPr>
        <p:spPr>
          <a:xfrm xmlns:a="http://schemas.openxmlformats.org/drawingml/2006/main">
            <a:off x="5989320" y="2194560"/>
            <a:ext cx="548640" cy="548640"/>
          </a:xfrm>
          <a:prstGeom xmlns:a="http://schemas.openxmlformats.org/drawingml/2006/main" prst="ellipse">
            <a:avLst/>
          </a:prstGeom>
          <a:solidFill xmlns:a="http://schemas.openxmlformats.org/drawingml/2006/main">
            <a:srgbClr val="1E2761"/>
          </a:solidFill>
        </p:spPr>
      </p:sp>
      <p:sp>
        <p:nvSpPr>
          <p:cNvPr id="18" name="Text 16">
            <a:extLst xmlns:a="http://schemas.openxmlformats.org/drawingml/2006/main">
              <a:ext uri="{FF2B5EF4-FFF2-40B4-BE49-F238E27FC236}">
                <a16:creationId xmlns:a16="http://schemas.microsoft.com/office/drawing/2014/main" id="{358480E8-51E0-4651-B6CB-4F293FA00462}"/>
              </a:ext>
            </a:extLst>
          </p:cNvPr>
          <p:cNvSpPr>
            <a:spLocks xmlns:a="http://schemas.openxmlformats.org/drawingml/2006/main" noGrp="1"/>
          </p:cNvSpPr>
          <p:nvPr/>
        </p:nvSpPr>
        <p:spPr>
          <a:xfrm xmlns:a="http://schemas.openxmlformats.org/drawingml/2006/main">
            <a:off x="5989320" y="21945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C9A227"/>
                </a:solidFill>
                <a:latin typeface="Calibri"/>
                <a:ea typeface="Calibri"/>
                <a:cs typeface="Calibri"/>
              </a:rPr>
              <a:t>3</a:t>
            </a:r>
            <a:endParaRPr sz="1700"/>
          </a:p>
        </p:txBody>
      </p:sp>
      <p:sp>
        <p:nvSpPr>
          <p:cNvPr id="19" name="Text 17">
            <a:extLst xmlns:a="http://schemas.openxmlformats.org/drawingml/2006/main">
              <a:ext uri="{FF2B5EF4-FFF2-40B4-BE49-F238E27FC236}">
                <a16:creationId xmlns:a16="http://schemas.microsoft.com/office/drawing/2014/main" id="{3095E7CE-14CA-48DC-9D22-72A7BD70B04A}"/>
              </a:ext>
            </a:extLst>
          </p:cNvPr>
          <p:cNvSpPr>
            <a:spLocks xmlns:a="http://schemas.openxmlformats.org/drawingml/2006/main" noGrp="1"/>
          </p:cNvSpPr>
          <p:nvPr/>
        </p:nvSpPr>
        <p:spPr>
          <a:xfrm xmlns:a="http://schemas.openxmlformats.org/drawingml/2006/main">
            <a:off x="5376672" y="2880360"/>
            <a:ext cx="1783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E2761"/>
                </a:solidFill>
                <a:latin typeface="Calibri"/>
                <a:ea typeface="Calibri"/>
                <a:cs typeface="Calibri"/>
              </a:rPr>
              <a:t>Kết hợp &amp; tính toán</a:t>
            </a:r>
            <a:endParaRPr sz="1300"/>
          </a:p>
        </p:txBody>
      </p:sp>
      <p:sp>
        <p:nvSpPr>
          <p:cNvPr id="20" name="Text 18">
            <a:extLst xmlns:a="http://schemas.openxmlformats.org/drawingml/2006/main">
              <a:ext uri="{FF2B5EF4-FFF2-40B4-BE49-F238E27FC236}">
                <a16:creationId xmlns:a16="http://schemas.microsoft.com/office/drawing/2014/main" id="{878AE1BB-F346-4131-AF62-919CCE998CF6}"/>
              </a:ext>
            </a:extLst>
          </p:cNvPr>
          <p:cNvSpPr>
            <a:spLocks xmlns:a="http://schemas.openxmlformats.org/drawingml/2006/main" noGrp="1"/>
          </p:cNvSpPr>
          <p:nvPr/>
        </p:nvSpPr>
        <p:spPr>
          <a:xfrm xmlns:a="http://schemas.openxmlformats.org/drawingml/2006/main">
            <a:off x="5376672" y="3429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202536"/>
                </a:solidFill>
                <a:latin typeface="Calibri"/>
                <a:ea typeface="Calibri"/>
                <a:cs typeface="Calibri"/>
              </a:rPr>
              <a:t>Join/Union nhiều nguồn; tính VA = GO − IC; giảm phát về giá so sánh 2020</a:t>
            </a:r>
            <a:endParaRPr sz="1050"/>
          </a:p>
        </p:txBody>
      </p:sp>
      <p:sp>
        <p:nvSpPr>
          <p:cNvPr id="21" name="Shape 19">
            <a:extLst xmlns:a="http://schemas.openxmlformats.org/drawingml/2006/main">
              <a:ext uri="{FF2B5EF4-FFF2-40B4-BE49-F238E27FC236}">
                <a16:creationId xmlns:a16="http://schemas.microsoft.com/office/drawing/2014/main" id="{A35120EF-6779-44F7-9A27-0615498FCAB6}"/>
              </a:ext>
            </a:extLst>
          </p:cNvPr>
          <p:cNvSpPr>
            <a:spLocks xmlns:a="http://schemas.openxmlformats.org/drawingml/2006/main" noGrp="1"/>
          </p:cNvSpPr>
          <p:nvPr/>
        </p:nvSpPr>
        <p:spPr>
          <a:xfrm xmlns:a="http://schemas.openxmlformats.org/drawingml/2006/main">
            <a:off x="7342632" y="3200400"/>
            <a:ext cx="128016" cy="256032"/>
          </a:xfrm>
          <a:prstGeom xmlns:a="http://schemas.openxmlformats.org/drawingml/2006/main" prst="rightArrow">
            <a:avLst/>
          </a:prstGeom>
          <a:solidFill xmlns:a="http://schemas.openxmlformats.org/drawingml/2006/main">
            <a:srgbClr val="C9A227"/>
          </a:solidFill>
        </p:spPr>
      </p:sp>
      <p:sp>
        <p:nvSpPr>
          <p:cNvPr id="22" name="Shape 20">
            <a:extLst xmlns:a="http://schemas.openxmlformats.org/drawingml/2006/main">
              <a:ext uri="{FF2B5EF4-FFF2-40B4-BE49-F238E27FC236}">
                <a16:creationId xmlns:a16="http://schemas.microsoft.com/office/drawing/2014/main" id="{F055188B-42ED-4BB6-B32B-5910E1B18F3F}"/>
              </a:ext>
            </a:extLst>
          </p:cNvPr>
          <p:cNvSpPr>
            <a:spLocks xmlns:a="http://schemas.openxmlformats.org/drawingml/2006/main" noGrp="1"/>
          </p:cNvSpPr>
          <p:nvPr/>
        </p:nvSpPr>
        <p:spPr>
          <a:xfrm xmlns:a="http://schemas.openxmlformats.org/drawingml/2006/main">
            <a:off x="7498080" y="2011680"/>
            <a:ext cx="2103120" cy="265176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12700">
            <a:solidFill>
              <a:srgbClr val="D8E0F0"/>
            </a:solidFill>
            <a:prstDash val="solid"/>
          </a:ln>
        </p:spPr>
      </p:sp>
      <p:sp>
        <p:nvSpPr>
          <p:cNvPr id="23" name="Shape 21">
            <a:extLst xmlns:a="http://schemas.openxmlformats.org/drawingml/2006/main">
              <a:ext uri="{FF2B5EF4-FFF2-40B4-BE49-F238E27FC236}">
                <a16:creationId xmlns:a16="http://schemas.microsoft.com/office/drawing/2014/main" id="{1B5EB757-4569-4A2F-ABB4-22F2FB80D85C}"/>
              </a:ext>
            </a:extLst>
          </p:cNvPr>
          <p:cNvSpPr>
            <a:spLocks xmlns:a="http://schemas.openxmlformats.org/drawingml/2006/main" noGrp="1"/>
          </p:cNvSpPr>
          <p:nvPr/>
        </p:nvSpPr>
        <p:spPr>
          <a:xfrm xmlns:a="http://schemas.openxmlformats.org/drawingml/2006/main">
            <a:off x="8275320" y="2194560"/>
            <a:ext cx="548640" cy="548640"/>
          </a:xfrm>
          <a:prstGeom xmlns:a="http://schemas.openxmlformats.org/drawingml/2006/main" prst="ellipse">
            <a:avLst/>
          </a:prstGeom>
          <a:solidFill xmlns:a="http://schemas.openxmlformats.org/drawingml/2006/main">
            <a:srgbClr val="1E2761"/>
          </a:solidFill>
        </p:spPr>
      </p:sp>
      <p:sp>
        <p:nvSpPr>
          <p:cNvPr id="24" name="Text 22">
            <a:extLst xmlns:a="http://schemas.openxmlformats.org/drawingml/2006/main">
              <a:ext uri="{FF2B5EF4-FFF2-40B4-BE49-F238E27FC236}">
                <a16:creationId xmlns:a16="http://schemas.microsoft.com/office/drawing/2014/main" id="{2197A3ED-D4F6-4FB6-9D3F-044EBA42CBB7}"/>
              </a:ext>
            </a:extLst>
          </p:cNvPr>
          <p:cNvSpPr>
            <a:spLocks xmlns:a="http://schemas.openxmlformats.org/drawingml/2006/main" noGrp="1"/>
          </p:cNvSpPr>
          <p:nvPr/>
        </p:nvSpPr>
        <p:spPr>
          <a:xfrm xmlns:a="http://schemas.openxmlformats.org/drawingml/2006/main">
            <a:off x="8275320" y="21945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C9A227"/>
                </a:solidFill>
                <a:latin typeface="Calibri"/>
                <a:ea typeface="Calibri"/>
                <a:cs typeface="Calibri"/>
              </a:rPr>
              <a:t>4</a:t>
            </a:r>
            <a:endParaRPr sz="1700"/>
          </a:p>
        </p:txBody>
      </p:sp>
      <p:sp>
        <p:nvSpPr>
          <p:cNvPr id="25" name="Text 23">
            <a:extLst xmlns:a="http://schemas.openxmlformats.org/drawingml/2006/main">
              <a:ext uri="{FF2B5EF4-FFF2-40B4-BE49-F238E27FC236}">
                <a16:creationId xmlns:a16="http://schemas.microsoft.com/office/drawing/2014/main" id="{861B2AA2-4DC3-409F-8048-CB6D72ADF926}"/>
              </a:ext>
            </a:extLst>
          </p:cNvPr>
          <p:cNvSpPr>
            <a:spLocks xmlns:a="http://schemas.openxmlformats.org/drawingml/2006/main" noGrp="1"/>
          </p:cNvSpPr>
          <p:nvPr/>
        </p:nvSpPr>
        <p:spPr>
          <a:xfrm xmlns:a="http://schemas.openxmlformats.org/drawingml/2006/main">
            <a:off x="7662672" y="2880360"/>
            <a:ext cx="1783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E2761"/>
                </a:solidFill>
                <a:latin typeface="Calibri"/>
                <a:ea typeface="Calibri"/>
                <a:cs typeface="Calibri"/>
              </a:rPr>
              <a:t>Tổng hợp</a:t>
            </a:r>
            <a:endParaRPr sz="1300"/>
          </a:p>
        </p:txBody>
      </p:sp>
      <p:sp>
        <p:nvSpPr>
          <p:cNvPr id="26" name="Text 24">
            <a:extLst xmlns:a="http://schemas.openxmlformats.org/drawingml/2006/main">
              <a:ext uri="{FF2B5EF4-FFF2-40B4-BE49-F238E27FC236}">
                <a16:creationId xmlns:a16="http://schemas.microsoft.com/office/drawing/2014/main" id="{060D4C1A-7140-4152-A38C-A92EB9F9B050}"/>
              </a:ext>
            </a:extLst>
          </p:cNvPr>
          <p:cNvSpPr>
            <a:spLocks xmlns:a="http://schemas.openxmlformats.org/drawingml/2006/main" noGrp="1"/>
          </p:cNvSpPr>
          <p:nvPr/>
        </p:nvSpPr>
        <p:spPr>
          <a:xfrm xmlns:a="http://schemas.openxmlformats.org/drawingml/2006/main">
            <a:off x="7662672" y="3429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202536"/>
                </a:solidFill>
                <a:latin typeface="Calibri"/>
                <a:ea typeface="Calibri"/>
                <a:cs typeface="Calibri"/>
              </a:rPr>
              <a:t>Aggregation theo ngành, theo quý; tính tốc độ tăng và cơ cấu</a:t>
            </a:r>
            <a:endParaRPr sz="1050"/>
          </a:p>
        </p:txBody>
      </p:sp>
      <p:sp>
        <p:nvSpPr>
          <p:cNvPr id="27" name="Shape 25">
            <a:extLst xmlns:a="http://schemas.openxmlformats.org/drawingml/2006/main">
              <a:ext uri="{FF2B5EF4-FFF2-40B4-BE49-F238E27FC236}">
                <a16:creationId xmlns:a16="http://schemas.microsoft.com/office/drawing/2014/main" id="{A0387E8B-6708-412B-8FBD-5E00CE1C1B61}"/>
              </a:ext>
            </a:extLst>
          </p:cNvPr>
          <p:cNvSpPr>
            <a:spLocks xmlns:a="http://schemas.openxmlformats.org/drawingml/2006/main" noGrp="1"/>
          </p:cNvSpPr>
          <p:nvPr/>
        </p:nvSpPr>
        <p:spPr>
          <a:xfrm xmlns:a="http://schemas.openxmlformats.org/drawingml/2006/main">
            <a:off x="9628632" y="3200400"/>
            <a:ext cx="128016" cy="256032"/>
          </a:xfrm>
          <a:prstGeom xmlns:a="http://schemas.openxmlformats.org/drawingml/2006/main" prst="rightArrow">
            <a:avLst/>
          </a:prstGeom>
          <a:solidFill xmlns:a="http://schemas.openxmlformats.org/drawingml/2006/main">
            <a:srgbClr val="C9A227"/>
          </a:solidFill>
        </p:spPr>
      </p:sp>
      <p:sp>
        <p:nvSpPr>
          <p:cNvPr id="28" name="Shape 26">
            <a:extLst xmlns:a="http://schemas.openxmlformats.org/drawingml/2006/main">
              <a:ext uri="{FF2B5EF4-FFF2-40B4-BE49-F238E27FC236}">
                <a16:creationId xmlns:a16="http://schemas.microsoft.com/office/drawing/2014/main" id="{1C72E516-276C-4C1F-A6A6-7C9D4B462C85}"/>
              </a:ext>
            </a:extLst>
          </p:cNvPr>
          <p:cNvSpPr>
            <a:spLocks xmlns:a="http://schemas.openxmlformats.org/drawingml/2006/main" noGrp="1"/>
          </p:cNvSpPr>
          <p:nvPr/>
        </p:nvSpPr>
        <p:spPr>
          <a:xfrm xmlns:a="http://schemas.openxmlformats.org/drawingml/2006/main">
            <a:off x="9784080" y="2011680"/>
            <a:ext cx="2103120" cy="2651760"/>
          </a:xfrm>
          <a:prstGeom xmlns:a="http://schemas.openxmlformats.org/drawingml/2006/main" prst="roundRect">
            <a:avLst>
              <a:gd name="adj" fmla="val 4348"/>
            </a:avLst>
          </a:prstGeom>
          <a:solidFill xmlns:a="http://schemas.openxmlformats.org/drawingml/2006/main">
            <a:srgbClr val="F2F5FB"/>
          </a:solidFill>
          <a:ln xmlns:a="http://schemas.openxmlformats.org/drawingml/2006/main" w="12700">
            <a:solidFill>
              <a:srgbClr val="D8E0F0"/>
            </a:solidFill>
            <a:prstDash val="solid"/>
          </a:ln>
        </p:spPr>
      </p:sp>
      <p:sp>
        <p:nvSpPr>
          <p:cNvPr id="29" name="Shape 27">
            <a:extLst xmlns:a="http://schemas.openxmlformats.org/drawingml/2006/main">
              <a:ext uri="{FF2B5EF4-FFF2-40B4-BE49-F238E27FC236}">
                <a16:creationId xmlns:a16="http://schemas.microsoft.com/office/drawing/2014/main" id="{3946BBA4-0016-4A9E-A605-A695293D9623}"/>
              </a:ext>
            </a:extLst>
          </p:cNvPr>
          <p:cNvSpPr>
            <a:spLocks xmlns:a="http://schemas.openxmlformats.org/drawingml/2006/main" noGrp="1"/>
          </p:cNvSpPr>
          <p:nvPr/>
        </p:nvSpPr>
        <p:spPr>
          <a:xfrm xmlns:a="http://schemas.openxmlformats.org/drawingml/2006/main">
            <a:off x="10561320" y="2194560"/>
            <a:ext cx="548640" cy="548640"/>
          </a:xfrm>
          <a:prstGeom xmlns:a="http://schemas.openxmlformats.org/drawingml/2006/main" prst="ellipse">
            <a:avLst/>
          </a:prstGeom>
          <a:solidFill xmlns:a="http://schemas.openxmlformats.org/drawingml/2006/main">
            <a:srgbClr val="1E2761"/>
          </a:solidFill>
        </p:spPr>
      </p:sp>
      <p:sp>
        <p:nvSpPr>
          <p:cNvPr id="30" name="Text 28">
            <a:extLst xmlns:a="http://schemas.openxmlformats.org/drawingml/2006/main">
              <a:ext uri="{FF2B5EF4-FFF2-40B4-BE49-F238E27FC236}">
                <a16:creationId xmlns:a16="http://schemas.microsoft.com/office/drawing/2014/main" id="{4937EDD2-A2E7-43CE-83D2-728056544593}"/>
              </a:ext>
            </a:extLst>
          </p:cNvPr>
          <p:cNvSpPr>
            <a:spLocks xmlns:a="http://schemas.openxmlformats.org/drawingml/2006/main" noGrp="1"/>
          </p:cNvSpPr>
          <p:nvPr/>
        </p:nvSpPr>
        <p:spPr>
          <a:xfrm xmlns:a="http://schemas.openxmlformats.org/drawingml/2006/main">
            <a:off x="10561320" y="21945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C9A227"/>
                </a:solidFill>
                <a:latin typeface="Calibri"/>
                <a:ea typeface="Calibri"/>
                <a:cs typeface="Calibri"/>
              </a:rPr>
              <a:t>5</a:t>
            </a:r>
            <a:endParaRPr sz="1700"/>
          </a:p>
        </p:txBody>
      </p:sp>
      <p:sp>
        <p:nvSpPr>
          <p:cNvPr id="31" name="Text 29">
            <a:extLst xmlns:a="http://schemas.openxmlformats.org/drawingml/2006/main">
              <a:ext uri="{FF2B5EF4-FFF2-40B4-BE49-F238E27FC236}">
                <a16:creationId xmlns:a16="http://schemas.microsoft.com/office/drawing/2014/main" id="{71EAE2A9-F82E-41C5-A2FB-2BC032ACEFF9}"/>
              </a:ext>
            </a:extLst>
          </p:cNvPr>
          <p:cNvSpPr>
            <a:spLocks xmlns:a="http://schemas.openxmlformats.org/drawingml/2006/main" noGrp="1"/>
          </p:cNvSpPr>
          <p:nvPr/>
        </p:nvSpPr>
        <p:spPr>
          <a:xfrm xmlns:a="http://schemas.openxmlformats.org/drawingml/2006/main">
            <a:off x="9948672" y="2880360"/>
            <a:ext cx="1783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E2761"/>
                </a:solidFill>
                <a:latin typeface="Calibri"/>
                <a:ea typeface="Calibri"/>
                <a:cs typeface="Calibri"/>
              </a:rPr>
              <a:t>Đối soát &amp; công bố</a:t>
            </a:r>
            <a:endParaRPr sz="1300"/>
          </a:p>
        </p:txBody>
      </p:sp>
      <p:sp>
        <p:nvSpPr>
          <p:cNvPr id="32" name="Text 30">
            <a:extLst xmlns:a="http://schemas.openxmlformats.org/drawingml/2006/main">
              <a:ext uri="{FF2B5EF4-FFF2-40B4-BE49-F238E27FC236}">
                <a16:creationId xmlns:a16="http://schemas.microsoft.com/office/drawing/2014/main" id="{184416D9-36FF-4064-9C7E-CA06F5B0F581}"/>
              </a:ext>
            </a:extLst>
          </p:cNvPr>
          <p:cNvSpPr>
            <a:spLocks xmlns:a="http://schemas.openxmlformats.org/drawingml/2006/main" noGrp="1"/>
          </p:cNvSpPr>
          <p:nvPr/>
        </p:nvSpPr>
        <p:spPr>
          <a:xfrm xmlns:a="http://schemas.openxmlformats.org/drawingml/2006/main">
            <a:off x="9948672" y="3429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202536"/>
                </a:solidFill>
                <a:latin typeface="Calibri"/>
                <a:ea typeface="Calibri"/>
                <a:cs typeface="Calibri"/>
              </a:rPr>
              <a:t>So sánh 3 phương pháp; đối chiếu số Thống kê công bố; chia sẻ qua dịch vụ dữ liệu</a:t>
            </a:r>
            <a:endParaRPr sz="1050"/>
          </a:p>
        </p:txBody>
      </p:sp>
      <p:sp>
        <p:nvSpPr>
          <p:cNvPr id="33" name="Text 31">
            <a:extLst xmlns:a="http://schemas.openxmlformats.org/drawingml/2006/main">
              <a:ext uri="{FF2B5EF4-FFF2-40B4-BE49-F238E27FC236}">
                <a16:creationId xmlns:a16="http://schemas.microsoft.com/office/drawing/2014/main" id="{3E3C4427-4116-446D-9755-20EE1869DF33}"/>
              </a:ext>
            </a:extLst>
          </p:cNvPr>
          <p:cNvSpPr>
            <a:spLocks xmlns:a="http://schemas.openxmlformats.org/drawingml/2006/main" noGrp="1"/>
          </p:cNvSpPr>
          <p:nvPr/>
        </p:nvSpPr>
        <p:spPr>
          <a:xfrm xmlns:a="http://schemas.openxmlformats.org/drawingml/2006/main">
            <a:off x="640080" y="4983480"/>
            <a:ext cx="111556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377"/>
                </a:solidFill>
                <a:latin typeface="Calibri"/>
                <a:ea typeface="Calibri"/>
                <a:cs typeface="Calibri"/>
              </a:rPr>
              <a:t>Tương ứng các nhóm dịch vụ trong slide "Nền tảng tổng hợp và phân tích dữ liệu": xử lý dữ liệu (01), khai phá (02), lưu trữ đã xử lý (03), chia sẻ (04), quản trị (05).</a:t>
            </a:r>
            <a:endParaRPr sz="1200"/>
          </a:p>
        </p:txBody>
      </p:sp>
    </p:spTree>
    <p:extLst>
      <p:ext uri="{BB962C8B-B14F-4D97-AF65-F5344CB8AC3E}">
        <p14:creationId xmlns:p14="http://schemas.microsoft.com/office/powerpoint/2010/main" val="155618426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7E2A0CD-F8BC-4B4F-82C9-EDCCFC5F6A0E}"/>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Minh hoạ: kết quả tính được khi có đủ dữ liệu</a:t>
            </a:r>
            <a:endParaRPr sz="3100"/>
          </a:p>
        </p:txBody>
      </p:sp>
      <p:sp>
        <p:nvSpPr>
          <p:cNvPr id="3" name="Text 1">
            <a:extLst xmlns:a="http://schemas.openxmlformats.org/drawingml/2006/main">
              <a:ext uri="{FF2B5EF4-FFF2-40B4-BE49-F238E27FC236}">
                <a16:creationId xmlns:a16="http://schemas.microsoft.com/office/drawing/2014/main" id="{9F342445-246E-4FB3-B25F-A24EF1C4691A}"/>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Tốc độ tăng GRDP theo quý, giá so sánh (%) – nguồn: file dữ liệu Thống kê tỉnh</a:t>
            </a:r>
            <a:endParaRPr sz="1400"/>
          </a:p>
        </p:txBody>
      </p:sp>
      <p:graphicFrame>
        <p:nvGraphicFramePr>
          <p:cNvPr id="15" name="Chart 0"/>
          <p:cNvGraphicFramePr/>
          <p:nvPr/>
        </p:nvGraphicFramePr>
        <p:xfrm>
          <a:off xmlns:a="http://schemas.openxmlformats.org/drawingml/2006/main" x="640080" y="1691640"/>
          <a:ext xmlns:a="http://schemas.openxmlformats.org/drawingml/2006/main" cx="6766560" cy="4206240"/>
        </p:xfrm>
        <a:graphic xmlns:a="http://schemas.openxmlformats.org/drawingml/2006/main">
          <a:graphicData uri="http://schemas.openxmlformats.org/drawingml/2006/chart">
            <c:chart xmlns:r="http://schemas.openxmlformats.org/officeDocument/2006/relationships" xmlns:c="http://schemas.openxmlformats.org/drawingml/2006/chart" r:id="R92a952018b384ee7"/>
          </a:graphicData>
        </a:graphic>
      </p:graphicFrame>
      <p:sp>
        <p:nvSpPr>
          <p:cNvPr id="5" name="Shape 2">
            <a:extLst xmlns:a="http://schemas.openxmlformats.org/drawingml/2006/main">
              <a:ext uri="{FF2B5EF4-FFF2-40B4-BE49-F238E27FC236}">
                <a16:creationId xmlns:a16="http://schemas.microsoft.com/office/drawing/2014/main" id="{623D9F72-33AA-402F-9152-8E91F781F344}"/>
              </a:ext>
            </a:extLst>
          </p:cNvPr>
          <p:cNvSpPr>
            <a:spLocks xmlns:a="http://schemas.openxmlformats.org/drawingml/2006/main" noGrp="1"/>
          </p:cNvSpPr>
          <p:nvPr/>
        </p:nvSpPr>
        <p:spPr>
          <a:xfrm xmlns:a="http://schemas.openxmlformats.org/drawingml/2006/main">
            <a:off x="7680960" y="1691640"/>
            <a:ext cx="4114800" cy="1965960"/>
          </a:xfrm>
          <a:prstGeom xmlns:a="http://schemas.openxmlformats.org/drawingml/2006/main" prst="roundRect">
            <a:avLst>
              <a:gd name="adj" fmla="val 3721"/>
            </a:avLst>
          </a:prstGeom>
          <a:solidFill xmlns:a="http://schemas.openxmlformats.org/drawingml/2006/main">
            <a:srgbClr val="EEF3FF"/>
          </a:solidFill>
          <a:ln xmlns:a="http://schemas.openxmlformats.org/drawingml/2006/main" w="9525">
            <a:solidFill>
              <a:srgbClr val="E1E7F2"/>
            </a:solidFill>
            <a:prstDash val="solid"/>
          </a:ln>
        </p:spPr>
      </p:sp>
      <p:sp>
        <p:nvSpPr>
          <p:cNvPr id="6" name="Text 3">
            <a:extLst xmlns:a="http://schemas.openxmlformats.org/drawingml/2006/main">
              <a:ext uri="{FF2B5EF4-FFF2-40B4-BE49-F238E27FC236}">
                <a16:creationId xmlns:a16="http://schemas.microsoft.com/office/drawing/2014/main" id="{960C5F4E-FD85-45F4-87C8-292D58F04285}"/>
              </a:ext>
            </a:extLst>
          </p:cNvPr>
          <p:cNvSpPr>
            <a:spLocks xmlns:a="http://schemas.openxmlformats.org/drawingml/2006/main" noGrp="1"/>
          </p:cNvSpPr>
          <p:nvPr/>
        </p:nvSpPr>
        <p:spPr>
          <a:xfrm xmlns:a="http://schemas.openxmlformats.org/drawingml/2006/main">
            <a:off x="7955280" y="1874520"/>
            <a:ext cx="3566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a:solidFill>
                  <a:srgbClr val="1E2761"/>
                </a:solidFill>
                <a:latin typeface="Cambria"/>
                <a:ea typeface="Cambria"/>
                <a:cs typeface="Cambria"/>
              </a:rPr>
              <a:t>209.342</a:t>
            </a:r>
            <a:endParaRPr sz="3600"/>
          </a:p>
        </p:txBody>
      </p:sp>
      <p:sp>
        <p:nvSpPr>
          <p:cNvPr id="7" name="Text 4">
            <a:extLst xmlns:a="http://schemas.openxmlformats.org/drawingml/2006/main">
              <a:ext uri="{FF2B5EF4-FFF2-40B4-BE49-F238E27FC236}">
                <a16:creationId xmlns:a16="http://schemas.microsoft.com/office/drawing/2014/main" id="{1B8956DC-5C58-44CE-8111-0D55FC15BA8B}"/>
              </a:ext>
            </a:extLst>
          </p:cNvPr>
          <p:cNvSpPr>
            <a:spLocks xmlns:a="http://schemas.openxmlformats.org/drawingml/2006/main" noGrp="1"/>
          </p:cNvSpPr>
          <p:nvPr/>
        </p:nvSpPr>
        <p:spPr>
          <a:xfrm xmlns:a="http://schemas.openxmlformats.org/drawingml/2006/main">
            <a:off x="7955280" y="2606040"/>
            <a:ext cx="3566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202536"/>
                </a:solidFill>
                <a:latin typeface="Calibri"/>
                <a:ea typeface="Calibri"/>
                <a:cs typeface="Calibri"/>
              </a:rPr>
              <a:t>tỷ đồng – quy mô GRDP năm 2025 theo giá hiện hành (cộng 4 quý)</a:t>
            </a:r>
            <a:endParaRPr sz="1200"/>
          </a:p>
        </p:txBody>
      </p:sp>
      <p:sp>
        <p:nvSpPr>
          <p:cNvPr id="8" name="Shape 5">
            <a:extLst xmlns:a="http://schemas.openxmlformats.org/drawingml/2006/main">
              <a:ext uri="{FF2B5EF4-FFF2-40B4-BE49-F238E27FC236}">
                <a16:creationId xmlns:a16="http://schemas.microsoft.com/office/drawing/2014/main" id="{DA3CA992-F7C9-46BF-BCAE-221EFEB3A951}"/>
              </a:ext>
            </a:extLst>
          </p:cNvPr>
          <p:cNvSpPr>
            <a:spLocks xmlns:a="http://schemas.openxmlformats.org/drawingml/2006/main" noGrp="1"/>
          </p:cNvSpPr>
          <p:nvPr/>
        </p:nvSpPr>
        <p:spPr>
          <a:xfrm xmlns:a="http://schemas.openxmlformats.org/drawingml/2006/main">
            <a:off x="7680960" y="3931920"/>
            <a:ext cx="4114800" cy="1965960"/>
          </a:xfrm>
          <a:prstGeom xmlns:a="http://schemas.openxmlformats.org/drawingml/2006/main" prst="roundRect">
            <a:avLst>
              <a:gd name="adj" fmla="val 3721"/>
            </a:avLst>
          </a:prstGeom>
          <a:solidFill xmlns:a="http://schemas.openxmlformats.org/drawingml/2006/main">
            <a:srgbClr val="FFF6DC"/>
          </a:solidFill>
          <a:ln xmlns:a="http://schemas.openxmlformats.org/drawingml/2006/main" w="9525">
            <a:solidFill>
              <a:srgbClr val="E1E7F2"/>
            </a:solidFill>
            <a:prstDash val="solid"/>
          </a:ln>
        </p:spPr>
      </p:sp>
      <p:sp>
        <p:nvSpPr>
          <p:cNvPr id="9" name="Text 6">
            <a:extLst xmlns:a="http://schemas.openxmlformats.org/drawingml/2006/main">
              <a:ext uri="{FF2B5EF4-FFF2-40B4-BE49-F238E27FC236}">
                <a16:creationId xmlns:a16="http://schemas.microsoft.com/office/drawing/2014/main" id="{950D3D7A-7CA7-4521-934A-95A471A040BF}"/>
              </a:ext>
            </a:extLst>
          </p:cNvPr>
          <p:cNvSpPr>
            <a:spLocks xmlns:a="http://schemas.openxmlformats.org/drawingml/2006/main" noGrp="1"/>
          </p:cNvSpPr>
          <p:nvPr/>
        </p:nvSpPr>
        <p:spPr>
          <a:xfrm xmlns:a="http://schemas.openxmlformats.org/drawingml/2006/main">
            <a:off x="7955280" y="406908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8A6D00"/>
                </a:solidFill>
                <a:latin typeface="Calibri"/>
                <a:ea typeface="Calibri"/>
                <a:cs typeface="Calibri"/>
              </a:rPr>
              <a:t>Cơ cấu Q2/2026 (giá hiện hành)</a:t>
            </a:r>
            <a:endParaRPr sz="1200"/>
          </a:p>
        </p:txBody>
      </p:sp>
      <p:sp>
        <p:nvSpPr>
          <p:cNvPr id="10" name="Text 7">
            <a:extLst xmlns:a="http://schemas.openxmlformats.org/drawingml/2006/main">
              <a:ext uri="{FF2B5EF4-FFF2-40B4-BE49-F238E27FC236}">
                <a16:creationId xmlns:a16="http://schemas.microsoft.com/office/drawing/2014/main" id="{E4471E9E-6E5E-4633-985C-DE09074BADB7}"/>
              </a:ext>
            </a:extLst>
          </p:cNvPr>
          <p:cNvSpPr>
            <a:spLocks xmlns:a="http://schemas.openxmlformats.org/drawingml/2006/main" noGrp="1"/>
          </p:cNvSpPr>
          <p:nvPr/>
        </p:nvSpPr>
        <p:spPr>
          <a:xfrm xmlns:a="http://schemas.openxmlformats.org/drawingml/2006/main">
            <a:off x="8001000" y="4434840"/>
            <a:ext cx="352044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600"/>
              </a:spcAft>
              <a:buSzPct val="100000"/>
              <a:buChar char="•"/>
            </a:pPr>
            <a:r>
              <a:rPr sz="1150">
                <a:solidFill>
                  <a:srgbClr val="202536"/>
                </a:solidFill>
                <a:latin typeface="Calibri"/>
                <a:ea typeface="Calibri"/>
                <a:cs typeface="Calibri"/>
              </a:rPr>
              <a:t>Dịch vụ: 41,13%</a:t>
            </a:r>
            <a:endParaRPr sz="1150"/>
          </a:p>
          <a:p xmlns:a="http://schemas.openxmlformats.org/drawingml/2006/main">
            <a:pPr marL="342900" indent="-342900">
              <a:spcAft>
                <a:spcPts val="600"/>
              </a:spcAft>
              <a:buSzPct val="100000"/>
              <a:buChar char="•"/>
            </a:pPr>
            <a:r>
              <a:rPr sz="1150">
                <a:solidFill>
                  <a:srgbClr val="202536"/>
                </a:solidFill>
                <a:latin typeface="Calibri"/>
                <a:ea typeface="Calibri"/>
                <a:cs typeface="Calibri"/>
              </a:rPr>
              <a:t>Công nghiệp – xây dựng: 38,49%</a:t>
            </a:r>
            <a:endParaRPr sz="1150"/>
          </a:p>
          <a:p xmlns:a="http://schemas.openxmlformats.org/drawingml/2006/main">
            <a:pPr marL="342900" indent="-342900">
              <a:spcAft>
                <a:spcPts val="600"/>
              </a:spcAft>
              <a:buSzPct val="100000"/>
              <a:buChar char="•"/>
            </a:pPr>
            <a:r>
              <a:rPr sz="1150">
                <a:solidFill>
                  <a:srgbClr val="202536"/>
                </a:solidFill>
                <a:latin typeface="Calibri"/>
                <a:ea typeface="Calibri"/>
                <a:cs typeface="Calibri"/>
              </a:rPr>
              <a:t>Nông, lâm, thuỷ sản: 13,03%</a:t>
            </a:r>
            <a:endParaRPr sz="1150"/>
          </a:p>
          <a:p xmlns:a="http://schemas.openxmlformats.org/drawingml/2006/main">
            <a:pPr marL="342900" indent="-342900">
              <a:buSzPct val="100000"/>
              <a:buChar char="•"/>
            </a:pPr>
            <a:r>
              <a:rPr sz="1150">
                <a:solidFill>
                  <a:srgbClr val="202536"/>
                </a:solidFill>
                <a:latin typeface="Calibri"/>
                <a:ea typeface="Calibri"/>
                <a:cs typeface="Calibri"/>
              </a:rPr>
              <a:t>Thuế sản phẩm trừ trợ cấp: 7,35%</a:t>
            </a:r>
            <a:endParaRPr sz="1150"/>
          </a:p>
        </p:txBody>
      </p:sp>
      <p:sp>
        <p:nvSpPr>
          <p:cNvPr id="11" name="Text 8">
            <a:extLst xmlns:a="http://schemas.openxmlformats.org/drawingml/2006/main">
              <a:ext uri="{FF2B5EF4-FFF2-40B4-BE49-F238E27FC236}">
                <a16:creationId xmlns:a16="http://schemas.microsoft.com/office/drawing/2014/main" id="{F0B59BC0-7F67-4F8E-9071-2A4359AD85F0}"/>
              </a:ext>
            </a:extLst>
          </p:cNvPr>
          <p:cNvSpPr>
            <a:spLocks xmlns:a="http://schemas.openxmlformats.org/drawingml/2006/main" noGrp="1"/>
          </p:cNvSpPr>
          <p:nvPr/>
        </p:nvSpPr>
        <p:spPr>
          <a:xfrm xmlns:a="http://schemas.openxmlformats.org/drawingml/2006/main">
            <a:off x="640080" y="635508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5A6377"/>
                </a:solidFill>
                <a:latin typeface="Calibri"/>
                <a:ea typeface="Calibri"/>
                <a:cs typeface="Calibri"/>
              </a:rPr>
              <a:t>Ghi chú: chuỗi 2025 theo giá so sánh 2010, chuỗi 2026 theo giá so sánh 2020 — cần hồi quy về cùng năm gốc trước khi so sánh.</a:t>
            </a:r>
            <a:endParaRPr sz="900"/>
          </a:p>
        </p:txBody>
      </p:sp>
    </p:spTree>
    <p:extLst>
      <p:ext uri="{BB962C8B-B14F-4D97-AF65-F5344CB8AC3E}">
        <p14:creationId xmlns:p14="http://schemas.microsoft.com/office/powerpoint/2010/main" val="194263347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78FB84-4E7C-462C-B444-793C5FE06639}"/>
              </a:ext>
            </a:extLst>
          </p:cNvPr>
          <p:cNvSpPr>
            <a:spLocks xmlns:a="http://schemas.openxmlformats.org/drawingml/2006/main" noGrp="1"/>
          </p:cNvSpPr>
          <p:nvPr/>
        </p:nvSpPr>
        <p:spPr>
          <a:xfrm xmlns:a="http://schemas.openxmlformats.org/drawingml/2006/main">
            <a:off x="640080" y="384048"/>
            <a:ext cx="1124712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100" b="1">
                <a:solidFill>
                  <a:srgbClr val="1E2761"/>
                </a:solidFill>
                <a:latin typeface="Cambria"/>
                <a:ea typeface="Cambria"/>
                <a:cs typeface="Cambria"/>
              </a:rPr>
              <a:t>Quy tắc kiểm soát chất lượng dữ liệu bắt buộc</a:t>
            </a:r>
            <a:endParaRPr sz="3100"/>
          </a:p>
        </p:txBody>
      </p:sp>
      <p:sp>
        <p:nvSpPr>
          <p:cNvPr id="3" name="Text 1">
            <a:extLst xmlns:a="http://schemas.openxmlformats.org/drawingml/2006/main">
              <a:ext uri="{FF2B5EF4-FFF2-40B4-BE49-F238E27FC236}">
                <a16:creationId xmlns:a16="http://schemas.microsoft.com/office/drawing/2014/main" id="{080A0E2C-E1CD-42D9-9592-8098D63004EB}"/>
              </a:ext>
            </a:extLst>
          </p:cNvPr>
          <p:cNvSpPr>
            <a:spLocks xmlns:a="http://schemas.openxmlformats.org/drawingml/2006/main" noGrp="1"/>
          </p:cNvSpPr>
          <p:nvPr/>
        </p:nvSpPr>
        <p:spPr>
          <a:xfrm xmlns:a="http://schemas.openxmlformats.org/drawingml/2006/main">
            <a:off x="640080" y="1133856"/>
            <a:ext cx="112471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5A6377"/>
                </a:solidFill>
                <a:latin typeface="Calibri"/>
                <a:ea typeface="Calibri"/>
                <a:cs typeface="Calibri"/>
              </a:rPr>
              <a:t>Cấu hình thành luật kiểm tra tự động ngay trên nền tảng, chặn dữ liệu lỗi từ đầu vào</a:t>
            </a:r>
            <a:endParaRPr sz="1400"/>
          </a:p>
        </p:txBody>
      </p:sp>
      <p:sp>
        <p:nvSpPr>
          <p:cNvPr id="4" name="Shape 2">
            <a:extLst xmlns:a="http://schemas.openxmlformats.org/drawingml/2006/main">
              <a:ext uri="{FF2B5EF4-FFF2-40B4-BE49-F238E27FC236}">
                <a16:creationId xmlns:a16="http://schemas.microsoft.com/office/drawing/2014/main" id="{CECC79E8-4AF9-499D-94E3-67DC079FEEE0}"/>
              </a:ext>
            </a:extLst>
          </p:cNvPr>
          <p:cNvSpPr>
            <a:spLocks xmlns:a="http://schemas.openxmlformats.org/drawingml/2006/main" noGrp="1"/>
          </p:cNvSpPr>
          <p:nvPr/>
        </p:nvSpPr>
        <p:spPr>
          <a:xfrm xmlns:a="http://schemas.openxmlformats.org/drawingml/2006/main">
            <a:off x="640080" y="1600200"/>
            <a:ext cx="11155680" cy="914400"/>
          </a:xfrm>
          <a:prstGeom xmlns:a="http://schemas.openxmlformats.org/drawingml/2006/main" prst="roundRect">
            <a:avLst>
              <a:gd name="adj" fmla="val 8000"/>
            </a:avLst>
          </a:prstGeom>
          <a:solidFill xmlns:a="http://schemas.openxmlformats.org/drawingml/2006/main">
            <a:srgbClr val="EEF3FF"/>
          </a:solidFill>
          <a:ln xmlns:a="http://schemas.openxmlformats.org/drawingml/2006/main" w="9525">
            <a:solidFill>
              <a:srgbClr val="E1E7F2"/>
            </a:solidFill>
            <a:prstDash val="solid"/>
          </a:ln>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18281b3111e04f39"/>
          <a:stretch xmlns:a="http://schemas.openxmlformats.org/drawingml/2006/main">
            <a:fillRect l="0" t="0" r="0" b="0"/>
          </a:stretch>
        </p:blipFill>
        <p:spPr>
          <a:xfrm xmlns:a="http://schemas.openxmlformats.org/drawingml/2006/main">
            <a:off x="1234440" y="1737360"/>
            <a:ext cx="4754880" cy="623182"/>
          </a:xfrm>
          <a:prstGeom xmlns:a="http://schemas.openxmlformats.org/drawingml/2006/main" prst="rect">
            <a:avLst/>
          </a:prstGeom>
        </p:spPr>
      </p:pic>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ad45afb6ff464224"/>
          <a:stretch xmlns:a="http://schemas.openxmlformats.org/drawingml/2006/main">
            <a:fillRect l="0" t="0" r="0" b="0"/>
          </a:stretch>
        </p:blipFill>
        <p:spPr>
          <a:xfrm xmlns:a="http://schemas.openxmlformats.org/drawingml/2006/main">
            <a:off x="6949440" y="1874520"/>
            <a:ext cx="3931920" cy="320711"/>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AF2694D5-F9A7-4C16-ACBC-D8CF5C92B4F4}"/>
              </a:ext>
            </a:extLst>
          </p:cNvPr>
          <p:cNvSpPr>
            <a:spLocks xmlns:a="http://schemas.openxmlformats.org/drawingml/2006/main" noGrp="1"/>
          </p:cNvSpPr>
          <p:nvPr/>
        </p:nvSpPr>
        <p:spPr>
          <a:xfrm xmlns:a="http://schemas.openxmlformats.org/drawingml/2006/main">
            <a:off x="640080" y="2697480"/>
            <a:ext cx="5394960" cy="109728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1E7F2"/>
            </a:solidFill>
            <a:prstDash val="solid"/>
          </a:ln>
        </p:spPr>
      </p:sp>
      <p:sp>
        <p:nvSpPr>
          <p:cNvPr id="8" name="Shape 4">
            <a:extLst xmlns:a="http://schemas.openxmlformats.org/drawingml/2006/main">
              <a:ext uri="{FF2B5EF4-FFF2-40B4-BE49-F238E27FC236}">
                <a16:creationId xmlns:a16="http://schemas.microsoft.com/office/drawing/2014/main" id="{B5FCDC6E-6A6D-4474-83A4-0CCD06B31888}"/>
              </a:ext>
            </a:extLst>
          </p:cNvPr>
          <p:cNvSpPr>
            <a:spLocks xmlns:a="http://schemas.openxmlformats.org/drawingml/2006/main" noGrp="1"/>
          </p:cNvSpPr>
          <p:nvPr/>
        </p:nvSpPr>
        <p:spPr>
          <a:xfrm xmlns:a="http://schemas.openxmlformats.org/drawingml/2006/main">
            <a:off x="868680" y="2880360"/>
            <a:ext cx="365760" cy="365760"/>
          </a:xfrm>
          <a:prstGeom xmlns:a="http://schemas.openxmlformats.org/drawingml/2006/main" prst="roundRect">
            <a:avLst>
              <a:gd name="adj" fmla="val 15000"/>
            </a:avLst>
          </a:prstGeom>
          <a:solidFill xmlns:a="http://schemas.openxmlformats.org/drawingml/2006/main">
            <a:srgbClr val="1C7293"/>
          </a:solidFill>
        </p:spPr>
      </p:sp>
      <p:sp>
        <p:nvSpPr>
          <p:cNvPr id="9" name="Text 5">
            <a:extLst xmlns:a="http://schemas.openxmlformats.org/drawingml/2006/main">
              <a:ext uri="{FF2B5EF4-FFF2-40B4-BE49-F238E27FC236}">
                <a16:creationId xmlns:a16="http://schemas.microsoft.com/office/drawing/2014/main" id="{CC0D7BDF-0549-42F4-9041-69596E204658}"/>
              </a:ext>
            </a:extLst>
          </p:cNvPr>
          <p:cNvSpPr>
            <a:spLocks xmlns:a="http://schemas.openxmlformats.org/drawingml/2006/main" noGrp="1"/>
          </p:cNvSpPr>
          <p:nvPr/>
        </p:nvSpPr>
        <p:spPr>
          <a:xfrm xmlns:a="http://schemas.openxmlformats.org/drawingml/2006/main">
            <a:off x="868680" y="288036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0" name="Text 6">
            <a:extLst xmlns:a="http://schemas.openxmlformats.org/drawingml/2006/main">
              <a:ext uri="{FF2B5EF4-FFF2-40B4-BE49-F238E27FC236}">
                <a16:creationId xmlns:a16="http://schemas.microsoft.com/office/drawing/2014/main" id="{88020385-6646-4FF3-B080-5149E743BE29}"/>
              </a:ext>
            </a:extLst>
          </p:cNvPr>
          <p:cNvSpPr>
            <a:spLocks xmlns:a="http://schemas.openxmlformats.org/drawingml/2006/main" noGrp="1"/>
          </p:cNvSpPr>
          <p:nvPr/>
        </p:nvSpPr>
        <p:spPr>
          <a:xfrm xmlns:a="http://schemas.openxmlformats.org/drawingml/2006/main">
            <a:off x="1371600" y="284378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Kiểm tra cộng dồn</a:t>
            </a:r>
            <a:endParaRPr sz="1300"/>
          </a:p>
        </p:txBody>
      </p:sp>
      <p:sp>
        <p:nvSpPr>
          <p:cNvPr id="11" name="Text 7">
            <a:extLst xmlns:a="http://schemas.openxmlformats.org/drawingml/2006/main">
              <a:ext uri="{FF2B5EF4-FFF2-40B4-BE49-F238E27FC236}">
                <a16:creationId xmlns:a16="http://schemas.microsoft.com/office/drawing/2014/main" id="{85B0F8E5-5E8A-48F5-9F7A-8CCD9CCA1843}"/>
              </a:ext>
            </a:extLst>
          </p:cNvPr>
          <p:cNvSpPr>
            <a:spLocks xmlns:a="http://schemas.openxmlformats.org/drawingml/2006/main" noGrp="1"/>
          </p:cNvSpPr>
          <p:nvPr/>
        </p:nvSpPr>
        <p:spPr>
          <a:xfrm xmlns:a="http://schemas.openxmlformats.org/drawingml/2006/main">
            <a:off x="1371600" y="3227832"/>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Tổng VA các ngành cộng thuế trừ trợ cấp phải khớp GRDP tổng, sai số &lt; 0,01%</a:t>
            </a:r>
            <a:endParaRPr sz="1100"/>
          </a:p>
        </p:txBody>
      </p:sp>
      <p:sp>
        <p:nvSpPr>
          <p:cNvPr id="12" name="Shape 8">
            <a:extLst xmlns:a="http://schemas.openxmlformats.org/drawingml/2006/main">
              <a:ext uri="{FF2B5EF4-FFF2-40B4-BE49-F238E27FC236}">
                <a16:creationId xmlns:a16="http://schemas.microsoft.com/office/drawing/2014/main" id="{913C16B5-3CF4-4F2E-B100-124ADFAED604}"/>
              </a:ext>
            </a:extLst>
          </p:cNvPr>
          <p:cNvSpPr>
            <a:spLocks xmlns:a="http://schemas.openxmlformats.org/drawingml/2006/main" noGrp="1"/>
          </p:cNvSpPr>
          <p:nvPr/>
        </p:nvSpPr>
        <p:spPr>
          <a:xfrm xmlns:a="http://schemas.openxmlformats.org/drawingml/2006/main">
            <a:off x="6309360" y="2697480"/>
            <a:ext cx="5394960" cy="109728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1E7F2"/>
            </a:solidFill>
            <a:prstDash val="solid"/>
          </a:ln>
        </p:spPr>
      </p:sp>
      <p:sp>
        <p:nvSpPr>
          <p:cNvPr id="13" name="Shape 9">
            <a:extLst xmlns:a="http://schemas.openxmlformats.org/drawingml/2006/main">
              <a:ext uri="{FF2B5EF4-FFF2-40B4-BE49-F238E27FC236}">
                <a16:creationId xmlns:a16="http://schemas.microsoft.com/office/drawing/2014/main" id="{7ACD5582-5DD4-40AE-A8CC-52A8D651CFFF}"/>
              </a:ext>
            </a:extLst>
          </p:cNvPr>
          <p:cNvSpPr>
            <a:spLocks xmlns:a="http://schemas.openxmlformats.org/drawingml/2006/main" noGrp="1"/>
          </p:cNvSpPr>
          <p:nvPr/>
        </p:nvSpPr>
        <p:spPr>
          <a:xfrm xmlns:a="http://schemas.openxmlformats.org/drawingml/2006/main">
            <a:off x="6537960" y="2880360"/>
            <a:ext cx="365760" cy="365760"/>
          </a:xfrm>
          <a:prstGeom xmlns:a="http://schemas.openxmlformats.org/drawingml/2006/main" prst="roundRect">
            <a:avLst>
              <a:gd name="adj" fmla="val 15000"/>
            </a:avLst>
          </a:prstGeom>
          <a:solidFill xmlns:a="http://schemas.openxmlformats.org/drawingml/2006/main">
            <a:srgbClr val="1C7293"/>
          </a:solidFill>
        </p:spPr>
      </p:sp>
      <p:sp>
        <p:nvSpPr>
          <p:cNvPr id="14" name="Text 10">
            <a:extLst xmlns:a="http://schemas.openxmlformats.org/drawingml/2006/main">
              <a:ext uri="{FF2B5EF4-FFF2-40B4-BE49-F238E27FC236}">
                <a16:creationId xmlns:a16="http://schemas.microsoft.com/office/drawing/2014/main" id="{019EE092-ABDD-439D-86FE-D52778786643}"/>
              </a:ext>
            </a:extLst>
          </p:cNvPr>
          <p:cNvSpPr>
            <a:spLocks xmlns:a="http://schemas.openxmlformats.org/drawingml/2006/main" noGrp="1"/>
          </p:cNvSpPr>
          <p:nvPr/>
        </p:nvSpPr>
        <p:spPr>
          <a:xfrm xmlns:a="http://schemas.openxmlformats.org/drawingml/2006/main">
            <a:off x="6537960" y="288036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5" name="Text 11">
            <a:extLst xmlns:a="http://schemas.openxmlformats.org/drawingml/2006/main">
              <a:ext uri="{FF2B5EF4-FFF2-40B4-BE49-F238E27FC236}">
                <a16:creationId xmlns:a16="http://schemas.microsoft.com/office/drawing/2014/main" id="{10CB94D4-3CCB-40C8-8A19-C0250B36DB2C}"/>
              </a:ext>
            </a:extLst>
          </p:cNvPr>
          <p:cNvSpPr>
            <a:spLocks xmlns:a="http://schemas.openxmlformats.org/drawingml/2006/main" noGrp="1"/>
          </p:cNvSpPr>
          <p:nvPr/>
        </p:nvSpPr>
        <p:spPr>
          <a:xfrm xmlns:a="http://schemas.openxmlformats.org/drawingml/2006/main">
            <a:off x="7040880" y="284378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Kiểm tra phân cấp</a:t>
            </a:r>
            <a:endParaRPr sz="1300"/>
          </a:p>
        </p:txBody>
      </p:sp>
      <p:sp>
        <p:nvSpPr>
          <p:cNvPr id="16" name="Text 12">
            <a:extLst xmlns:a="http://schemas.openxmlformats.org/drawingml/2006/main">
              <a:ext uri="{FF2B5EF4-FFF2-40B4-BE49-F238E27FC236}">
                <a16:creationId xmlns:a16="http://schemas.microsoft.com/office/drawing/2014/main" id="{658391BA-8A70-4AE1-9614-3ADB5E910588}"/>
              </a:ext>
            </a:extLst>
          </p:cNvPr>
          <p:cNvSpPr>
            <a:spLocks xmlns:a="http://schemas.openxmlformats.org/drawingml/2006/main" noGrp="1"/>
          </p:cNvSpPr>
          <p:nvPr/>
        </p:nvSpPr>
        <p:spPr>
          <a:xfrm xmlns:a="http://schemas.openxmlformats.org/drawingml/2006/main">
            <a:off x="7040880" y="3227832"/>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Ngành cấp 2 phải cộng đúng bằng ngành cấp 1; mã ngành không được trùng cấp</a:t>
            </a:r>
            <a:endParaRPr sz="1100"/>
          </a:p>
        </p:txBody>
      </p:sp>
      <p:sp>
        <p:nvSpPr>
          <p:cNvPr id="17" name="Shape 13">
            <a:extLst xmlns:a="http://schemas.openxmlformats.org/drawingml/2006/main">
              <a:ext uri="{FF2B5EF4-FFF2-40B4-BE49-F238E27FC236}">
                <a16:creationId xmlns:a16="http://schemas.microsoft.com/office/drawing/2014/main" id="{ED168EF6-E3D3-4E32-AAB4-F99FF06EF946}"/>
              </a:ext>
            </a:extLst>
          </p:cNvPr>
          <p:cNvSpPr>
            <a:spLocks xmlns:a="http://schemas.openxmlformats.org/drawingml/2006/main" noGrp="1"/>
          </p:cNvSpPr>
          <p:nvPr/>
        </p:nvSpPr>
        <p:spPr>
          <a:xfrm xmlns:a="http://schemas.openxmlformats.org/drawingml/2006/main">
            <a:off x="640080" y="3931920"/>
            <a:ext cx="5394960" cy="109728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1E7F2"/>
            </a:solidFill>
            <a:prstDash val="solid"/>
          </a:ln>
        </p:spPr>
      </p:sp>
      <p:sp>
        <p:nvSpPr>
          <p:cNvPr id="18" name="Shape 14">
            <a:extLst xmlns:a="http://schemas.openxmlformats.org/drawingml/2006/main">
              <a:ext uri="{FF2B5EF4-FFF2-40B4-BE49-F238E27FC236}">
                <a16:creationId xmlns:a16="http://schemas.microsoft.com/office/drawing/2014/main" id="{0194F331-B3A2-4F2E-9E68-A3AB113778A3}"/>
              </a:ext>
            </a:extLst>
          </p:cNvPr>
          <p:cNvSpPr>
            <a:spLocks xmlns:a="http://schemas.openxmlformats.org/drawingml/2006/main" noGrp="1"/>
          </p:cNvSpPr>
          <p:nvPr/>
        </p:nvSpPr>
        <p:spPr>
          <a:xfrm xmlns:a="http://schemas.openxmlformats.org/drawingml/2006/main">
            <a:off x="868680" y="4114800"/>
            <a:ext cx="365760" cy="365760"/>
          </a:xfrm>
          <a:prstGeom xmlns:a="http://schemas.openxmlformats.org/drawingml/2006/main" prst="roundRect">
            <a:avLst>
              <a:gd name="adj" fmla="val 15000"/>
            </a:avLst>
          </a:prstGeom>
          <a:solidFill xmlns:a="http://schemas.openxmlformats.org/drawingml/2006/main">
            <a:srgbClr val="1C7293"/>
          </a:solidFill>
        </p:spPr>
      </p:sp>
      <p:sp>
        <p:nvSpPr>
          <p:cNvPr id="19" name="Text 15">
            <a:extLst xmlns:a="http://schemas.openxmlformats.org/drawingml/2006/main">
              <a:ext uri="{FF2B5EF4-FFF2-40B4-BE49-F238E27FC236}">
                <a16:creationId xmlns:a16="http://schemas.microsoft.com/office/drawing/2014/main" id="{7578F6F5-3F6C-424F-AF77-1B9786E64795}"/>
              </a:ext>
            </a:extLst>
          </p:cNvPr>
          <p:cNvSpPr>
            <a:spLocks xmlns:a="http://schemas.openxmlformats.org/drawingml/2006/main" noGrp="1"/>
          </p:cNvSpPr>
          <p:nvPr/>
        </p:nvSpPr>
        <p:spPr>
          <a:xfrm xmlns:a="http://schemas.openxmlformats.org/drawingml/2006/main">
            <a:off x="868680" y="411480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0" name="Text 16">
            <a:extLst xmlns:a="http://schemas.openxmlformats.org/drawingml/2006/main">
              <a:ext uri="{FF2B5EF4-FFF2-40B4-BE49-F238E27FC236}">
                <a16:creationId xmlns:a16="http://schemas.microsoft.com/office/drawing/2014/main" id="{1D144A1C-EC76-4B93-87BF-7D110447CF8C}"/>
              </a:ext>
            </a:extLst>
          </p:cNvPr>
          <p:cNvSpPr>
            <a:spLocks xmlns:a="http://schemas.openxmlformats.org/drawingml/2006/main" noGrp="1"/>
          </p:cNvSpPr>
          <p:nvPr/>
        </p:nvSpPr>
        <p:spPr>
          <a:xfrm xmlns:a="http://schemas.openxmlformats.org/drawingml/2006/main">
            <a:off x="1371600" y="407822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Kiểm tra nhất quán giá</a:t>
            </a:r>
            <a:endParaRPr sz="1300"/>
          </a:p>
        </p:txBody>
      </p:sp>
      <p:sp>
        <p:nvSpPr>
          <p:cNvPr id="21" name="Text 17">
            <a:extLst xmlns:a="http://schemas.openxmlformats.org/drawingml/2006/main">
              <a:ext uri="{FF2B5EF4-FFF2-40B4-BE49-F238E27FC236}">
                <a16:creationId xmlns:a16="http://schemas.microsoft.com/office/drawing/2014/main" id="{2E79D42C-6618-49F2-9453-2E1D7EFFA90A}"/>
              </a:ext>
            </a:extLst>
          </p:cNvPr>
          <p:cNvSpPr>
            <a:spLocks xmlns:a="http://schemas.openxmlformats.org/drawingml/2006/main" noGrp="1"/>
          </p:cNvSpPr>
          <p:nvPr/>
        </p:nvSpPr>
        <p:spPr>
          <a:xfrm xmlns:a="http://schemas.openxmlformats.org/drawingml/2006/main">
            <a:off x="1371600" y="4462272"/>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Mỗi bản ghi phải có đủ cặp giá hiện hành – giá so sánh cùng năm gốc</a:t>
            </a:r>
            <a:endParaRPr sz="1100"/>
          </a:p>
        </p:txBody>
      </p:sp>
      <p:sp>
        <p:nvSpPr>
          <p:cNvPr id="22" name="Shape 18">
            <a:extLst xmlns:a="http://schemas.openxmlformats.org/drawingml/2006/main">
              <a:ext uri="{FF2B5EF4-FFF2-40B4-BE49-F238E27FC236}">
                <a16:creationId xmlns:a16="http://schemas.microsoft.com/office/drawing/2014/main" id="{23EC77FD-747E-42A1-B249-2007B50F9F86}"/>
              </a:ext>
            </a:extLst>
          </p:cNvPr>
          <p:cNvSpPr>
            <a:spLocks xmlns:a="http://schemas.openxmlformats.org/drawingml/2006/main" noGrp="1"/>
          </p:cNvSpPr>
          <p:nvPr/>
        </p:nvSpPr>
        <p:spPr>
          <a:xfrm xmlns:a="http://schemas.openxmlformats.org/drawingml/2006/main">
            <a:off x="6309360" y="3931920"/>
            <a:ext cx="5394960" cy="109728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1E7F2"/>
            </a:solidFill>
            <a:prstDash val="solid"/>
          </a:ln>
        </p:spPr>
      </p:sp>
      <p:sp>
        <p:nvSpPr>
          <p:cNvPr id="23" name="Shape 19">
            <a:extLst xmlns:a="http://schemas.openxmlformats.org/drawingml/2006/main">
              <a:ext uri="{FF2B5EF4-FFF2-40B4-BE49-F238E27FC236}">
                <a16:creationId xmlns:a16="http://schemas.microsoft.com/office/drawing/2014/main" id="{7EA0229B-2D29-477E-BAB2-D0C2AF8583E3}"/>
              </a:ext>
            </a:extLst>
          </p:cNvPr>
          <p:cNvSpPr>
            <a:spLocks xmlns:a="http://schemas.openxmlformats.org/drawingml/2006/main" noGrp="1"/>
          </p:cNvSpPr>
          <p:nvPr/>
        </p:nvSpPr>
        <p:spPr>
          <a:xfrm xmlns:a="http://schemas.openxmlformats.org/drawingml/2006/main">
            <a:off x="6537960" y="4114800"/>
            <a:ext cx="365760" cy="365760"/>
          </a:xfrm>
          <a:prstGeom xmlns:a="http://schemas.openxmlformats.org/drawingml/2006/main" prst="roundRect">
            <a:avLst>
              <a:gd name="adj" fmla="val 15000"/>
            </a:avLst>
          </a:prstGeom>
          <a:solidFill xmlns:a="http://schemas.openxmlformats.org/drawingml/2006/main">
            <a:srgbClr val="1C7293"/>
          </a:solidFill>
        </p:spPr>
      </p:sp>
      <p:sp>
        <p:nvSpPr>
          <p:cNvPr id="24" name="Text 20">
            <a:extLst xmlns:a="http://schemas.openxmlformats.org/drawingml/2006/main">
              <a:ext uri="{FF2B5EF4-FFF2-40B4-BE49-F238E27FC236}">
                <a16:creationId xmlns:a16="http://schemas.microsoft.com/office/drawing/2014/main" id="{D86A6CD4-081A-4885-8D67-60267955C4AC}"/>
              </a:ext>
            </a:extLst>
          </p:cNvPr>
          <p:cNvSpPr>
            <a:spLocks xmlns:a="http://schemas.openxmlformats.org/drawingml/2006/main" noGrp="1"/>
          </p:cNvSpPr>
          <p:nvPr/>
        </p:nvSpPr>
        <p:spPr>
          <a:xfrm xmlns:a="http://schemas.openxmlformats.org/drawingml/2006/main">
            <a:off x="6537960" y="411480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5" name="Text 21">
            <a:extLst xmlns:a="http://schemas.openxmlformats.org/drawingml/2006/main">
              <a:ext uri="{FF2B5EF4-FFF2-40B4-BE49-F238E27FC236}">
                <a16:creationId xmlns:a16="http://schemas.microsoft.com/office/drawing/2014/main" id="{777CCC61-7525-4C76-A429-9A9DD13FA4A3}"/>
              </a:ext>
            </a:extLst>
          </p:cNvPr>
          <p:cNvSpPr>
            <a:spLocks xmlns:a="http://schemas.openxmlformats.org/drawingml/2006/main" noGrp="1"/>
          </p:cNvSpPr>
          <p:nvPr/>
        </p:nvSpPr>
        <p:spPr>
          <a:xfrm xmlns:a="http://schemas.openxmlformats.org/drawingml/2006/main">
            <a:off x="7040880" y="407822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Kiểm tra tính liên tục</a:t>
            </a:r>
            <a:endParaRPr sz="1300"/>
          </a:p>
        </p:txBody>
      </p:sp>
      <p:sp>
        <p:nvSpPr>
          <p:cNvPr id="26" name="Text 22">
            <a:extLst xmlns:a="http://schemas.openxmlformats.org/drawingml/2006/main">
              <a:ext uri="{FF2B5EF4-FFF2-40B4-BE49-F238E27FC236}">
                <a16:creationId xmlns:a16="http://schemas.microsoft.com/office/drawing/2014/main" id="{49723996-EE01-45D9-B60F-48FFB844D7F0}"/>
              </a:ext>
            </a:extLst>
          </p:cNvPr>
          <p:cNvSpPr>
            <a:spLocks xmlns:a="http://schemas.openxmlformats.org/drawingml/2006/main" noGrp="1"/>
          </p:cNvSpPr>
          <p:nvPr/>
        </p:nvSpPr>
        <p:spPr>
          <a:xfrm xmlns:a="http://schemas.openxmlformats.org/drawingml/2006/main">
            <a:off x="7040880" y="4462272"/>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Không được để trống kỳ; kỳ trống phải ghi rõ trạng thái "chưa có số"</a:t>
            </a:r>
            <a:endParaRPr sz="1100"/>
          </a:p>
        </p:txBody>
      </p:sp>
      <p:sp>
        <p:nvSpPr>
          <p:cNvPr id="27" name="Shape 23">
            <a:extLst xmlns:a="http://schemas.openxmlformats.org/drawingml/2006/main">
              <a:ext uri="{FF2B5EF4-FFF2-40B4-BE49-F238E27FC236}">
                <a16:creationId xmlns:a16="http://schemas.microsoft.com/office/drawing/2014/main" id="{80192955-4AF4-4D0F-890F-1673D8BB5977}"/>
              </a:ext>
            </a:extLst>
          </p:cNvPr>
          <p:cNvSpPr>
            <a:spLocks xmlns:a="http://schemas.openxmlformats.org/drawingml/2006/main" noGrp="1"/>
          </p:cNvSpPr>
          <p:nvPr/>
        </p:nvSpPr>
        <p:spPr>
          <a:xfrm xmlns:a="http://schemas.openxmlformats.org/drawingml/2006/main">
            <a:off x="640080" y="5166360"/>
            <a:ext cx="5394960" cy="109728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1E7F2"/>
            </a:solidFill>
            <a:prstDash val="solid"/>
          </a:ln>
        </p:spPr>
      </p:sp>
      <p:sp>
        <p:nvSpPr>
          <p:cNvPr id="28" name="Shape 24">
            <a:extLst xmlns:a="http://schemas.openxmlformats.org/drawingml/2006/main">
              <a:ext uri="{FF2B5EF4-FFF2-40B4-BE49-F238E27FC236}">
                <a16:creationId xmlns:a16="http://schemas.microsoft.com/office/drawing/2014/main" id="{E3F27AF4-CB8D-400E-9C01-7EDB9DBA4F79}"/>
              </a:ext>
            </a:extLst>
          </p:cNvPr>
          <p:cNvSpPr>
            <a:spLocks xmlns:a="http://schemas.openxmlformats.org/drawingml/2006/main" noGrp="1"/>
          </p:cNvSpPr>
          <p:nvPr/>
        </p:nvSpPr>
        <p:spPr>
          <a:xfrm xmlns:a="http://schemas.openxmlformats.org/drawingml/2006/main">
            <a:off x="868680" y="5349240"/>
            <a:ext cx="365760" cy="365760"/>
          </a:xfrm>
          <a:prstGeom xmlns:a="http://schemas.openxmlformats.org/drawingml/2006/main" prst="roundRect">
            <a:avLst>
              <a:gd name="adj" fmla="val 15000"/>
            </a:avLst>
          </a:prstGeom>
          <a:solidFill xmlns:a="http://schemas.openxmlformats.org/drawingml/2006/main">
            <a:srgbClr val="1C7293"/>
          </a:solidFill>
        </p:spPr>
      </p:sp>
      <p:sp>
        <p:nvSpPr>
          <p:cNvPr id="29" name="Text 25">
            <a:extLst xmlns:a="http://schemas.openxmlformats.org/drawingml/2006/main">
              <a:ext uri="{FF2B5EF4-FFF2-40B4-BE49-F238E27FC236}">
                <a16:creationId xmlns:a16="http://schemas.microsoft.com/office/drawing/2014/main" id="{5D28B5A6-0467-469B-A500-62D470C776AF}"/>
              </a:ext>
            </a:extLst>
          </p:cNvPr>
          <p:cNvSpPr>
            <a:spLocks xmlns:a="http://schemas.openxmlformats.org/drawingml/2006/main" noGrp="1"/>
          </p:cNvSpPr>
          <p:nvPr/>
        </p:nvSpPr>
        <p:spPr>
          <a:xfrm xmlns:a="http://schemas.openxmlformats.org/drawingml/2006/main">
            <a:off x="868680" y="53492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30" name="Text 26">
            <a:extLst xmlns:a="http://schemas.openxmlformats.org/drawingml/2006/main">
              <a:ext uri="{FF2B5EF4-FFF2-40B4-BE49-F238E27FC236}">
                <a16:creationId xmlns:a16="http://schemas.microsoft.com/office/drawing/2014/main" id="{370737F5-FAC9-4A99-8F37-30CBEB62AF99}"/>
              </a:ext>
            </a:extLst>
          </p:cNvPr>
          <p:cNvSpPr>
            <a:spLocks xmlns:a="http://schemas.openxmlformats.org/drawingml/2006/main" noGrp="1"/>
          </p:cNvSpPr>
          <p:nvPr/>
        </p:nvSpPr>
        <p:spPr>
          <a:xfrm xmlns:a="http://schemas.openxmlformats.org/drawingml/2006/main">
            <a:off x="1371600" y="531266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Kiểm tra kiểu dữ liệu</a:t>
            </a:r>
            <a:endParaRPr sz="1300"/>
          </a:p>
        </p:txBody>
      </p:sp>
      <p:sp>
        <p:nvSpPr>
          <p:cNvPr id="31" name="Text 27">
            <a:extLst xmlns:a="http://schemas.openxmlformats.org/drawingml/2006/main">
              <a:ext uri="{FF2B5EF4-FFF2-40B4-BE49-F238E27FC236}">
                <a16:creationId xmlns:a16="http://schemas.microsoft.com/office/drawing/2014/main" id="{57C73418-0BB0-4FA4-8F2E-C6671ECA9568}"/>
              </a:ext>
            </a:extLst>
          </p:cNvPr>
          <p:cNvSpPr>
            <a:spLocks xmlns:a="http://schemas.openxmlformats.org/drawingml/2006/main" noGrp="1"/>
          </p:cNvSpPr>
          <p:nvPr/>
        </p:nvSpPr>
        <p:spPr>
          <a:xfrm xmlns:a="http://schemas.openxmlformats.org/drawingml/2006/main">
            <a:off x="1371600" y="5696712"/>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Toàn bộ trường giá trị phải là kiểu số, không phải chuỗi ký tự</a:t>
            </a:r>
            <a:endParaRPr sz="1100"/>
          </a:p>
        </p:txBody>
      </p:sp>
      <p:sp>
        <p:nvSpPr>
          <p:cNvPr id="32" name="Shape 28">
            <a:extLst xmlns:a="http://schemas.openxmlformats.org/drawingml/2006/main">
              <a:ext uri="{FF2B5EF4-FFF2-40B4-BE49-F238E27FC236}">
                <a16:creationId xmlns:a16="http://schemas.microsoft.com/office/drawing/2014/main" id="{96EB50F0-8A2E-4696-9046-DB3A6F754D98}"/>
              </a:ext>
            </a:extLst>
          </p:cNvPr>
          <p:cNvSpPr>
            <a:spLocks xmlns:a="http://schemas.openxmlformats.org/drawingml/2006/main" noGrp="1"/>
          </p:cNvSpPr>
          <p:nvPr/>
        </p:nvSpPr>
        <p:spPr>
          <a:xfrm xmlns:a="http://schemas.openxmlformats.org/drawingml/2006/main">
            <a:off x="6309360" y="5166360"/>
            <a:ext cx="5394960" cy="109728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1E7F2"/>
            </a:solidFill>
            <a:prstDash val="solid"/>
          </a:ln>
        </p:spPr>
      </p:sp>
      <p:sp>
        <p:nvSpPr>
          <p:cNvPr id="33" name="Shape 29">
            <a:extLst xmlns:a="http://schemas.openxmlformats.org/drawingml/2006/main">
              <a:ext uri="{FF2B5EF4-FFF2-40B4-BE49-F238E27FC236}">
                <a16:creationId xmlns:a16="http://schemas.microsoft.com/office/drawing/2014/main" id="{0C1964B3-A5A0-47A0-9CD4-BDF2C543E78B}"/>
              </a:ext>
            </a:extLst>
          </p:cNvPr>
          <p:cNvSpPr>
            <a:spLocks xmlns:a="http://schemas.openxmlformats.org/drawingml/2006/main" noGrp="1"/>
          </p:cNvSpPr>
          <p:nvPr/>
        </p:nvSpPr>
        <p:spPr>
          <a:xfrm xmlns:a="http://schemas.openxmlformats.org/drawingml/2006/main">
            <a:off x="6537960" y="5349240"/>
            <a:ext cx="365760" cy="365760"/>
          </a:xfrm>
          <a:prstGeom xmlns:a="http://schemas.openxmlformats.org/drawingml/2006/main" prst="roundRect">
            <a:avLst>
              <a:gd name="adj" fmla="val 15000"/>
            </a:avLst>
          </a:prstGeom>
          <a:solidFill xmlns:a="http://schemas.openxmlformats.org/drawingml/2006/main">
            <a:srgbClr val="1C7293"/>
          </a:solidFill>
        </p:spPr>
      </p:sp>
      <p:sp>
        <p:nvSpPr>
          <p:cNvPr id="34" name="Text 30">
            <a:extLst xmlns:a="http://schemas.openxmlformats.org/drawingml/2006/main">
              <a:ext uri="{FF2B5EF4-FFF2-40B4-BE49-F238E27FC236}">
                <a16:creationId xmlns:a16="http://schemas.microsoft.com/office/drawing/2014/main" id="{56D2C1AD-4D3D-4337-A25D-3D628E2AD1E4}"/>
              </a:ext>
            </a:extLst>
          </p:cNvPr>
          <p:cNvSpPr>
            <a:spLocks xmlns:a="http://schemas.openxmlformats.org/drawingml/2006/main" noGrp="1"/>
          </p:cNvSpPr>
          <p:nvPr/>
        </p:nvSpPr>
        <p:spPr>
          <a:xfrm xmlns:a="http://schemas.openxmlformats.org/drawingml/2006/main">
            <a:off x="6537960" y="534924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35" name="Text 31">
            <a:extLst xmlns:a="http://schemas.openxmlformats.org/drawingml/2006/main">
              <a:ext uri="{FF2B5EF4-FFF2-40B4-BE49-F238E27FC236}">
                <a16:creationId xmlns:a16="http://schemas.microsoft.com/office/drawing/2014/main" id="{5006DB60-B565-43C9-A0E2-BDA3BB302193}"/>
              </a:ext>
            </a:extLst>
          </p:cNvPr>
          <p:cNvSpPr>
            <a:spLocks xmlns:a="http://schemas.openxmlformats.org/drawingml/2006/main" noGrp="1"/>
          </p:cNvSpPr>
          <p:nvPr/>
        </p:nvSpPr>
        <p:spPr>
          <a:xfrm xmlns:a="http://schemas.openxmlformats.org/drawingml/2006/main">
            <a:off x="7040880" y="531266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E2761"/>
                </a:solidFill>
                <a:latin typeface="Calibri"/>
                <a:ea typeface="Calibri"/>
                <a:cs typeface="Calibri"/>
              </a:rPr>
              <a:t>Đối chiếu chéo 3 phương pháp</a:t>
            </a:r>
            <a:endParaRPr sz="1300"/>
          </a:p>
        </p:txBody>
      </p:sp>
      <p:sp>
        <p:nvSpPr>
          <p:cNvPr id="36" name="Text 32">
            <a:extLst xmlns:a="http://schemas.openxmlformats.org/drawingml/2006/main">
              <a:ext uri="{FF2B5EF4-FFF2-40B4-BE49-F238E27FC236}">
                <a16:creationId xmlns:a16="http://schemas.microsoft.com/office/drawing/2014/main" id="{48BB5686-DC87-4910-BD1E-5C595D034A4D}"/>
              </a:ext>
            </a:extLst>
          </p:cNvPr>
          <p:cNvSpPr>
            <a:spLocks xmlns:a="http://schemas.openxmlformats.org/drawingml/2006/main" noGrp="1"/>
          </p:cNvSpPr>
          <p:nvPr/>
        </p:nvSpPr>
        <p:spPr>
          <a:xfrm xmlns:a="http://schemas.openxmlformats.org/drawingml/2006/main">
            <a:off x="7040880" y="5696712"/>
            <a:ext cx="4480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02536"/>
                </a:solidFill>
                <a:latin typeface="Calibri"/>
                <a:ea typeface="Calibri"/>
                <a:cs typeface="Calibri"/>
              </a:rPr>
              <a:t>Chênh lệch giữa phương pháp sản xuất và sử dụng cuối cùng phải nằm trong ngưỡng cho phép</a:t>
            </a:r>
            <a:endParaRPr sz="1100"/>
          </a:p>
        </p:txBody>
      </p:sp>
    </p:spTree>
    <p:extLst>
      <p:ext uri="{BB962C8B-B14F-4D97-AF65-F5344CB8AC3E}">
        <p14:creationId xmlns:p14="http://schemas.microsoft.com/office/powerpoint/2010/main" val="1813749577"/>
      </p:ext>
    </p:extLst>
  </p:cSld>
</p:sld>
</file>

<file path=ppt/slides/slide18.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E31187-3C8C-4DA5-BCE3-8824038C66BB}"/>
              </a:ext>
            </a:extLst>
          </p:cNvPr>
          <p:cNvSpPr>
            <a:spLocks xmlns:a="http://schemas.openxmlformats.org/drawingml/2006/main" noGrp="1"/>
          </p:cNvSpPr>
          <p:nvPr/>
        </p:nvSpPr>
        <p:spPr>
          <a:xfrm xmlns:a="http://schemas.openxmlformats.org/drawingml/2006/main">
            <a:off x="731520" y="594360"/>
            <a:ext cx="1005840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Kiến nghị</a:t>
            </a:r>
            <a:endParaRPr sz="3400"/>
          </a:p>
        </p:txBody>
      </p:sp>
      <p:sp>
        <p:nvSpPr>
          <p:cNvPr id="3" name="Text 1">
            <a:extLst xmlns:a="http://schemas.openxmlformats.org/drawingml/2006/main">
              <a:ext uri="{FF2B5EF4-FFF2-40B4-BE49-F238E27FC236}">
                <a16:creationId xmlns:a16="http://schemas.microsoft.com/office/drawing/2014/main" id="{A9256E9B-57D6-45C5-BD72-A25BF76D6D84}"/>
              </a:ext>
            </a:extLst>
          </p:cNvPr>
          <p:cNvSpPr>
            <a:spLocks xmlns:a="http://schemas.openxmlformats.org/drawingml/2006/main" noGrp="1"/>
          </p:cNvSpPr>
          <p:nvPr/>
        </p:nvSpPr>
        <p:spPr>
          <a:xfrm xmlns:a="http://schemas.openxmlformats.org/drawingml/2006/main">
            <a:off x="731520" y="1325880"/>
            <a:ext cx="100584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i="1">
                <a:solidFill>
                  <a:srgbClr val="CADCFC"/>
                </a:solidFill>
                <a:latin typeface="Calibri"/>
                <a:ea typeface="Calibri"/>
                <a:cs typeface="Calibri"/>
              </a:rPr>
              <a:t>Để IOC tính được GRDP chính xác, cần quyết định 4 nội dung</a:t>
            </a:r>
            <a:endParaRPr sz="1500"/>
          </a:p>
        </p:txBody>
      </p:sp>
      <p:sp>
        <p:nvSpPr>
          <p:cNvPr id="4" name="Shape 2">
            <a:extLst xmlns:a="http://schemas.openxmlformats.org/drawingml/2006/main">
              <a:ext uri="{FF2B5EF4-FFF2-40B4-BE49-F238E27FC236}">
                <a16:creationId xmlns:a16="http://schemas.microsoft.com/office/drawing/2014/main" id="{5A5D91BB-6833-4948-BB23-0D54D667C87D}"/>
              </a:ext>
            </a:extLst>
          </p:cNvPr>
          <p:cNvSpPr>
            <a:spLocks xmlns:a="http://schemas.openxmlformats.org/drawingml/2006/main" noGrp="1"/>
          </p:cNvSpPr>
          <p:nvPr/>
        </p:nvSpPr>
        <p:spPr>
          <a:xfrm xmlns:a="http://schemas.openxmlformats.org/drawingml/2006/main">
            <a:off x="731520" y="1920240"/>
            <a:ext cx="10744200" cy="1005840"/>
          </a:xfrm>
          <a:prstGeom xmlns:a="http://schemas.openxmlformats.org/drawingml/2006/main" prst="roundRect">
            <a:avLst>
              <a:gd name="adj" fmla="val 7273"/>
            </a:avLst>
          </a:prstGeom>
          <a:solidFill xmlns:a="http://schemas.openxmlformats.org/drawingml/2006/main">
            <a:srgbClr val="2C3B7A"/>
          </a:solidFill>
        </p:spPr>
      </p:sp>
      <p:sp>
        <p:nvSpPr>
          <p:cNvPr id="5" name="Shape 3">
            <a:extLst xmlns:a="http://schemas.openxmlformats.org/drawingml/2006/main">
              <a:ext uri="{FF2B5EF4-FFF2-40B4-BE49-F238E27FC236}">
                <a16:creationId xmlns:a16="http://schemas.microsoft.com/office/drawing/2014/main" id="{E3417607-3330-4057-A45B-1E0B43B81CED}"/>
              </a:ext>
            </a:extLst>
          </p:cNvPr>
          <p:cNvSpPr>
            <a:spLocks xmlns:a="http://schemas.openxmlformats.org/drawingml/2006/main" noGrp="1"/>
          </p:cNvSpPr>
          <p:nvPr/>
        </p:nvSpPr>
        <p:spPr>
          <a:xfrm xmlns:a="http://schemas.openxmlformats.org/drawingml/2006/main">
            <a:off x="960120" y="2212848"/>
            <a:ext cx="411480" cy="411480"/>
          </a:xfrm>
          <a:prstGeom xmlns:a="http://schemas.openxmlformats.org/drawingml/2006/main" prst="ellipse">
            <a:avLst/>
          </a:prstGeom>
          <a:solidFill xmlns:a="http://schemas.openxmlformats.org/drawingml/2006/main">
            <a:srgbClr val="C9A227"/>
          </a:solidFill>
        </p:spPr>
      </p:sp>
      <p:sp>
        <p:nvSpPr>
          <p:cNvPr id="6" name="Text 4">
            <a:extLst xmlns:a="http://schemas.openxmlformats.org/drawingml/2006/main">
              <a:ext uri="{FF2B5EF4-FFF2-40B4-BE49-F238E27FC236}">
                <a16:creationId xmlns:a16="http://schemas.microsoft.com/office/drawing/2014/main" id="{7A404209-4F9C-41B4-9336-1521B9A3C169}"/>
              </a:ext>
            </a:extLst>
          </p:cNvPr>
          <p:cNvSpPr>
            <a:spLocks xmlns:a="http://schemas.openxmlformats.org/drawingml/2006/main" noGrp="1"/>
          </p:cNvSpPr>
          <p:nvPr/>
        </p:nvSpPr>
        <p:spPr>
          <a:xfrm xmlns:a="http://schemas.openxmlformats.org/drawingml/2006/main">
            <a:off x="960120" y="2212848"/>
            <a:ext cx="411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03BAB42D-B0AE-4A0C-A66B-F61EB8BA230C}"/>
              </a:ext>
            </a:extLst>
          </p:cNvPr>
          <p:cNvSpPr>
            <a:spLocks xmlns:a="http://schemas.openxmlformats.org/drawingml/2006/main" noGrp="1"/>
          </p:cNvSpPr>
          <p:nvPr/>
        </p:nvSpPr>
        <p:spPr>
          <a:xfrm xmlns:a="http://schemas.openxmlformats.org/drawingml/2006/main">
            <a:off x="1554480" y="2048256"/>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FFFFFF"/>
                </a:solidFill>
                <a:latin typeface="Calibri"/>
                <a:ea typeface="Calibri"/>
                <a:cs typeface="Calibri"/>
              </a:rPr>
              <a:t>Ban hành danh mục dữ liệu dùng chung phục vụ tài khoản quốc gia</a:t>
            </a:r>
            <a:endParaRPr sz="1450"/>
          </a:p>
        </p:txBody>
      </p:sp>
      <p:sp>
        <p:nvSpPr>
          <p:cNvPr id="8" name="Text 6">
            <a:extLst xmlns:a="http://schemas.openxmlformats.org/drawingml/2006/main">
              <a:ext uri="{FF2B5EF4-FFF2-40B4-BE49-F238E27FC236}">
                <a16:creationId xmlns:a16="http://schemas.microsoft.com/office/drawing/2014/main" id="{FA86B34D-D8A9-42CD-91AF-C7DA9C4CE814}"/>
              </a:ext>
            </a:extLst>
          </p:cNvPr>
          <p:cNvSpPr>
            <a:spLocks xmlns:a="http://schemas.openxmlformats.org/drawingml/2006/main" noGrp="1"/>
          </p:cNvSpPr>
          <p:nvPr/>
        </p:nvSpPr>
        <p:spPr>
          <a:xfrm xmlns:a="http://schemas.openxmlformats.org/drawingml/2006/main">
            <a:off x="1554480" y="2450592"/>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Xác định rõ trường dữ liệu, đầu mối, tần suất, định dạng cho từng sở ngành</a:t>
            </a:r>
            <a:endParaRPr sz="1150"/>
          </a:p>
        </p:txBody>
      </p:sp>
      <p:sp>
        <p:nvSpPr>
          <p:cNvPr id="9" name="Shape 7">
            <a:extLst xmlns:a="http://schemas.openxmlformats.org/drawingml/2006/main">
              <a:ext uri="{FF2B5EF4-FFF2-40B4-BE49-F238E27FC236}">
                <a16:creationId xmlns:a16="http://schemas.microsoft.com/office/drawing/2014/main" id="{510FBE4D-A3B9-49E5-BDF3-271C6BE45B50}"/>
              </a:ext>
            </a:extLst>
          </p:cNvPr>
          <p:cNvSpPr>
            <a:spLocks xmlns:a="http://schemas.openxmlformats.org/drawingml/2006/main" noGrp="1"/>
          </p:cNvSpPr>
          <p:nvPr/>
        </p:nvSpPr>
        <p:spPr>
          <a:xfrm xmlns:a="http://schemas.openxmlformats.org/drawingml/2006/main">
            <a:off x="731520" y="3090672"/>
            <a:ext cx="10744200" cy="1005840"/>
          </a:xfrm>
          <a:prstGeom xmlns:a="http://schemas.openxmlformats.org/drawingml/2006/main" prst="roundRect">
            <a:avLst>
              <a:gd name="adj" fmla="val 7273"/>
            </a:avLst>
          </a:prstGeom>
          <a:solidFill xmlns:a="http://schemas.openxmlformats.org/drawingml/2006/main">
            <a:srgbClr val="2C3B7A"/>
          </a:solidFill>
        </p:spPr>
      </p:sp>
      <p:sp>
        <p:nvSpPr>
          <p:cNvPr id="10" name="Shape 8">
            <a:extLst xmlns:a="http://schemas.openxmlformats.org/drawingml/2006/main">
              <a:ext uri="{FF2B5EF4-FFF2-40B4-BE49-F238E27FC236}">
                <a16:creationId xmlns:a16="http://schemas.microsoft.com/office/drawing/2014/main" id="{831FB00C-4321-4B71-8F5D-2F28DBCA6F05}"/>
              </a:ext>
            </a:extLst>
          </p:cNvPr>
          <p:cNvSpPr>
            <a:spLocks xmlns:a="http://schemas.openxmlformats.org/drawingml/2006/main" noGrp="1"/>
          </p:cNvSpPr>
          <p:nvPr/>
        </p:nvSpPr>
        <p:spPr>
          <a:xfrm xmlns:a="http://schemas.openxmlformats.org/drawingml/2006/main">
            <a:off x="960120" y="3383280"/>
            <a:ext cx="411480" cy="411480"/>
          </a:xfrm>
          <a:prstGeom xmlns:a="http://schemas.openxmlformats.org/drawingml/2006/main" prst="ellipse">
            <a:avLst/>
          </a:prstGeom>
          <a:solidFill xmlns:a="http://schemas.openxmlformats.org/drawingml/2006/main">
            <a:srgbClr val="C9A227"/>
          </a:solidFill>
        </p:spPr>
      </p:sp>
      <p:sp>
        <p:nvSpPr>
          <p:cNvPr id="11" name="Text 9">
            <a:extLst xmlns:a="http://schemas.openxmlformats.org/drawingml/2006/main">
              <a:ext uri="{FF2B5EF4-FFF2-40B4-BE49-F238E27FC236}">
                <a16:creationId xmlns:a16="http://schemas.microsoft.com/office/drawing/2014/main" id="{D2BD1C1B-8929-4127-865E-4F69ED4AE739}"/>
              </a:ext>
            </a:extLst>
          </p:cNvPr>
          <p:cNvSpPr>
            <a:spLocks xmlns:a="http://schemas.openxmlformats.org/drawingml/2006/main" noGrp="1"/>
          </p:cNvSpPr>
          <p:nvPr/>
        </p:nvSpPr>
        <p:spPr>
          <a:xfrm xmlns:a="http://schemas.openxmlformats.org/drawingml/2006/main">
            <a:off x="960120" y="3383280"/>
            <a:ext cx="411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libri"/>
                <a:ea typeface="Calibri"/>
                <a:cs typeface="Calibri"/>
              </a:rPr>
              <a:t>2</a:t>
            </a:r>
            <a:endParaRPr sz="1400"/>
          </a:p>
        </p:txBody>
      </p:sp>
      <p:sp>
        <p:nvSpPr>
          <p:cNvPr id="12" name="Text 10">
            <a:extLst xmlns:a="http://schemas.openxmlformats.org/drawingml/2006/main">
              <a:ext uri="{FF2B5EF4-FFF2-40B4-BE49-F238E27FC236}">
                <a16:creationId xmlns:a16="http://schemas.microsoft.com/office/drawing/2014/main" id="{1DB75031-F921-4851-8819-5475613B32B5}"/>
              </a:ext>
            </a:extLst>
          </p:cNvPr>
          <p:cNvSpPr>
            <a:spLocks xmlns:a="http://schemas.openxmlformats.org/drawingml/2006/main" noGrp="1"/>
          </p:cNvSpPr>
          <p:nvPr/>
        </p:nvSpPr>
        <p:spPr>
          <a:xfrm xmlns:a="http://schemas.openxmlformats.org/drawingml/2006/main">
            <a:off x="1554480" y="3218688"/>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FFFFFF"/>
                </a:solidFill>
                <a:latin typeface="Calibri"/>
                <a:ea typeface="Calibri"/>
                <a:cs typeface="Calibri"/>
              </a:rPr>
              <a:t>Giao Chi cục Thống kê là đầu mối chuyên môn</a:t>
            </a:r>
            <a:endParaRPr sz="1450"/>
          </a:p>
        </p:txBody>
      </p:sp>
      <p:sp>
        <p:nvSpPr>
          <p:cNvPr id="13" name="Text 11">
            <a:extLst xmlns:a="http://schemas.openxmlformats.org/drawingml/2006/main">
              <a:ext uri="{FF2B5EF4-FFF2-40B4-BE49-F238E27FC236}">
                <a16:creationId xmlns:a16="http://schemas.microsoft.com/office/drawing/2014/main" id="{F3807856-742D-45B6-90B1-8ED7A9254F9A}"/>
              </a:ext>
            </a:extLst>
          </p:cNvPr>
          <p:cNvSpPr>
            <a:spLocks xmlns:a="http://schemas.openxmlformats.org/drawingml/2006/main" noGrp="1"/>
          </p:cNvSpPr>
          <p:nvPr/>
        </p:nvSpPr>
        <p:spPr>
          <a:xfrm xmlns:a="http://schemas.openxmlformats.org/drawingml/2006/main">
            <a:off x="1554480" y="3621024"/>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Chuẩn hoá phương pháp luận, hệ số chi phí trung gian và bảng giá so sánh 2020</a:t>
            </a:r>
            <a:endParaRPr sz="1150"/>
          </a:p>
        </p:txBody>
      </p:sp>
      <p:sp>
        <p:nvSpPr>
          <p:cNvPr id="14" name="Shape 12">
            <a:extLst xmlns:a="http://schemas.openxmlformats.org/drawingml/2006/main">
              <a:ext uri="{FF2B5EF4-FFF2-40B4-BE49-F238E27FC236}">
                <a16:creationId xmlns:a16="http://schemas.microsoft.com/office/drawing/2014/main" id="{6D2BD63E-D650-44C4-A874-4B7EC0FBCC13}"/>
              </a:ext>
            </a:extLst>
          </p:cNvPr>
          <p:cNvSpPr>
            <a:spLocks xmlns:a="http://schemas.openxmlformats.org/drawingml/2006/main" noGrp="1"/>
          </p:cNvSpPr>
          <p:nvPr/>
        </p:nvSpPr>
        <p:spPr>
          <a:xfrm xmlns:a="http://schemas.openxmlformats.org/drawingml/2006/main">
            <a:off x="731520" y="4261104"/>
            <a:ext cx="10744200" cy="1005840"/>
          </a:xfrm>
          <a:prstGeom xmlns:a="http://schemas.openxmlformats.org/drawingml/2006/main" prst="roundRect">
            <a:avLst>
              <a:gd name="adj" fmla="val 7273"/>
            </a:avLst>
          </a:prstGeom>
          <a:solidFill xmlns:a="http://schemas.openxmlformats.org/drawingml/2006/main">
            <a:srgbClr val="2C3B7A"/>
          </a:solidFill>
        </p:spPr>
      </p:sp>
      <p:sp>
        <p:nvSpPr>
          <p:cNvPr id="15" name="Shape 13">
            <a:extLst xmlns:a="http://schemas.openxmlformats.org/drawingml/2006/main">
              <a:ext uri="{FF2B5EF4-FFF2-40B4-BE49-F238E27FC236}">
                <a16:creationId xmlns:a16="http://schemas.microsoft.com/office/drawing/2014/main" id="{4278B478-DB9E-418C-8137-9EB2629196DC}"/>
              </a:ext>
            </a:extLst>
          </p:cNvPr>
          <p:cNvSpPr>
            <a:spLocks xmlns:a="http://schemas.openxmlformats.org/drawingml/2006/main" noGrp="1"/>
          </p:cNvSpPr>
          <p:nvPr/>
        </p:nvSpPr>
        <p:spPr>
          <a:xfrm xmlns:a="http://schemas.openxmlformats.org/drawingml/2006/main">
            <a:off x="960120" y="4553712"/>
            <a:ext cx="411480" cy="411480"/>
          </a:xfrm>
          <a:prstGeom xmlns:a="http://schemas.openxmlformats.org/drawingml/2006/main" prst="ellipse">
            <a:avLst/>
          </a:prstGeom>
          <a:solidFill xmlns:a="http://schemas.openxmlformats.org/drawingml/2006/main">
            <a:srgbClr val="C9A227"/>
          </a:solidFill>
        </p:spPr>
      </p:sp>
      <p:sp>
        <p:nvSpPr>
          <p:cNvPr id="16" name="Text 14">
            <a:extLst xmlns:a="http://schemas.openxmlformats.org/drawingml/2006/main">
              <a:ext uri="{FF2B5EF4-FFF2-40B4-BE49-F238E27FC236}">
                <a16:creationId xmlns:a16="http://schemas.microsoft.com/office/drawing/2014/main" id="{0C8BBC30-792C-4BC1-8049-53CCCC248ECD}"/>
              </a:ext>
            </a:extLst>
          </p:cNvPr>
          <p:cNvSpPr>
            <a:spLocks xmlns:a="http://schemas.openxmlformats.org/drawingml/2006/main" noGrp="1"/>
          </p:cNvSpPr>
          <p:nvPr/>
        </p:nvSpPr>
        <p:spPr>
          <a:xfrm xmlns:a="http://schemas.openxmlformats.org/drawingml/2006/main">
            <a:off x="960120" y="4553712"/>
            <a:ext cx="411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libri"/>
                <a:ea typeface="Calibri"/>
                <a:cs typeface="Calibri"/>
              </a:rPr>
              <a:t>3</a:t>
            </a:r>
            <a:endParaRPr sz="1400"/>
          </a:p>
        </p:txBody>
      </p:sp>
      <p:sp>
        <p:nvSpPr>
          <p:cNvPr id="17" name="Text 15">
            <a:extLst xmlns:a="http://schemas.openxmlformats.org/drawingml/2006/main">
              <a:ext uri="{FF2B5EF4-FFF2-40B4-BE49-F238E27FC236}">
                <a16:creationId xmlns:a16="http://schemas.microsoft.com/office/drawing/2014/main" id="{1B703D21-AAC6-4E38-A7E1-C4D2D5E5DE7E}"/>
              </a:ext>
            </a:extLst>
          </p:cNvPr>
          <p:cNvSpPr>
            <a:spLocks xmlns:a="http://schemas.openxmlformats.org/drawingml/2006/main" noGrp="1"/>
          </p:cNvSpPr>
          <p:nvPr/>
        </p:nvSpPr>
        <p:spPr>
          <a:xfrm xmlns:a="http://schemas.openxmlformats.org/drawingml/2006/main">
            <a:off x="1554480" y="4389120"/>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FFFFFF"/>
                </a:solidFill>
                <a:latin typeface="Calibri"/>
                <a:ea typeface="Calibri"/>
                <a:cs typeface="Calibri"/>
              </a:rPr>
              <a:t>Kết nối tự động thay cho gửi file thủ công</a:t>
            </a:r>
            <a:endParaRPr sz="1450"/>
          </a:p>
        </p:txBody>
      </p:sp>
      <p:sp>
        <p:nvSpPr>
          <p:cNvPr id="18" name="Text 16">
            <a:extLst xmlns:a="http://schemas.openxmlformats.org/drawingml/2006/main">
              <a:ext uri="{FF2B5EF4-FFF2-40B4-BE49-F238E27FC236}">
                <a16:creationId xmlns:a16="http://schemas.microsoft.com/office/drawing/2014/main" id="{DDA48E60-60BC-467C-94AD-56EC1FD14366}"/>
              </a:ext>
            </a:extLst>
          </p:cNvPr>
          <p:cNvSpPr>
            <a:spLocks xmlns:a="http://schemas.openxmlformats.org/drawingml/2006/main" noGrp="1"/>
          </p:cNvSpPr>
          <p:nvPr/>
        </p:nvSpPr>
        <p:spPr>
          <a:xfrm xmlns:a="http://schemas.openxmlformats.org/drawingml/2006/main">
            <a:off x="1554480" y="4791456"/>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Ưu tiên API/kết nối CSDL với Thuế, Hải quan, Kho bạc, Kế hoạch – Đầu tư</a:t>
            </a:r>
            <a:endParaRPr sz="1150"/>
          </a:p>
        </p:txBody>
      </p:sp>
      <p:sp>
        <p:nvSpPr>
          <p:cNvPr id="19" name="Shape 17">
            <a:extLst xmlns:a="http://schemas.openxmlformats.org/drawingml/2006/main">
              <a:ext uri="{FF2B5EF4-FFF2-40B4-BE49-F238E27FC236}">
                <a16:creationId xmlns:a16="http://schemas.microsoft.com/office/drawing/2014/main" id="{DCA03E34-C2A2-4B7D-B9D2-2880B47FDED0}"/>
              </a:ext>
            </a:extLst>
          </p:cNvPr>
          <p:cNvSpPr>
            <a:spLocks xmlns:a="http://schemas.openxmlformats.org/drawingml/2006/main" noGrp="1"/>
          </p:cNvSpPr>
          <p:nvPr/>
        </p:nvSpPr>
        <p:spPr>
          <a:xfrm xmlns:a="http://schemas.openxmlformats.org/drawingml/2006/main">
            <a:off x="731520" y="5431536"/>
            <a:ext cx="10744200" cy="1005840"/>
          </a:xfrm>
          <a:prstGeom xmlns:a="http://schemas.openxmlformats.org/drawingml/2006/main" prst="roundRect">
            <a:avLst>
              <a:gd name="adj" fmla="val 7273"/>
            </a:avLst>
          </a:prstGeom>
          <a:solidFill xmlns:a="http://schemas.openxmlformats.org/drawingml/2006/main">
            <a:srgbClr val="2C3B7A"/>
          </a:solidFill>
        </p:spPr>
      </p:sp>
      <p:sp>
        <p:nvSpPr>
          <p:cNvPr id="20" name="Shape 18">
            <a:extLst xmlns:a="http://schemas.openxmlformats.org/drawingml/2006/main">
              <a:ext uri="{FF2B5EF4-FFF2-40B4-BE49-F238E27FC236}">
                <a16:creationId xmlns:a16="http://schemas.microsoft.com/office/drawing/2014/main" id="{522A94CC-4ECE-4D30-A91A-273C39655D7B}"/>
              </a:ext>
            </a:extLst>
          </p:cNvPr>
          <p:cNvSpPr>
            <a:spLocks xmlns:a="http://schemas.openxmlformats.org/drawingml/2006/main" noGrp="1"/>
          </p:cNvSpPr>
          <p:nvPr/>
        </p:nvSpPr>
        <p:spPr>
          <a:xfrm xmlns:a="http://schemas.openxmlformats.org/drawingml/2006/main">
            <a:off x="960120" y="5724144"/>
            <a:ext cx="411480" cy="411480"/>
          </a:xfrm>
          <a:prstGeom xmlns:a="http://schemas.openxmlformats.org/drawingml/2006/main" prst="ellipse">
            <a:avLst/>
          </a:prstGeom>
          <a:solidFill xmlns:a="http://schemas.openxmlformats.org/drawingml/2006/main">
            <a:srgbClr val="C9A227"/>
          </a:solidFill>
        </p:spPr>
      </p:sp>
      <p:sp>
        <p:nvSpPr>
          <p:cNvPr id="21" name="Text 19">
            <a:extLst xmlns:a="http://schemas.openxmlformats.org/drawingml/2006/main">
              <a:ext uri="{FF2B5EF4-FFF2-40B4-BE49-F238E27FC236}">
                <a16:creationId xmlns:a16="http://schemas.microsoft.com/office/drawing/2014/main" id="{DAFFDD41-B55A-463B-B643-82312302964C}"/>
              </a:ext>
            </a:extLst>
          </p:cNvPr>
          <p:cNvSpPr>
            <a:spLocks xmlns:a="http://schemas.openxmlformats.org/drawingml/2006/main" noGrp="1"/>
          </p:cNvSpPr>
          <p:nvPr/>
        </p:nvSpPr>
        <p:spPr>
          <a:xfrm xmlns:a="http://schemas.openxmlformats.org/drawingml/2006/main">
            <a:off x="960120" y="5724144"/>
            <a:ext cx="411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libri"/>
                <a:ea typeface="Calibri"/>
                <a:cs typeface="Calibri"/>
              </a:rPr>
              <a:t>4</a:t>
            </a:r>
            <a:endParaRPr sz="1400"/>
          </a:p>
        </p:txBody>
      </p:sp>
      <p:sp>
        <p:nvSpPr>
          <p:cNvPr id="22" name="Text 20">
            <a:extLst xmlns:a="http://schemas.openxmlformats.org/drawingml/2006/main">
              <a:ext uri="{FF2B5EF4-FFF2-40B4-BE49-F238E27FC236}">
                <a16:creationId xmlns:a16="http://schemas.microsoft.com/office/drawing/2014/main" id="{AE0516C3-4324-4D5F-B031-B24C0B89137D}"/>
              </a:ext>
            </a:extLst>
          </p:cNvPr>
          <p:cNvSpPr>
            <a:spLocks xmlns:a="http://schemas.openxmlformats.org/drawingml/2006/main" noGrp="1"/>
          </p:cNvSpPr>
          <p:nvPr/>
        </p:nvSpPr>
        <p:spPr>
          <a:xfrm xmlns:a="http://schemas.openxmlformats.org/drawingml/2006/main">
            <a:off x="1554480" y="5559552"/>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FFFFFF"/>
                </a:solidFill>
                <a:latin typeface="Calibri"/>
                <a:ea typeface="Calibri"/>
                <a:cs typeface="Calibri"/>
              </a:rPr>
              <a:t>Chuẩn hoá lại dữ liệu hiện có trước khi nạp kho</a:t>
            </a:r>
            <a:endParaRPr sz="1450"/>
          </a:p>
        </p:txBody>
      </p:sp>
      <p:sp>
        <p:nvSpPr>
          <p:cNvPr id="23" name="Text 21">
            <a:extLst xmlns:a="http://schemas.openxmlformats.org/drawingml/2006/main">
              <a:ext uri="{FF2B5EF4-FFF2-40B4-BE49-F238E27FC236}">
                <a16:creationId xmlns:a16="http://schemas.microsoft.com/office/drawing/2014/main" id="{FFC2677B-96E9-4EF8-AB49-051B50969E27}"/>
              </a:ext>
            </a:extLst>
          </p:cNvPr>
          <p:cNvSpPr>
            <a:spLocks xmlns:a="http://schemas.openxmlformats.org/drawingml/2006/main" noGrp="1"/>
          </p:cNvSpPr>
          <p:nvPr/>
        </p:nvSpPr>
        <p:spPr>
          <a:xfrm xmlns:a="http://schemas.openxmlformats.org/drawingml/2006/main">
            <a:off x="1554480" y="5961888"/>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Sửa mã phân cấp ngành Dịch vụ, ép kiểu số, thống nhất nhãn năm gốc, bổ sung kỳ còn trống</a:t>
            </a:r>
            <a:endParaRPr sz="1150"/>
          </a:p>
        </p:txBody>
      </p:sp>
    </p:spTree>
    <p:extLst>
      <p:ext uri="{BB962C8B-B14F-4D97-AF65-F5344CB8AC3E}">
        <p14:creationId xmlns:p14="http://schemas.microsoft.com/office/powerpoint/2010/main" val="180128996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2026-08-11T10:45:26.8470000Z</dcterms:created>
  <dcterms:modified xsi:type="dcterms:W3CDTF">2026-08-11T10:45:26.8470000Z</dcterms:modified>
</coreProperties>
</file>